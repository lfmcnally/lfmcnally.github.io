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y="10287000" cx="18288000"/>
  <p:notesSz cx="10287000" cy="18288000"/>
  <p:embeddedFontLst>
    <p:embeddedFont>
      <p:font typeface="Inter"/>
      <p:regular r:id="rId55"/>
      <p:bold r:id="rId56"/>
      <p:italic r:id="rId57"/>
      <p:boldItalic r:id="rId58"/>
    </p:embeddedFont>
    <p:embeddedFont>
      <p:font typeface="Lora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3" roundtripDataSignature="AMtx7mgM8Jp+sTXg2rSlkgVPTKi/amYE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Lora-boldItalic.fntdata"/><Relationship Id="rId61" Type="http://schemas.openxmlformats.org/officeDocument/2006/relationships/font" Target="fonts/Lora-italic.fntdata"/><Relationship Id="rId20" Type="http://schemas.openxmlformats.org/officeDocument/2006/relationships/slide" Target="slides/slide16.xml"/><Relationship Id="rId63" Type="http://customschemas.google.com/relationships/presentationmetadata" Target="meta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Lora-bold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font" Target="fonts/Inter-regular.fntdata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font" Target="fonts/Inter-italic.fntdata"/><Relationship Id="rId12" Type="http://schemas.openxmlformats.org/officeDocument/2006/relationships/slide" Target="slides/slide8.xml"/><Relationship Id="rId56" Type="http://schemas.openxmlformats.org/officeDocument/2006/relationships/font" Target="fonts/Inter-bold.fntdata"/><Relationship Id="rId15" Type="http://schemas.openxmlformats.org/officeDocument/2006/relationships/slide" Target="slides/slide11.xml"/><Relationship Id="rId59" Type="http://schemas.openxmlformats.org/officeDocument/2006/relationships/font" Target="fonts/Lora-regular.fntdata"/><Relationship Id="rId14" Type="http://schemas.openxmlformats.org/officeDocument/2006/relationships/slide" Target="slides/slide10.xml"/><Relationship Id="rId58" Type="http://schemas.openxmlformats.org/officeDocument/2006/relationships/font" Target="fonts/Inter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OCR A Level Classical Civilisation, Component 11: The World of the Hero. Topic 3 covers Books 9–12, the Wanderings, across lessons 15–21 — Odysseus narrating his own adventures at the Phaeacian court.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Topic 2 ended with Alcinous's question at the feast. Books 9–12 are the answer — the apologoi, Odysseus narrating his own wanderings in flashback. Keep the narrator question alive all topic: how far do we trust the teller?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New: temptation and appetite, leadership and the crew, death and the afterlife, prophecy and omens. Revisited: mētis and xenia together in the Cyclops, nostos through Agamemnon, women through Circe and Clytemnestra. The supernatural peaks here. All four books are prescribed.</a:t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15, a revisit: mētis and xenia together through the poem's greatest set-piece. Retell the key moves; analyse the Nobody trick and the fatal boast; score Polyphemus against the xenia code.</a:t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Mētis from Topic 1, xenia from Topics 1–2 — both meet their extreme case: a host who eats his guests, defeated by pure cunning. And the setting matters: the Cyclopes are the anti-society.</a:t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Twelve ships; twelve best men; Maron's wine — file that detail. Odysseus refuses to flee: he wants a guest-gift. The rock seals the trap; the code is broken (identity demanded first), blasphemed (stronger than the gods), then fully inverted — six men eaten.</a:t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Force is useless — kill the giant and they are entombed. Four parts: weapon, wine, name, exit. The Outis/mētis pun; the craft similes; the ram scene's flicker of pathos.</a:t>
            </a:r>
            <a:endParaRPr/>
          </a:p>
        </p:txBody>
      </p:sp>
      <p:sp>
        <p:nvSpPr>
          <p:cNvPr id="150" name="Google Shape;1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 taunts the giant, then hands him the perfect curse-formula: name, father, address. Why? Kleos — a nameless victory is no victory. Poseidon's curse follows, clause by clause. And remember who is telling us this.</a:t>
            </a:r>
            <a:endParaRPr/>
          </a:p>
        </p:txBody>
      </p:sp>
      <p:sp>
        <p:nvSpPr>
          <p:cNvPr id="183" name="Google Shape;18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 the xenia checklist — every step inverted, not just broken. The engineered symmetry with the Phaeacians. Mētis vs biē in its purest form. And the curse powers the plot: Poseidon's enmity starts in this cave.</a:t>
            </a:r>
            <a:endParaRPr/>
          </a:p>
        </p:txBody>
      </p:sp>
      <p:sp>
        <p:nvSpPr>
          <p:cNvPr id="208" name="Google Shape;2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xenia inverted and the Phaeacian symmetry; the four-part trick and the pun; the boast and the curse that scripts the poem.</a:t>
            </a:r>
            <a:endParaRPr/>
          </a:p>
        </p:txBody>
      </p:sp>
      <p:sp>
        <p:nvSpPr>
          <p:cNvPr id="229" name="Google Shape;22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the success criteria, then the score–analyse–argue–evaluate task ladder on the Cyclops episode.</a:t>
            </a:r>
            <a:endParaRPr/>
          </a:p>
        </p:txBody>
      </p:sp>
      <p:sp>
        <p:nvSpPr>
          <p:cNvPr id="260" name="Google Shape;26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16, a new idea: appetite — for food, pleasure, ease and forgetting — as the inner threat to nostos. The three great temptations: Lotus, Circe, the Sun's cattle.</a:t>
            </a:r>
            <a:endParaRPr/>
          </a:p>
        </p:txBody>
      </p:sp>
      <p:sp>
        <p:nvSpPr>
          <p:cNvPr id="288" name="Google Shape;28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wanderings are a sequence of temptations; the deadliest dangers are pleasant. The enemy is the gastēr — belly, appetite, desire. Crew tend to fail through appetite; Odysseus resists more, but not always.</a:t>
            </a:r>
            <a:endParaRPr/>
          </a:p>
        </p:txBody>
      </p:sp>
      <p:sp>
        <p:nvSpPr>
          <p:cNvPr id="307" name="Google Shape;30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Lotus (Book 9): forgetting — nostos is desire; kill the wanting and the journey ends. Circe (Book 10): pleasure and ease — pigs, moly, then the captain's year-long lapse. The Sun's cattle (Book 12): the fatal temptation — oath broken while he sleeps; Zeus's bolt kills all who ate.</a:t>
            </a:r>
            <a:endParaRPr/>
          </a:p>
        </p:txBody>
      </p:sp>
      <p:sp>
        <p:nvSpPr>
          <p:cNvPr id="333" name="Google Shape;33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Each temptation targets nostos differently. Crew fail collectively; the captain's difference is discipline, not immunity. The proem's verdict; the counter-argument; and the link forward to the suitors.</a:t>
            </a:r>
            <a:endParaRPr/>
          </a:p>
        </p:txBody>
      </p:sp>
      <p:sp>
        <p:nvSpPr>
          <p:cNvPr id="368" name="Google Shape;36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the Lotus-eaters, Circe's island, and the Sun's cattle — one card each.</a:t>
            </a:r>
            <a:endParaRPr/>
          </a:p>
        </p:txBody>
      </p:sp>
      <p:sp>
        <p:nvSpPr>
          <p:cNvPr id="392" name="Google Shape;39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the success criteria, then the explain–contrast–argue–evaluate ladder on the temptations.</a:t>
            </a:r>
            <a:endParaRPr/>
          </a:p>
        </p:txBody>
      </p:sp>
      <p:sp>
        <p:nvSpPr>
          <p:cNvPr id="423" name="Google Shape;42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17, a new idea: Odysseus as a leader of men. Cite decisions that save or doom the crew; weigh his share of the blame for losing all twelve ships.</a:t>
            </a:r>
            <a:endParaRPr/>
          </a:p>
        </p:txBody>
      </p:sp>
      <p:sp>
        <p:nvSpPr>
          <p:cNvPr id="451" name="Google Shape;45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brutal fact: twelve ships, over 600 men — he arrives alone. What a leader owes his men; what the men owe him; and the task of the lesson: a ledger, then a judgement.</a:t>
            </a:r>
            <a:endParaRPr/>
          </a:p>
        </p:txBody>
      </p:sp>
      <p:sp>
        <p:nvSpPr>
          <p:cNvPr id="470" name="Google Shape;47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Six decisions that save; seven failures that doom. Walk both columns — students will compile their own ledger with book references in the task.</a:t>
            </a:r>
            <a:endParaRPr/>
          </a:p>
        </p:txBody>
      </p:sp>
      <p:sp>
        <p:nvSpPr>
          <p:cNvPr id="495" name="Google Shape;49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 leader needs an opposition — Eurylochus is the crew's case against the captain. Aiaia, the Thrinacia mutiny, the famine. Coward or reasonable voice? The poem lets you argue either.</a:t>
            </a:r>
            <a:endParaRPr/>
          </a:p>
        </p:txBody>
      </p:sp>
      <p:sp>
        <p:nvSpPr>
          <p:cNvPr id="533" name="Google Shape;53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proem's official line; the defence; the prosecution; the narrator nuance. A strong essay holds both: shared responsibility, argued in proportions.</a:t>
            </a:r>
            <a:endParaRPr/>
          </a:p>
        </p:txBody>
      </p:sp>
      <p:sp>
        <p:nvSpPr>
          <p:cNvPr id="555" name="Google Shape;55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the ledger, Eurylochus's three scenes, and the verdict.</a:t>
            </a:r>
            <a:endParaRPr/>
          </a:p>
        </p:txBody>
      </p:sp>
      <p:sp>
        <p:nvSpPr>
          <p:cNvPr id="583" name="Google Shape;58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the success criteria, then the compile–analyse–explain–evaluate ladder on leadership.</a:t>
            </a:r>
            <a:endParaRPr/>
          </a:p>
        </p:txBody>
      </p:sp>
      <p:sp>
        <p:nvSpPr>
          <p:cNvPr id="614" name="Google Shape;61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18, a new idea: the Homeric view of death, through the journey to the dead. Describe the underworld and ritual; explain the key encounters; analyse Achilles' verdict on kleos.</a:t>
            </a:r>
            <a:endParaRPr/>
          </a:p>
        </p:txBody>
      </p:sp>
      <p:sp>
        <p:nvSpPr>
          <p:cNvPr id="642" name="Google Shape;64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 11 is the Nekyia — the epic's katabasis. The Homeric dead are shades: witless, strengthless, needing blood to speak. No reward, no punishment — which is why kleos matters so much.</a:t>
            </a:r>
            <a:endParaRPr/>
          </a:p>
        </p:txBody>
      </p:sp>
      <p:sp>
        <p:nvSpPr>
          <p:cNvPr id="661" name="Google Shape;66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rite as Circe prescribed; Elpenor and the absolute claim of burial rites; Anticleia — the three embraces, the poem's tenderest statement of what death is.</a:t>
            </a:r>
            <a:endParaRPr/>
          </a:p>
        </p:txBody>
      </p:sp>
      <p:sp>
        <p:nvSpPr>
          <p:cNvPr id="684" name="Google Shape;68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supreme hero of the Iliad repudiates the heroic bargain: the meanest life outranks the greatest death. But hold the nuance — he exults in Neoptolemus; fame still touches him through the living. And nearby, Ajax's unreconciled silence.</a:t>
            </a:r>
            <a:endParaRPr/>
          </a:p>
        </p:txBody>
      </p:sp>
      <p:sp>
        <p:nvSpPr>
          <p:cNvPr id="713" name="Google Shape;713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3" name="Google Shape;73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 reframes the poem's values; it is the hero's deepest descent; the sights confirm the geography of death; and the mid-book frame reminds us this is a performance.</a:t>
            </a:r>
            <a:endParaRPr/>
          </a:p>
        </p:txBody>
      </p:sp>
      <p:sp>
        <p:nvSpPr>
          <p:cNvPr id="734" name="Google Shape;73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4" name="Google Shape;75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the rite and the dead; Elpenor and Anticleia; Achilles and Ajax; the frame.</a:t>
            </a:r>
            <a:endParaRPr/>
          </a:p>
        </p:txBody>
      </p:sp>
      <p:sp>
        <p:nvSpPr>
          <p:cNvPr id="755" name="Google Shape;75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0" name="Google Shape;78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the success criteria, then the describe–explain–analyse–evaluate ladder on the Nekyia.</a:t>
            </a:r>
            <a:endParaRPr/>
          </a:p>
        </p:txBody>
      </p:sp>
      <p:sp>
        <p:nvSpPr>
          <p:cNvPr id="781" name="Google Shape;781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8" name="Google Shape;80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19, a new idea: prophecy in the poem. Set out Teiresias's prophecy in full; explain how prophecy steers expectation, tension and behaviour without abolishing choice.</a:t>
            </a:r>
            <a:endParaRPr/>
          </a:p>
        </p:txBody>
      </p:sp>
      <p:sp>
        <p:nvSpPr>
          <p:cNvPr id="809" name="Google Shape;809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" name="Google Shape;82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Prophecy is the gods' knowledge leaking into human time — and it is usually conditional, not a fixed script. It preserves the moral rule of the Orestes paradigm, and works as a narrative engine.</a:t>
            </a:r>
            <a:endParaRPr/>
          </a:p>
        </p:txBody>
      </p:sp>
      <p:sp>
        <p:nvSpPr>
          <p:cNvPr id="828" name="Google Shape;828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7" name="Google Shape;84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unique seer; Poseidon named; the Thrinacia condition; the alternative — the exact shape of Polyphemus's curse; and the epilogue beyond the poem: the oar, the sacrifice, the gentle death away from the sea.</a:t>
            </a:r>
            <a:endParaRPr/>
          </a:p>
        </p:txBody>
      </p:sp>
      <p:sp>
        <p:nvSpPr>
          <p:cNvPr id="848" name="Google Shape;84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6" name="Google Shape;87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 steers expectation, manufactures tension, transfers responsibility, reaches past the poem's last page — and pairs with Telemus's misread prophecy.</a:t>
            </a:r>
            <a:endParaRPr/>
          </a:p>
        </p:txBody>
      </p:sp>
      <p:sp>
        <p:nvSpPr>
          <p:cNvPr id="877" name="Google Shape;877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0" name="Google Shape;90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how prophecy works; Teiresias in full; what it does.</a:t>
            </a:r>
            <a:endParaRPr/>
          </a:p>
        </p:txBody>
      </p:sp>
      <p:sp>
        <p:nvSpPr>
          <p:cNvPr id="901" name="Google Shape;901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1" name="Google Shape;93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the success criteria, then the recall–explain–connect–evaluate ladder on prophecy.</a:t>
            </a:r>
            <a:endParaRPr/>
          </a:p>
        </p:txBody>
      </p:sp>
      <p:sp>
        <p:nvSpPr>
          <p:cNvPr id="932" name="Google Shape;932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9" name="Google Shape;95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20, a revisit: nostos through Agamemnon's fatal homecoming — the dark mirror of Odysseus's own. Retell the murder as the shade tells it; map the two households; explain what the warning changes.</a:t>
            </a:r>
            <a:endParaRPr/>
          </a:p>
        </p:txBody>
      </p:sp>
      <p:sp>
        <p:nvSpPr>
          <p:cNvPr id="960" name="Google Shape;960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8" name="Google Shape;97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Topic 1 defined nostos and taught judging homecomings. Agamemnon has shadowed the poem from Book 1; now we hear it from the victim himself. Keep the comparison question open: what must Odysseus do differently?</a:t>
            </a:r>
            <a:endParaRPr/>
          </a:p>
        </p:txBody>
      </p:sp>
      <p:sp>
        <p:nvSpPr>
          <p:cNvPr id="979" name="Google Shape;979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7" name="Google Shape;99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 battle but hospitality: the welcome-feast made the killing-floor. Clytemnestra's refusals; the bitterness that generalises; and the crucial exception — Penelope. The warning is 'no homecoming is safe'.</a:t>
            </a:r>
            <a:endParaRPr/>
          </a:p>
        </p:txBody>
      </p:sp>
      <p:sp>
        <p:nvSpPr>
          <p:cNvPr id="998" name="Google Shape;998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1" name="Google Shape;102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two households map point for point — learn the grid. The differences are the poem's argument; the advice scripts the second half; the revisit pays off: the fatal nostos teaching the successful one how to survive.</a:t>
            </a:r>
            <a:endParaRPr/>
          </a:p>
        </p:txBody>
      </p:sp>
      <p:sp>
        <p:nvSpPr>
          <p:cNvPr id="1022" name="Google Shape;1022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8" name="Google Shape;1058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the murder; the bitterness and the exception; the mirror and the manual.</a:t>
            </a:r>
            <a:endParaRPr/>
          </a:p>
        </p:txBody>
      </p:sp>
      <p:sp>
        <p:nvSpPr>
          <p:cNvPr id="1059" name="Google Shape;1059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9" name="Google Shape;108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the success criteria, then the retell–map–explain–evaluate ladder on Agamemnon's return.</a:t>
            </a:r>
            <a:endParaRPr/>
          </a:p>
        </p:txBody>
      </p:sp>
      <p:sp>
        <p:nvSpPr>
          <p:cNvPr id="1090" name="Google Shape;1090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7" name="Google Shape;1117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21, a revisit: 'women' through the witch-helper and the murderous wife — the two extremes that frame Penelope.</a:t>
            </a:r>
            <a:endParaRPr/>
          </a:p>
        </p:txBody>
      </p:sp>
      <p:sp>
        <p:nvSpPr>
          <p:cNvPr id="1118" name="Google Shape;1118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6" name="Google Shape;1136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Helen, Calypso, Nausicaa, Arete so far — each a different power and limit. Books 10–11 add the two extremes. Penelope stands at the centre of the widening circle.</a:t>
            </a:r>
            <a:endParaRPr/>
          </a:p>
        </p:txBody>
      </p:sp>
      <p:sp>
        <p:nvSpPr>
          <p:cNvPr id="1137" name="Google Shape;1137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5" name="Google Shape;1155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Threat, mastering, turn, helper — and the arc's sting: her softest power proved the strongest. Threat → conquest → ally: female power that, unlike Calypso's, ends up serving the nostos.</a:t>
            </a:r>
            <a:endParaRPr/>
          </a:p>
        </p:txBody>
      </p:sp>
      <p:sp>
        <p:nvSpPr>
          <p:cNvPr id="1156" name="Google Shape;1156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9" name="Google Shape;1179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Clytemnestra exists entirely in men's telling — the limit-case, Penelope inverted. Agamemnon's generalisation is worth analysing; and the catalogue of heroines, with Arete first to speak when it ends.</a:t>
            </a:r>
            <a:endParaRPr/>
          </a:p>
        </p:txBody>
      </p:sp>
      <p:sp>
        <p:nvSpPr>
          <p:cNvPr id="1180" name="Google Shape;1180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3" name="Google Shape;1203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Line them up: Clytemnestra – Helen – Calypso/Circe – Nausicaa – Arete. Two patterns: female power is real but bounded; and the most dangerous female power is the power to make a man stop. Every figure is a foil for Penelope.</a:t>
            </a:r>
            <a:endParaRPr/>
          </a:p>
        </p:txBody>
      </p:sp>
      <p:sp>
        <p:nvSpPr>
          <p:cNvPr id="1204" name="Google Shape;1204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7" name="Google Shape;1237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Circe's arc; Clytemnestra; the heroines and the spectrum.</a:t>
            </a:r>
            <a:endParaRPr/>
          </a:p>
        </p:txBody>
      </p:sp>
      <p:sp>
        <p:nvSpPr>
          <p:cNvPr id="1238" name="Google Shape;1238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8" name="Google Shape;1268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Trace Circe's arc, analyse Clytemnestra's offstage existence, compare the divine detainers, and evaluate whether the Odyssey's women exist only to define Penelope. Next: Books 13–16 — Odysseus lands on Ithaca at last.</a:t>
            </a:r>
            <a:endParaRPr/>
          </a:p>
        </p:txBody>
      </p:sp>
      <p:sp>
        <p:nvSpPr>
          <p:cNvPr id="1269" name="Google Shape;1269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png"/><Relationship Id="rId4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6.png"/><Relationship Id="rId4" Type="http://schemas.openxmlformats.org/officeDocument/2006/relationships/image" Target="../media/image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1"/>
          <p:cNvPicPr preferRelativeResize="0"/>
          <p:nvPr/>
        </p:nvPicPr>
        <p:blipFill rotWithShape="1">
          <a:blip r:embed="rId4">
            <a:alphaModFix amt="92000"/>
          </a:blip>
          <a:srcRect b="0" l="0" r="0" t="0"/>
          <a:stretch/>
        </p:blipFill>
        <p:spPr>
          <a:xfrm>
            <a:off x="7812174" y="666750"/>
            <a:ext cx="2663651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1905688" y="3266405"/>
            <a:ext cx="1447654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OCR A LEVEL CLASSICAL CIVILISATION · COMPONENT 11 · THE WORLD OF THE HERO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306644" y="3890293"/>
            <a:ext cx="567471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"/>
              <a:buFont typeface="Lora"/>
              <a:buNone/>
            </a:pPr>
            <a:r>
              <a:rPr b="0" i="1" lang="en-US" sz="34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Homer's Odyssey · Topic 3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921593" y="4585618"/>
            <a:ext cx="12444814" cy="16062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765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00"/>
              <a:buFont typeface="Lora"/>
              <a:buNone/>
            </a:pPr>
            <a:r>
              <a:rPr b="1" i="1" lang="en-US" sz="126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</a:t>
            </a:r>
            <a:r>
              <a:rPr b="1" i="1" lang="en-US" sz="126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Wanderings</a:t>
            </a:r>
            <a:endParaRPr b="0" i="0" sz="12600" u="none" cap="none" strike="noStrike">
              <a:solidFill>
                <a:srgbClr val="1A6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165384" y="6534745"/>
            <a:ext cx="1595723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Inter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Odysseus tells his own story — monsters, temptations, the dead, and the cost of getting home.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-914400" y="9320213"/>
            <a:ext cx="20116800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BOOKS 9–12 · LESSONS 15–21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990600" y="666750"/>
            <a:ext cx="102974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RECAP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211559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990600" y="1271588"/>
            <a:ext cx="6475095" cy="12900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66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story so far — and who is speaking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990600" y="2866430"/>
            <a:ext cx="6475095" cy="16976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796"/>
              </a:lnSpc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3300"/>
              <a:buFont typeface="Lora"/>
              <a:buNone/>
            </a:pPr>
            <a:r>
              <a:rPr b="0" i="1" lang="en-US" sz="33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Books 9–12 are Odysseus's answer to one question: who are you, and why do you weep?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990600" y="4792712"/>
            <a:ext cx="6475095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These four books are called the apologoi — 'the tales' — the hero narrating his own adventures to the Phaeacian court.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039100" y="4553471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8039100" y="3292450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WHERE TOPIC 2 LEFT US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039100" y="3625825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Alcinous's feast: Demodocus sang Troy, the hero wept, and Alcinous finally asked who he is and why he weeps.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8039100" y="6033567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039100" y="4772546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FLASHBACK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039100" y="5105921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Remember the poem's structure: we are now being told the 'missing' years between the fall of Troy and Calypso's island.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039100" y="6252642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THE CRITICAL QUESTION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039100" y="6586017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 first-person story told by the poem's master liar, to hosts he needs to impress. How far do we trust the teller? Keep it alive all topic.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90600" y="9534525"/>
            <a:ext cx="2856019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Recap · The story so far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990600" y="666750"/>
            <a:ext cx="102974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RECAP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211559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New ideas, and ideas we revisit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990600" y="2140223"/>
            <a:ext cx="7962900" cy="3881438"/>
          </a:xfrm>
          <a:prstGeom prst="roundRect">
            <a:avLst>
              <a:gd fmla="val 392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1400175" y="2473598"/>
            <a:ext cx="785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NEW THIS TOPIC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1400175" y="3830910"/>
            <a:ext cx="71437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1400175" y="3026048"/>
            <a:ext cx="33528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Temptation &amp; appetite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657725" y="3049860"/>
            <a:ext cx="4002786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threats to nostos from within — Books 9–12.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400175" y="4426223"/>
            <a:ext cx="71437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1400175" y="3954735"/>
            <a:ext cx="33528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Leadership &amp; the crew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657725" y="3978548"/>
            <a:ext cx="426794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captain on trial — Books 9–12.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400175" y="5021535"/>
            <a:ext cx="71437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1400175" y="4550048"/>
            <a:ext cx="33528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Death &amp; the afterlife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657725" y="4573860"/>
            <a:ext cx="280273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Nekyia — Book 11.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400175" y="5145360"/>
            <a:ext cx="33528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Prophecy &amp; omens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657725" y="5169173"/>
            <a:ext cx="249953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Teiresias — Book 11.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9334500" y="2140223"/>
            <a:ext cx="7962900" cy="3881438"/>
          </a:xfrm>
          <a:prstGeom prst="roundRect">
            <a:avLst>
              <a:gd fmla="val 392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9744075" y="2473598"/>
            <a:ext cx="785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REVISITED FROM TOPICS 1–2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9744075" y="3830910"/>
            <a:ext cx="71437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9744075" y="3026048"/>
            <a:ext cx="33528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Mētis &amp; xenia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3001625" y="3049860"/>
            <a:ext cx="4002786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Together, in the Cyclops — Book 9.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9744075" y="4759598"/>
            <a:ext cx="71437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9744075" y="3954735"/>
            <a:ext cx="33528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Nostos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3001625" y="3978548"/>
            <a:ext cx="4002786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Agamemnon's fatal homecoming — Book 11.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9744075" y="4883423"/>
            <a:ext cx="33528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Women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3001625" y="4907235"/>
            <a:ext cx="4002786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Circe and Clytemnestra — Books 10–11.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990600" y="6288360"/>
            <a:ext cx="16306800" cy="1203871"/>
          </a:xfrm>
          <a:prstGeom prst="roundRect">
            <a:avLst>
              <a:gd fmla="val 11077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1371600" y="6602685"/>
            <a:ext cx="775469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NOTE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375669" y="6516960"/>
            <a:ext cx="14976953" cy="784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04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ora"/>
              <a:buNone/>
            </a:pPr>
            <a:r>
              <a:rPr b="0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supernatural, introduced in Topic 2, is now at its absolute peak — monsters, witches, the land of the dead. And all four books are prescribed: the richest stretch of the poem for exam extracts.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990600" y="9534525"/>
            <a:ext cx="362210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Recap · The shape of the topic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" name="Google Shape;79;p3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/>
          <p:nvPr/>
        </p:nvSpPr>
        <p:spPr>
          <a:xfrm>
            <a:off x="1524000" y="666750"/>
            <a:ext cx="813389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3 · THE WANDERINGS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15705534" y="609600"/>
            <a:ext cx="1134666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15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524000" y="2444502"/>
            <a:ext cx="176783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15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378771" y="2573089"/>
            <a:ext cx="1673870" cy="357188"/>
          </a:xfrm>
          <a:prstGeom prst="roundRect">
            <a:avLst>
              <a:gd fmla="val 16000" name="adj"/>
            </a:avLst>
          </a:prstGeom>
          <a:solidFill>
            <a:srgbClr val="F5C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3531171" y="2630239"/>
            <a:ext cx="144527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REVISITED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524000" y="3025527"/>
            <a:ext cx="15697200" cy="2375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0"/>
              <a:buFont typeface="Lora"/>
              <a:buNone/>
            </a:pPr>
            <a:r>
              <a:rPr b="1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Cyclops: </a:t>
            </a:r>
            <a:r>
              <a:rPr b="0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mētis showcased, xenia inverted</a:t>
            </a:r>
            <a:endParaRPr b="0" i="0" sz="8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524000" y="5972919"/>
            <a:ext cx="14859000" cy="9525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1524000" y="6325344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524000" y="6682532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Revisit mētis and xenia together through the poem's greatest set-piece.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9334500" y="6325344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9334500" y="6682532"/>
            <a:ext cx="7259955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Retell the episode's key moves accurately; analyse the Nobody trick and the fatal boast; score Polyphemus against the xenia code.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4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/>
          <p:nvPr/>
        </p:nvSpPr>
        <p:spPr>
          <a:xfrm>
            <a:off x="990600" y="666750"/>
            <a:ext cx="122254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REVISIT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230839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990600" y="1271588"/>
            <a:ext cx="6915150" cy="6640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66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Two threads meet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990600" y="2202359"/>
            <a:ext cx="6475095" cy="158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82"/>
              </a:lnSpc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Both ideas now meet their extreme case: a host who eats his guests, defeated by pure cunning.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8039100" y="4373910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8039100" y="3112889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MĒTIS (TOPIC 1)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8039100" y="3446264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Cunning intelligence, Odysseus's defining quality, opposed to biē — brute force. The proem promised a hero 'of many turns'; Book 9 is the proof.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8039100" y="5854005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8039100" y="4592985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XENIA (TOPICS 1–2)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8039100" y="4926360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sacred guest–host code: abused by the suitors, kept by Nestor and Menelaus, perfected by the Phaeacians.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8039100" y="6073080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THE SETTING: THE ANTI-SOCIETY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8039100" y="6406455"/>
            <a:ext cx="9536049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Cyclopes are lawless — no assemblies, no laws, no ships, no farming (the land bears of itself); each rules his own cave and family and 'cares nothing for his neighbours'.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990600" y="9534525"/>
            <a:ext cx="282581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15 · The Cyclops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" name="Google Shape;117;p5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/>
          <p:nvPr/>
        </p:nvSpPr>
        <p:spPr>
          <a:xfrm>
            <a:off x="990600" y="666750"/>
            <a:ext cx="149832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DETAIL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2584177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Into the cave: the first moves </a:t>
            </a:r>
            <a:r>
              <a:rPr b="0" i="1" lang="en-US" sz="465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(Book 9)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990600" y="3591818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990600" y="2205930"/>
            <a:ext cx="933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2190750" y="2324993"/>
            <a:ext cx="166173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landing — and the wine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2190750" y="2734568"/>
            <a:ext cx="155598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Twelve ships; he takes his own ship's twelve best men — and a skin of strong Ismarian wine from Maron, priest of Apollo, given in thanks for protection. File that detail: a xenia-gift will defeat the xenia-breaker.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990600" y="5168205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990600" y="3782318"/>
            <a:ext cx="933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2190750" y="3901380"/>
            <a:ext cx="166173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refusal to run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2190750" y="4310955"/>
            <a:ext cx="155598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crew beg to steal cheeses and lambs and go. Odysseus refuses: he wants to see the owner — and to receive a guest-gift. His curiosity and appetite for xeinia will cost six men their lives.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990600" y="6744593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990600" y="5358705"/>
            <a:ext cx="933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iii.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2190750" y="5477768"/>
            <a:ext cx="166173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trap closes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2190750" y="5887343"/>
            <a:ext cx="155598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Polyphemus pens his flocks and seals the entrance with a rock twenty-two wagons could not shift. Then, breaking the code, he demands their identity before any welcome.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990600" y="8320980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990600" y="6935093"/>
            <a:ext cx="933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iv.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2190750" y="7054155"/>
            <a:ext cx="166173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blasphemy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2190750" y="7463730"/>
            <a:ext cx="155598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Odysseus appeals to Zeus Xenios, protector of guests. The reply: the Cyclopes 'care nothing for Zeus' — they are stronger than the gods.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990600" y="8511480"/>
            <a:ext cx="933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v.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2190750" y="8630543"/>
            <a:ext cx="166173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code inverted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2190750" y="9040118"/>
            <a:ext cx="155598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Instead of feeding his guests, he makes them the meal — seizing two men, dashing their brains out 'like puppies', and eating them raw. Two more at breakfast, two at supper: six in all.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990600" y="10106918"/>
            <a:ext cx="282581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15 · The Cyclops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6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10121205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/>
          <p:nvPr/>
        </p:nvSpPr>
        <p:spPr>
          <a:xfrm>
            <a:off x="990600" y="666750"/>
            <a:ext cx="149832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DETAIL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2584177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Nobody trick and the blinding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990600" y="1910655"/>
            <a:ext cx="1471612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4A5070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4A5070"/>
                </a:solidFill>
                <a:latin typeface="Inter"/>
                <a:ea typeface="Inter"/>
                <a:cs typeface="Inter"/>
                <a:sym typeface="Inter"/>
              </a:rPr>
              <a:t>Force is useless: kill the giant and they are entombed — no one can move the rock. The problem must be thought through. The plan has four parts.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990600" y="4703713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990600" y="3053655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866900" y="3158430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weapon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1866900" y="3558480"/>
            <a:ext cx="7102983" cy="687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An olive-wood stake, cut from the giant's own club, sharpened, hardened in the fire, hidden under dung.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9525000" y="4703713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9525000" y="3053655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10401300" y="3158430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wine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0401300" y="3558480"/>
            <a:ext cx="7102983" cy="10118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Maron's unmixed vintage, offered three times; the milk-drinking giant is soon fuddled — and promises a guest-gift: 'I will eat Nobody last.' A monstrous parody of xeinia.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990600" y="6859339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990600" y="4884688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iii.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866900" y="4989463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name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866900" y="5389513"/>
            <a:ext cx="7102983" cy="13364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'My name is Nobody (Outis).' The blinded giant screams; his neighbours call 'Is anybody harming you?' — 'Nobody is killing me!' — and leave. In Greek the pun cuts deeper: mē tis ('no one') sounds like mētis — cunning itself.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9525000" y="6859339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9525000" y="4884688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iv.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10401300" y="4989463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craft similes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0401300" y="5389513"/>
            <a:ext cx="7102983" cy="10118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They twirl the stake like shipwrights drilling a timber; the eye hisses like an axe quenched in cold water — civilised technology turned against the savage.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990600" y="7040314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v.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866900" y="7145089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exit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1866900" y="7545139"/>
            <a:ext cx="7102983" cy="687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Each man slung beneath the middle ram of three lashed together; Odysseus clings under the belly of the biggest.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9525000" y="7040314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vi.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10401300" y="7145089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flicker of pathos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10401300" y="7545139"/>
            <a:ext cx="7102983" cy="687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blind giant strokes the very ram — and speaks to it with strange tenderness: a moment of sympathy for the monster.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990600" y="9534525"/>
            <a:ext cx="282581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15 · The Cyclops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9" name="Google Shape;179;p7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50000">
                <a:srgbClr val="0D1433"/>
              </a:gs>
              <a:gs pos="100000">
                <a:srgbClr val="080C1F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990600" y="666750"/>
            <a:ext cx="255463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CLOSE ANALYSIS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3640485" y="797719"/>
            <a:ext cx="666750" cy="19050"/>
          </a:xfrm>
          <a:prstGeom prst="rect">
            <a:avLst/>
          </a:prstGeom>
          <a:solidFill>
            <a:srgbClr val="5E9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fatal boast — and the curse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990600" y="3152626"/>
            <a:ext cx="163068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990600" y="2224980"/>
            <a:ext cx="26193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The taunt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3714750" y="2253555"/>
            <a:ext cx="1399013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Safely aboard, Odysseus cannot resist taunting the giant, who hurls a hilltop that nearly drives the ship back ashore. The crew beg him to stop. He will not.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990600" y="4270772"/>
            <a:ext cx="163068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990600" y="3343126"/>
            <a:ext cx="26193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The name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3714750" y="3371701"/>
            <a:ext cx="1399013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'Say it was Odysseus, sacker of cities, son of Laertes, whose home is on Ithaca.' Name, father, address: the perfect curse-formula, handed to his enemy — his own trick thrown away.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990600" y="5388918"/>
            <a:ext cx="163068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990600" y="4461272"/>
            <a:ext cx="26193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Why? Kleos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3714750" y="4489847"/>
            <a:ext cx="1399013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nameless victory is no victory at all — 'Nobody' wins no fame. His heroic need for glory overrides his cunning: the poem's clearest collision of kleos and nostos.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990600" y="5579418"/>
            <a:ext cx="26193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555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E05555"/>
                </a:solidFill>
                <a:latin typeface="Lora"/>
                <a:ea typeface="Lora"/>
                <a:cs typeface="Lora"/>
                <a:sym typeface="Lora"/>
              </a:rPr>
              <a:t>The curse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3714750" y="5607993"/>
            <a:ext cx="1399013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Polyphemus prays to Poseidon: may Odysseus never reach home — or, if fate insists, may he come late, in misery, all comrades lost, on a foreign ship, to find trouble in his house. Every clause will come true.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990600" y="6792813"/>
            <a:ext cx="16306800" cy="1093440"/>
          </a:xfrm>
          <a:prstGeom prst="roundRect">
            <a:avLst>
              <a:gd fmla="val 10453" name="adj"/>
            </a:avLst>
          </a:prstGeom>
          <a:solidFill>
            <a:srgbClr val="1A6FFF">
              <a:alpha val="12156"/>
            </a:srgbClr>
          </a:solidFill>
          <a:ln cap="flat" cmpd="sng" w="9525">
            <a:solidFill>
              <a:srgbClr val="1A6F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1323975" y="7054751"/>
            <a:ext cx="254636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NARRATOR CHECK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3886498" y="6992838"/>
            <a:ext cx="13469853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Remember who is telling us this — Odysseus, to hosts descended from Poseidon. He confesses the boast that doomed his men. Does the confession make him more trustworthy, or is he shaping his own legend?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990600" y="9534525"/>
            <a:ext cx="282581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Lesson 15 · The Cyclops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4" name="Google Shape;204;p8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Scoring the anti-host — and the point of him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990600" y="3587874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990600" y="2253555"/>
            <a:ext cx="35623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The checklist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572000" y="2301180"/>
            <a:ext cx="13107162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Welcome before questions (demanded identity first); feed the guest (ate the guests); guest-gift ('I'll eat Nobody last'); safe escort (a hurled hilltop). Every step is not just broken but inverted — the code performed backwards.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990600" y="4782220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990600" y="3806949"/>
            <a:ext cx="35623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symmetry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4572000" y="3854574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Both peoples descend from Poseidon; the Phaeacians once lived beside the Cyclopes and moved away. Same stock — opposite poles of civilisation. Xenia is what separates them.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990600" y="5976565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990600" y="5001295"/>
            <a:ext cx="35623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Mētis against biē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572000" y="5048920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In its purest form: the strongest creature in the poem is beaten by wine, a false name, a sharpened stick and patience.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990600" y="6195640"/>
            <a:ext cx="35623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plot engine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572000" y="6243265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curse explains Poseidon's ten-year enmity — the divine machinery of the whole Odyssey starts in this cave.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990600" y="9534525"/>
            <a:ext cx="282581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15 · The Cyclops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5" name="Google Shape;225;p9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990600" y="2100263"/>
            <a:ext cx="5232350" cy="4227537"/>
          </a:xfrm>
          <a:prstGeom prst="roundRect">
            <a:avLst>
              <a:gd fmla="val 360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1343025" y="2414588"/>
            <a:ext cx="1152227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1476375" y="2471738"/>
            <a:ext cx="961727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1343025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Xenia inverted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1343025" y="3428479"/>
            <a:ext cx="4663325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Lawless Cyclopes: no assembly, law, ships or farming — the anti-society; he eats his guests and parodies the guest-gift.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1343025" y="4857229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1343025" y="5019154"/>
            <a:ext cx="4663325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Symmetry with the Phaeacians (both Poseidon's stock): xenia is what divides civilised from savage.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6527750" y="2100263"/>
            <a:ext cx="5232425" cy="4227537"/>
          </a:xfrm>
          <a:prstGeom prst="roundRect">
            <a:avLst>
              <a:gd fmla="val 360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6880175" y="2414588"/>
            <a:ext cx="1152227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7013525" y="2471738"/>
            <a:ext cx="961727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6880175" y="2933700"/>
            <a:ext cx="4980332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trick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6880175" y="3428479"/>
            <a:ext cx="4663402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Weapon, wine, name, exit — a four-part plan; the Outis/mētis pun; craft similes (ship-drill, quenched axe).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6880175" y="5188669"/>
            <a:ext cx="4527575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6880175" y="5350594"/>
            <a:ext cx="4663402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Force useless (the rock): only cunning can open the cave.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12064975" y="2100263"/>
            <a:ext cx="5232350" cy="4227537"/>
          </a:xfrm>
          <a:prstGeom prst="roundRect">
            <a:avLst>
              <a:gd fmla="val 360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12417400" y="2414588"/>
            <a:ext cx="1152227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12550750" y="2471738"/>
            <a:ext cx="961727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12417400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boast &amp; curse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12417400" y="3428479"/>
            <a:ext cx="4663325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gives name, father and address — kleos overriding mētis; the crew begged him to stop.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12417400" y="4857229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12417400" y="5019154"/>
            <a:ext cx="4663325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Poseidon's curse (late, wretched, alone, foreign ship, trouble at home) scripts the rest of the poem.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990600" y="9534525"/>
            <a:ext cx="282581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15 · The Cyclops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6" name="Google Shape;256;p10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990600" y="2115071"/>
            <a:ext cx="6134100" cy="3091755"/>
          </a:xfrm>
          <a:prstGeom prst="roundRect">
            <a:avLst>
              <a:gd fmla="val 4929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1390650" y="2457971"/>
            <a:ext cx="5867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1390650" y="3880024"/>
            <a:ext cx="53340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1758628" y="3019946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Retell the episode's key moves in order, with detail.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1390650" y="4032424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1758628" y="4003849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Analyse the trick, the boast, and the inversion of xenia.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7543800" y="3176067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7543800" y="2348433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SCORE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9544050" y="2286521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Run Polyphemus through the xenia checklist — show how each step is inverted, not merely broken.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7543800" y="4246587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7543800" y="3418954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ANALYSE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9544050" y="3357042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Why must this monster be beaten by mētis rather than biē? Use the rock, the wine and the name.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7543800" y="5317108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7543800" y="4489475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ARGUE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9544050" y="4427562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 is the disaster Odysseus's own fault? (The guest-gift greed; the boast.)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7543800" y="5559996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9544050" y="5498083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'The Cyclops episode is the whole Odyssey in miniature.'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 do you agree?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990600" y="9534525"/>
            <a:ext cx="282581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15 · The Cyclops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4" name="Google Shape;284;p11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1" name="Google Shape;2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2"/>
          <p:cNvSpPr/>
          <p:nvPr/>
        </p:nvSpPr>
        <p:spPr>
          <a:xfrm>
            <a:off x="1524000" y="666750"/>
            <a:ext cx="813389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3 · THE WANDERINGS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15670113" y="609600"/>
            <a:ext cx="1170087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16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1524000" y="2981920"/>
            <a:ext cx="1780766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16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3390528" y="3110508"/>
            <a:ext cx="1593205" cy="357188"/>
          </a:xfrm>
          <a:prstGeom prst="roundRect">
            <a:avLst>
              <a:gd fmla="val 16000" name="adj"/>
            </a:avLst>
          </a:prstGeom>
          <a:solidFill>
            <a:srgbClr val="5EC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3542928" y="3167658"/>
            <a:ext cx="136460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NEW IDEA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1524000" y="3562945"/>
            <a:ext cx="16764000" cy="13010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964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0"/>
              <a:buFont typeface="Lora"/>
              <a:buNone/>
            </a:pPr>
            <a:r>
              <a:rPr b="1" i="1" lang="en-US" sz="97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Temptation </a:t>
            </a:r>
            <a:r>
              <a:rPr b="0" i="1" lang="en-US" sz="97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&amp; appetite</a:t>
            </a:r>
            <a:endParaRPr b="0" i="0" sz="9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1524000" y="5435501"/>
            <a:ext cx="14859000" cy="9525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1524000" y="5787926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1524000" y="6145113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Understand how appetite — for food, pleasure, ease and forgetting — threatens the nostos.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9334500" y="5787926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9334500" y="6145113"/>
            <a:ext cx="7259955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Explain the three great temptations (Lotus, Circe, the Sun's cattle) in detail; contrast how crew and captain each fail and resist.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3" name="Google Shape;303;p12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3"/>
          <p:cNvSpPr/>
          <p:nvPr/>
        </p:nvSpPr>
        <p:spPr>
          <a:xfrm>
            <a:off x="990600" y="666750"/>
            <a:ext cx="212310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CONCEPT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3208958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3"/>
          <p:cNvSpPr/>
          <p:nvPr/>
        </p:nvSpPr>
        <p:spPr>
          <a:xfrm>
            <a:off x="990600" y="1233488"/>
            <a:ext cx="71247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292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8250"/>
              <a:buFont typeface="Lora"/>
              <a:buNone/>
            </a:pPr>
            <a:r>
              <a:rPr b="1" i="1" lang="en-US" sz="8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gastēr</a:t>
            </a:r>
            <a:endParaRPr b="0" i="0" sz="8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990600" y="2357438"/>
            <a:ext cx="71247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γαστήρ · belly, appetite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990600" y="3167063"/>
            <a:ext cx="6671310" cy="12811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28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175"/>
              <a:buFont typeface="Inter"/>
              <a:buNone/>
            </a:pPr>
            <a:r>
              <a:rPr b="0" i="0" lang="en-US" sz="21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Appetite against homecoming: again and again, something sweet invites the travellers to stop wanting to go home.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990600" y="4772025"/>
            <a:ext cx="6477000" cy="1983879"/>
          </a:xfrm>
          <a:prstGeom prst="roundRect">
            <a:avLst>
              <a:gd fmla="val 6722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1314450" y="5019675"/>
            <a:ext cx="641223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 THIS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1314450" y="5348288"/>
            <a:ext cx="6004179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3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ora"/>
              <a:buNone/>
            </a:pPr>
            <a:r>
              <a:rPr b="0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Every appetite indulged — food, pleasure, ease, oblivion — is a step away from home. Self-mastery is the price of nostos.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8324850" y="3916710"/>
            <a:ext cx="897255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8324850" y="2601441"/>
            <a:ext cx="2828925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pattern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11163300" y="2630016"/>
            <a:ext cx="6318123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wanderings are a sequence of temptations — the plot of Books 9–12 is appetite tested, indulged, punished.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8324850" y="5097810"/>
            <a:ext cx="897255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8324850" y="4135785"/>
            <a:ext cx="2648903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deadliest are sweet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11163300" y="4164360"/>
            <a:ext cx="6318123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dangers are rarely just violent: a fruit, a feast, a beautiful goddess, a song, a meal of forbidden beef.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8324850" y="6632153"/>
            <a:ext cx="897255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8324850" y="5316885"/>
            <a:ext cx="2828925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Endurance, inside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11163300" y="5345460"/>
            <a:ext cx="6318123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Temptation is where endurance (Topic 2) is tested from within: the enemy is not Poseidon's storm but your own gastēr.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8324850" y="6851228"/>
            <a:ext cx="2828925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Crew vs captain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11163300" y="6879803"/>
            <a:ext cx="6318123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crew tend to fail through appetite; Odysseus resists more — but not always, and his lapses matter just as much.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990600" y="9534525"/>
            <a:ext cx="412191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16 · Temptation &amp; appetite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9" name="Google Shape;329;p13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50000">
                <a:srgbClr val="0D1433"/>
              </a:gs>
              <a:gs pos="100000">
                <a:srgbClr val="080C1F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4"/>
          <p:cNvSpPr/>
          <p:nvPr/>
        </p:nvSpPr>
        <p:spPr>
          <a:xfrm>
            <a:off x="990600" y="666750"/>
            <a:ext cx="149832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 DETAIL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2584177" y="797719"/>
            <a:ext cx="666750" cy="19050"/>
          </a:xfrm>
          <a:prstGeom prst="rect">
            <a:avLst/>
          </a:prstGeom>
          <a:solidFill>
            <a:srgbClr val="5E9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three great temptations — know these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990600" y="2101155"/>
            <a:ext cx="5245075" cy="5449491"/>
          </a:xfrm>
          <a:prstGeom prst="roundRect">
            <a:avLst>
              <a:gd fmla="val 2906" name="adj"/>
            </a:avLst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4"/>
          <p:cNvSpPr/>
          <p:nvPr/>
        </p:nvSpPr>
        <p:spPr>
          <a:xfrm>
            <a:off x="1333500" y="2405955"/>
            <a:ext cx="1152227" cy="347663"/>
          </a:xfrm>
          <a:prstGeom prst="roundRect">
            <a:avLst>
              <a:gd fmla="val 16438" name="adj"/>
            </a:avLst>
          </a:prstGeom>
          <a:solidFill>
            <a:srgbClr val="5E9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4"/>
          <p:cNvSpPr/>
          <p:nvPr/>
        </p:nvSpPr>
        <p:spPr>
          <a:xfrm>
            <a:off x="1466850" y="2463105"/>
            <a:ext cx="961727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BOOK 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1333500" y="2925068"/>
            <a:ext cx="5015203" cy="4104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98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Lora"/>
              <a:buNone/>
            </a:pPr>
            <a:r>
              <a:rPr b="1" i="1" lang="en-US" sz="25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Lotus-eaters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1333500" y="3354586"/>
            <a:ext cx="501520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TEMPTATION OF FORGETTING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1333500" y="3730823"/>
            <a:ext cx="4696053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03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violence at all: a gentle people offer the honey-sweet lotus. Whoever eats loses all desire for home — the tasters want only to stay, 'forgetful of their homeward way'. Odysseus drags them back weeping and ties them under the benches.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1333500" y="6131123"/>
            <a:ext cx="4559275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1333500" y="6293048"/>
            <a:ext cx="4696053" cy="990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1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logic: nostos is desire — destroy the wanting and the journey ends without a single death.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6521425" y="2101155"/>
            <a:ext cx="5245075" cy="5449491"/>
          </a:xfrm>
          <a:prstGeom prst="roundRect">
            <a:avLst>
              <a:gd fmla="val 2906" name="adj"/>
            </a:avLst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4"/>
          <p:cNvSpPr/>
          <p:nvPr/>
        </p:nvSpPr>
        <p:spPr>
          <a:xfrm>
            <a:off x="6864325" y="2405955"/>
            <a:ext cx="1265709" cy="347663"/>
          </a:xfrm>
          <a:prstGeom prst="roundRect">
            <a:avLst>
              <a:gd fmla="val 16438" name="adj"/>
            </a:avLst>
          </a:prstGeom>
          <a:solidFill>
            <a:srgbClr val="5E9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4"/>
          <p:cNvSpPr/>
          <p:nvPr/>
        </p:nvSpPr>
        <p:spPr>
          <a:xfrm>
            <a:off x="6997675" y="2463105"/>
            <a:ext cx="1075209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BOOK 10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6864325" y="2925068"/>
            <a:ext cx="5015203" cy="4104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98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Lora"/>
              <a:buNone/>
            </a:pPr>
            <a:r>
              <a:rPr b="1" i="1" lang="en-US" sz="25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Circe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6864325" y="3354586"/>
            <a:ext cx="469605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TEMPTATION OF PLEASURE &amp; EASE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6864325" y="3973711"/>
            <a:ext cx="4696053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03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Her drugged potion turns half the crew to pigs — appetite made literal: men who thought with their bellies now are swine, minds horribly intact. Odysseus, armed with Hermes' herb moly, resists and masters her.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6864325" y="6131123"/>
            <a:ext cx="4559275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6864325" y="6293048"/>
            <a:ext cx="4696053" cy="990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1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Then he stays a full year feasting, until his own crew must remind him of Ithaca — the captain's one great lapse.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12052250" y="2101155"/>
            <a:ext cx="5245150" cy="5449491"/>
          </a:xfrm>
          <a:prstGeom prst="roundRect">
            <a:avLst>
              <a:gd fmla="val 2906" name="adj"/>
            </a:avLst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12395150" y="2405955"/>
            <a:ext cx="1257226" cy="347663"/>
          </a:xfrm>
          <a:prstGeom prst="roundRect">
            <a:avLst>
              <a:gd fmla="val 16438" name="adj"/>
            </a:avLst>
          </a:prstGeom>
          <a:solidFill>
            <a:srgbClr val="E05555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12528500" y="2463105"/>
            <a:ext cx="1066726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55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E05555"/>
                </a:solidFill>
                <a:latin typeface="Inter"/>
                <a:ea typeface="Inter"/>
                <a:cs typeface="Inter"/>
                <a:sym typeface="Inter"/>
              </a:rPr>
              <a:t>BOOK 12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12395150" y="2925068"/>
            <a:ext cx="5015285" cy="4104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98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Lora"/>
              <a:buNone/>
            </a:pPr>
            <a:r>
              <a:rPr b="1" i="1" lang="en-US" sz="25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cattle of the Sun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12395150" y="3354586"/>
            <a:ext cx="501528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FATAL TEMPTATION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12395150" y="3730823"/>
            <a:ext cx="469613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03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Doubly forewarned, oath-bound, storm-bound for a month with food gone — while Odysseus sleeps, Eurylochus argues that starving is the worst death of all. They slaughter. The hides crawl; the meat bellows on the spits.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12395150" y="6448723"/>
            <a:ext cx="455935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12395150" y="6610648"/>
            <a:ext cx="4696130" cy="673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1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Zeus's thunderbolt destroys ship and crew. Only Odysseus, who did not eat, survives.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990600" y="9534525"/>
            <a:ext cx="412191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Lesson 16 · Temptation &amp; appetite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4" name="Google Shape;364;p14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5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Reading the pattern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990600" y="3201219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990600" y="2254523"/>
            <a:ext cx="3562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Three different attacks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4572000" y="2292623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Lotus kills the desire for home; Circe dissolves the urgency of it; the cattle trade the future for a full belly today.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990600" y="4347939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990600" y="3401244"/>
            <a:ext cx="3562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Crew versus captain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4572000" y="3439344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crew fail collectively and fatally (lotus, the bag of winds, the cattle); Odysseus resists more — but his year with Circe shows the difference is discipline, not immunity.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990600" y="5494660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5"/>
          <p:cNvSpPr/>
          <p:nvPr/>
        </p:nvSpPr>
        <p:spPr>
          <a:xfrm>
            <a:off x="990600" y="4547964"/>
            <a:ext cx="3562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proem's verdict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4572000" y="4586064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Book 1 told us the ending in advance: the crew 'perished through their own recklessness', eating the cattle of the Sun. The Orestes paradigm again — warned, they persisted, and are responsible.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990600" y="6641381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990600" y="5694685"/>
            <a:ext cx="3562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But argue back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4572000" y="5732785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They were starving, exhausted, and led by a captain who kept secrets and slept at the worst moments. The poem invites judgement, not just condemnation — that tension is your essay material.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990600" y="6841406"/>
            <a:ext cx="3562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Link forward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4572000" y="6879506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Appetite is also how the suitors will be defined — gluttons devouring another man's house (to come). The theme runs to the poem's end.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990600" y="9534525"/>
            <a:ext cx="412191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16 · Temptation &amp; appetite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8" name="Google Shape;388;p15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6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6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990600" y="2100263"/>
            <a:ext cx="5232350" cy="4227537"/>
          </a:xfrm>
          <a:prstGeom prst="roundRect">
            <a:avLst>
              <a:gd fmla="val 360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6"/>
          <p:cNvSpPr/>
          <p:nvPr/>
        </p:nvSpPr>
        <p:spPr>
          <a:xfrm>
            <a:off x="1343025" y="2414588"/>
            <a:ext cx="1152227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6"/>
          <p:cNvSpPr/>
          <p:nvPr/>
        </p:nvSpPr>
        <p:spPr>
          <a:xfrm>
            <a:off x="1476375" y="2471738"/>
            <a:ext cx="961727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1343025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Lotus-eaters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1343025" y="3428479"/>
            <a:ext cx="4663325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gentlest danger in the poem: eat, forget, stay. Nostos is desire — kill the wanting and the journey dies.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1343025" y="5188669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6"/>
          <p:cNvSpPr/>
          <p:nvPr/>
        </p:nvSpPr>
        <p:spPr>
          <a:xfrm>
            <a:off x="1343025" y="5350594"/>
            <a:ext cx="4663325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Odysseus drags the weepers back by force and ties them under the benches.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6527750" y="2100263"/>
            <a:ext cx="5232425" cy="4227537"/>
          </a:xfrm>
          <a:prstGeom prst="roundRect">
            <a:avLst>
              <a:gd fmla="val 360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6"/>
          <p:cNvSpPr/>
          <p:nvPr/>
        </p:nvSpPr>
        <p:spPr>
          <a:xfrm>
            <a:off x="6880175" y="2414588"/>
            <a:ext cx="1265709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7013525" y="2471738"/>
            <a:ext cx="1075209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6880175" y="2933700"/>
            <a:ext cx="4980332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Circe's island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6880175" y="3428479"/>
            <a:ext cx="4663402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potion makes appetite literal — men into pigs, minds intact; moly and Hermes' instructions save Odysseus.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6880175" y="4857229"/>
            <a:ext cx="4527575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6"/>
          <p:cNvSpPr/>
          <p:nvPr/>
        </p:nvSpPr>
        <p:spPr>
          <a:xfrm>
            <a:off x="6880175" y="5019154"/>
            <a:ext cx="4663402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Then the captain's own lapse: a year of feasting until the crew remind him of home.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12064975" y="2100263"/>
            <a:ext cx="5232350" cy="4227537"/>
          </a:xfrm>
          <a:prstGeom prst="roundRect">
            <a:avLst>
              <a:gd fmla="val 360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6"/>
          <p:cNvSpPr/>
          <p:nvPr/>
        </p:nvSpPr>
        <p:spPr>
          <a:xfrm>
            <a:off x="12417400" y="2414588"/>
            <a:ext cx="1257226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6"/>
          <p:cNvSpPr/>
          <p:nvPr/>
        </p:nvSpPr>
        <p:spPr>
          <a:xfrm>
            <a:off x="12550750" y="2471738"/>
            <a:ext cx="1066726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12417400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Sun's cattle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12417400" y="3428479"/>
            <a:ext cx="4663325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Twice-warned, oath-bound — and broken while Odysseus sleeps; Eurylochus: better drown full than starve.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12417400" y="4857229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6"/>
          <p:cNvSpPr/>
          <p:nvPr/>
        </p:nvSpPr>
        <p:spPr>
          <a:xfrm>
            <a:off x="12417400" y="5019154"/>
            <a:ext cx="4663325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Crawling hides, bellowing meat; Zeus's bolt kills all who ate. The proem blamed 'their own recklessness'.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990600" y="9534525"/>
            <a:ext cx="412191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16 · Temptation &amp; appetite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9" name="Google Shape;419;p16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7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990600" y="2115071"/>
            <a:ext cx="6134100" cy="3091755"/>
          </a:xfrm>
          <a:prstGeom prst="roundRect">
            <a:avLst>
              <a:gd fmla="val 4929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7"/>
          <p:cNvSpPr/>
          <p:nvPr/>
        </p:nvSpPr>
        <p:spPr>
          <a:xfrm>
            <a:off x="1390650" y="2457971"/>
            <a:ext cx="5867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1390650" y="3880024"/>
            <a:ext cx="53340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7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1758628" y="3019946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Explain all three temptations with concrete detail.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1390650" y="4032424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1758628" y="4003849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Contrast how crew and captain fail and resist.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7543800" y="3176067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7"/>
          <p:cNvSpPr/>
          <p:nvPr/>
        </p:nvSpPr>
        <p:spPr>
          <a:xfrm>
            <a:off x="7543800" y="2348433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EXPLAIN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9544050" y="2286521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For each temptation, name what appetite it targets and how it threatens nostos differently.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7543800" y="4246587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7"/>
          <p:cNvSpPr/>
          <p:nvPr/>
        </p:nvSpPr>
        <p:spPr>
          <a:xfrm>
            <a:off x="7543800" y="3418954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CONTRAST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9544050" y="3357042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Chart crew vs captain across the three — who fails, who resists, and why.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7543800" y="5317108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7"/>
          <p:cNvSpPr/>
          <p:nvPr/>
        </p:nvSpPr>
        <p:spPr>
          <a:xfrm>
            <a:off x="7543800" y="4489475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ARGUE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9544050" y="4427562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Does the year with Circe undermine Odysseus's claim to self-mastery?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7543800" y="5559996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7"/>
          <p:cNvSpPr/>
          <p:nvPr/>
        </p:nvSpPr>
        <p:spPr>
          <a:xfrm>
            <a:off x="9544050" y="5498083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'The crew deserve their fate.'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 do you agree, using Books 9–12?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7"/>
          <p:cNvSpPr/>
          <p:nvPr/>
        </p:nvSpPr>
        <p:spPr>
          <a:xfrm>
            <a:off x="990600" y="9534525"/>
            <a:ext cx="412191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16 · Temptation &amp; appetite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7" name="Google Shape;447;p17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4" name="Google Shape;4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8"/>
          <p:cNvSpPr/>
          <p:nvPr/>
        </p:nvSpPr>
        <p:spPr>
          <a:xfrm>
            <a:off x="1524000" y="666750"/>
            <a:ext cx="813389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3 · THE WANDERINGS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15784413" y="609600"/>
            <a:ext cx="1055787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17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1524000" y="3175248"/>
            <a:ext cx="173836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17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3351981" y="3303836"/>
            <a:ext cx="1593205" cy="357188"/>
          </a:xfrm>
          <a:prstGeom prst="roundRect">
            <a:avLst>
              <a:gd fmla="val 16000" name="adj"/>
            </a:avLst>
          </a:prstGeom>
          <a:solidFill>
            <a:srgbClr val="5EC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8"/>
          <p:cNvSpPr/>
          <p:nvPr/>
        </p:nvSpPr>
        <p:spPr>
          <a:xfrm>
            <a:off x="3504381" y="3360986"/>
            <a:ext cx="136460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NEW IDEA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1524000" y="3756273"/>
            <a:ext cx="16764000" cy="13010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964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0"/>
              <a:buFont typeface="Lora"/>
              <a:buNone/>
            </a:pPr>
            <a:r>
              <a:rPr b="1" i="1" lang="en-US" sz="97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Leadership </a:t>
            </a:r>
            <a:r>
              <a:rPr b="0" i="1" lang="en-US" sz="97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&amp; the crew</a:t>
            </a:r>
            <a:endParaRPr b="0" i="0" sz="9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1524000" y="5628829"/>
            <a:ext cx="14859000" cy="9525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8"/>
          <p:cNvSpPr/>
          <p:nvPr/>
        </p:nvSpPr>
        <p:spPr>
          <a:xfrm>
            <a:off x="1524000" y="5981254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1524000" y="6338441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Evaluate Odysseus as a leader of men across the wanderings.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9334500" y="5981254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9334500" y="6338441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Cite specific decisions that save or doom the crew; weigh his share of the blame for losing all twelve ships.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6" name="Google Shape;466;p18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9"/>
          <p:cNvSpPr/>
          <p:nvPr/>
        </p:nvSpPr>
        <p:spPr>
          <a:xfrm>
            <a:off x="990600" y="666750"/>
            <a:ext cx="212310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CONCEPT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9"/>
          <p:cNvSpPr/>
          <p:nvPr/>
        </p:nvSpPr>
        <p:spPr>
          <a:xfrm>
            <a:off x="3208958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9"/>
          <p:cNvSpPr/>
          <p:nvPr/>
        </p:nvSpPr>
        <p:spPr>
          <a:xfrm>
            <a:off x="990600" y="1233488"/>
            <a:ext cx="6671310" cy="12900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66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What a Homeric leader owes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9"/>
          <p:cNvSpPr/>
          <p:nvPr/>
        </p:nvSpPr>
        <p:spPr>
          <a:xfrm>
            <a:off x="990600" y="2904530"/>
            <a:ext cx="1214214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07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9750"/>
              <a:buFont typeface="Lora"/>
              <a:buNone/>
            </a:pPr>
            <a:r>
              <a:rPr b="1" i="1" lang="en-US" sz="97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12</a:t>
            </a:r>
            <a:endParaRPr b="0" i="0" sz="9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2304789" y="3436905"/>
            <a:ext cx="4460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2550"/>
              <a:buFont typeface="Lora"/>
              <a:buNone/>
            </a:pPr>
            <a:r>
              <a:rPr b="0" i="1" lang="en-US" sz="255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ships and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990600" y="5804380"/>
            <a:ext cx="567900" cy="12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078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750"/>
              <a:buFont typeface="Lora"/>
              <a:buNone/>
            </a:pPr>
            <a:r>
              <a:rPr b="1" i="1" lang="en-US" sz="9750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b="0" i="0" sz="9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9"/>
          <p:cNvSpPr/>
          <p:nvPr/>
        </p:nvSpPr>
        <p:spPr>
          <a:xfrm>
            <a:off x="1692979" y="6340342"/>
            <a:ext cx="3138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2550"/>
              <a:buFont typeface="Lora"/>
              <a:buNone/>
            </a:pPr>
            <a:r>
              <a:rPr b="0" i="1" lang="en-US" sz="255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man reaches Ithaca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990600" y="7584655"/>
            <a:ext cx="66714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Any assessment of Odysseus as a leader starts from that number.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8324850" y="4713908"/>
            <a:ext cx="897255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9"/>
          <p:cNvSpPr/>
          <p:nvPr/>
        </p:nvSpPr>
        <p:spPr>
          <a:xfrm>
            <a:off x="8324850" y="3093839"/>
            <a:ext cx="986980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WHAT THE LEADER OWES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8324850" y="3427214"/>
            <a:ext cx="9241727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Protection and forethought; a fair share of spoils and food; openness in counsel; and, above all, bringing them home — the leader's nostos includes his men's.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8324850" y="6194003"/>
            <a:ext cx="897255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9"/>
          <p:cNvSpPr/>
          <p:nvPr/>
        </p:nvSpPr>
        <p:spPr>
          <a:xfrm>
            <a:off x="8324850" y="4932983"/>
            <a:ext cx="986980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WHAT THE MEN OWE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8324850" y="5266358"/>
            <a:ext cx="9241727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Obedience — and their disobedience will matter. But responsibility in this poem is never all one way (remember Zeus on Aegisthus, Book 1).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8324850" y="6413078"/>
            <a:ext cx="986980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YOUR JOB THIS LESSON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8324850" y="6746453"/>
            <a:ext cx="9241727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 ledger: decisions that saved lives on one side, failures that cost them on the other — then a judgement.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990600" y="9534525"/>
            <a:ext cx="406960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17 · Leadership &amp; the crew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9" name="Google Shape;489;p19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9"/>
          <p:cNvSpPr/>
          <p:nvPr/>
        </p:nvSpPr>
        <p:spPr>
          <a:xfrm>
            <a:off x="990600" y="4354375"/>
            <a:ext cx="2331600" cy="12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07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9750"/>
              <a:buFont typeface="Lora"/>
              <a:buNone/>
            </a:pPr>
            <a:r>
              <a:rPr b="1" i="1" lang="en-US" sz="9750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600</a:t>
            </a:r>
            <a:endParaRPr b="0" i="0" sz="9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3465500" y="4917300"/>
            <a:ext cx="3300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2550"/>
              <a:buFont typeface="Lora"/>
              <a:buNone/>
            </a:pPr>
            <a:r>
              <a:rPr i="1" lang="en-US" sz="2550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men leave Troy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0"/>
          <p:cNvSpPr/>
          <p:nvPr/>
        </p:nvSpPr>
        <p:spPr>
          <a:xfrm>
            <a:off x="990600" y="609600"/>
            <a:ext cx="219134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EVIDENCE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0"/>
          <p:cNvSpPr/>
          <p:nvPr/>
        </p:nvSpPr>
        <p:spPr>
          <a:xfrm>
            <a:off x="3277195" y="74056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0"/>
          <p:cNvSpPr/>
          <p:nvPr/>
        </p:nvSpPr>
        <p:spPr>
          <a:xfrm>
            <a:off x="990600" y="1042988"/>
            <a:ext cx="17937480" cy="6181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745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350"/>
              <a:buFont typeface="Lora"/>
              <a:buNone/>
            </a:pPr>
            <a:r>
              <a:rPr b="1" i="1" lang="en-US" sz="43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leadership ledger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0"/>
          <p:cNvSpPr/>
          <p:nvPr/>
        </p:nvSpPr>
        <p:spPr>
          <a:xfrm>
            <a:off x="990600" y="1870695"/>
            <a:ext cx="7981950" cy="7511430"/>
          </a:xfrm>
          <a:prstGeom prst="roundRect">
            <a:avLst>
              <a:gd fmla="val 2029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0"/>
          <p:cNvSpPr/>
          <p:nvPr/>
        </p:nvSpPr>
        <p:spPr>
          <a:xfrm>
            <a:off x="1323975" y="2108820"/>
            <a:ext cx="804672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DECISIONS THAT SAVE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0"/>
          <p:cNvSpPr/>
          <p:nvPr/>
        </p:nvSpPr>
        <p:spPr>
          <a:xfrm>
            <a:off x="1323975" y="3237235"/>
            <a:ext cx="731520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0"/>
          <p:cNvSpPr/>
          <p:nvPr/>
        </p:nvSpPr>
        <p:spPr>
          <a:xfrm>
            <a:off x="1323975" y="2537445"/>
            <a:ext cx="7534656" cy="6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Foresight: </a:t>
            </a:r>
            <a:r>
              <a:rPr b="0" i="0" lang="en-US" sz="17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carries Maron's wine to the cave — the tool that makes escape possible (Bk 9).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0"/>
          <p:cNvSpPr/>
          <p:nvPr/>
        </p:nvSpPr>
        <p:spPr>
          <a:xfrm>
            <a:off x="1323975" y="4041800"/>
            <a:ext cx="731520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0"/>
          <p:cNvSpPr/>
          <p:nvPr/>
        </p:nvSpPr>
        <p:spPr>
          <a:xfrm>
            <a:off x="1323975" y="3342010"/>
            <a:ext cx="7534656" cy="6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The Nobody plan: </a:t>
            </a:r>
            <a:r>
              <a:rPr b="0" i="0" lang="en-US" sz="17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weapon, wine, name, exit — twelve trapped, six brought out alive (Bk 9).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0"/>
          <p:cNvSpPr/>
          <p:nvPr/>
        </p:nvSpPr>
        <p:spPr>
          <a:xfrm>
            <a:off x="1323975" y="4846365"/>
            <a:ext cx="731520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0"/>
          <p:cNvSpPr/>
          <p:nvPr/>
        </p:nvSpPr>
        <p:spPr>
          <a:xfrm>
            <a:off x="1323975" y="4146575"/>
            <a:ext cx="7534656" cy="6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Laestrygonian caution: </a:t>
            </a:r>
            <a:r>
              <a:rPr b="0" i="0" lang="en-US" sz="17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alone moors outside the harbour — when the cannibals smash the fleet inside, only his ship survives (Bk 10).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0"/>
          <p:cNvSpPr/>
          <p:nvPr/>
        </p:nvSpPr>
        <p:spPr>
          <a:xfrm>
            <a:off x="1323975" y="5650929"/>
            <a:ext cx="731520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0"/>
          <p:cNvSpPr/>
          <p:nvPr/>
        </p:nvSpPr>
        <p:spPr>
          <a:xfrm>
            <a:off x="1323975" y="4951140"/>
            <a:ext cx="7534656" cy="6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The rescue on Aiaia: </a:t>
            </a:r>
            <a:r>
              <a:rPr b="0" i="0" lang="en-US" sz="17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goes back alone for the pig-men, forces Circe's oath at sword-point, and frees them (Bk 10).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0"/>
          <p:cNvSpPr/>
          <p:nvPr/>
        </p:nvSpPr>
        <p:spPr>
          <a:xfrm>
            <a:off x="1323975" y="6455494"/>
            <a:ext cx="731520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0"/>
          <p:cNvSpPr/>
          <p:nvPr/>
        </p:nvSpPr>
        <p:spPr>
          <a:xfrm>
            <a:off x="1323975" y="5755704"/>
            <a:ext cx="7534656" cy="6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The Sirens: </a:t>
            </a:r>
            <a:r>
              <a:rPr b="0" i="0" lang="en-US" sz="17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wax for the crew's ears, ropes for himself — the knowledge gained, no one lost (Bk 12).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0"/>
          <p:cNvSpPr/>
          <p:nvPr/>
        </p:nvSpPr>
        <p:spPr>
          <a:xfrm>
            <a:off x="1323975" y="6560269"/>
            <a:ext cx="7534656" cy="6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Scylla's arithmetic: </a:t>
            </a:r>
            <a:r>
              <a:rPr b="0" i="0" lang="en-US" sz="17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following Circe, he hugs Scylla's rock — six men lost rather than the whole ship to Charybdis (Bk 12).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0"/>
          <p:cNvSpPr/>
          <p:nvPr/>
        </p:nvSpPr>
        <p:spPr>
          <a:xfrm>
            <a:off x="9315450" y="1870695"/>
            <a:ext cx="7981950" cy="7511430"/>
          </a:xfrm>
          <a:prstGeom prst="roundRect">
            <a:avLst>
              <a:gd fmla="val 2029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0"/>
          <p:cNvSpPr/>
          <p:nvPr/>
        </p:nvSpPr>
        <p:spPr>
          <a:xfrm>
            <a:off x="9648825" y="2108820"/>
            <a:ext cx="804672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FAILURES THAT DOOM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0"/>
          <p:cNvSpPr/>
          <p:nvPr/>
        </p:nvSpPr>
        <p:spPr>
          <a:xfrm>
            <a:off x="9648825" y="3218185"/>
            <a:ext cx="731520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0"/>
          <p:cNvSpPr/>
          <p:nvPr/>
        </p:nvSpPr>
        <p:spPr>
          <a:xfrm>
            <a:off x="9648825" y="2527920"/>
            <a:ext cx="7534656" cy="6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The Cicones: </a:t>
            </a:r>
            <a:r>
              <a:rPr b="0" i="0" lang="en-US" sz="17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after sacking Ismarus he cannot make the men leave; the counter-attack kills six per ship (Bk 9).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0"/>
          <p:cNvSpPr/>
          <p:nvPr/>
        </p:nvSpPr>
        <p:spPr>
          <a:xfrm>
            <a:off x="9648825" y="4003700"/>
            <a:ext cx="731520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0"/>
          <p:cNvSpPr/>
          <p:nvPr/>
        </p:nvSpPr>
        <p:spPr>
          <a:xfrm>
            <a:off x="9648825" y="3313435"/>
            <a:ext cx="7534656" cy="6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The cave: </a:t>
            </a:r>
            <a:r>
              <a:rPr b="0" i="0" lang="en-US" sz="17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insists on waiting for the owner, greedy for a guest-gift — six men eaten (Bk 9).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9648825" y="4789215"/>
            <a:ext cx="731520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0"/>
          <p:cNvSpPr/>
          <p:nvPr/>
        </p:nvSpPr>
        <p:spPr>
          <a:xfrm>
            <a:off x="9648825" y="4098950"/>
            <a:ext cx="7534656" cy="6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The boast: </a:t>
            </a:r>
            <a:r>
              <a:rPr b="0" i="0" lang="en-US" sz="17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naming himself buys Poseidon's curse — the crew begged him to stop (Bk 9).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0"/>
          <p:cNvSpPr/>
          <p:nvPr/>
        </p:nvSpPr>
        <p:spPr>
          <a:xfrm>
            <a:off x="9648825" y="5876999"/>
            <a:ext cx="731520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0"/>
          <p:cNvSpPr/>
          <p:nvPr/>
        </p:nvSpPr>
        <p:spPr>
          <a:xfrm>
            <a:off x="9648825" y="4884465"/>
            <a:ext cx="7534656" cy="9449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The bag of winds: </a:t>
            </a:r>
            <a:r>
              <a:rPr b="0" i="0" lang="en-US" sz="17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nine days steering alone, then sleep in sight of Ithaca; he told no one what the bag held — the crew, suspecting treasure, open it (Bk 10).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0"/>
          <p:cNvSpPr/>
          <p:nvPr/>
        </p:nvSpPr>
        <p:spPr>
          <a:xfrm>
            <a:off x="9648825" y="6662514"/>
            <a:ext cx="731520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0"/>
          <p:cNvSpPr/>
          <p:nvPr/>
        </p:nvSpPr>
        <p:spPr>
          <a:xfrm>
            <a:off x="9648825" y="5972249"/>
            <a:ext cx="7534656" cy="6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Circe's year: </a:t>
            </a:r>
            <a:r>
              <a:rPr b="0" i="0" lang="en-US" sz="17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captain himself forgets the mission until his men remind him (Bk 10).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0"/>
          <p:cNvSpPr/>
          <p:nvPr/>
        </p:nvSpPr>
        <p:spPr>
          <a:xfrm>
            <a:off x="9648825" y="7750299"/>
            <a:ext cx="731520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0"/>
          <p:cNvSpPr/>
          <p:nvPr/>
        </p:nvSpPr>
        <p:spPr>
          <a:xfrm>
            <a:off x="9648825" y="6757764"/>
            <a:ext cx="7534656" cy="9449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Scylla again: </a:t>
            </a:r>
            <a:r>
              <a:rPr b="0" i="0" lang="en-US" sz="17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keeps Circe's warning secret and arms himself against orders — the six taken while he stands futile in his armour (Bk 12).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0"/>
          <p:cNvSpPr/>
          <p:nvPr/>
        </p:nvSpPr>
        <p:spPr>
          <a:xfrm>
            <a:off x="9648825" y="7845549"/>
            <a:ext cx="7534656" cy="6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Thrinacia: </a:t>
            </a:r>
            <a:r>
              <a:rPr b="0" i="0" lang="en-US" sz="17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overruled by Eurylochus ('I was one man alone'), he lands, then sleeps at the fatal moment (Bk 12).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/>
          <p:nvPr/>
        </p:nvSpPr>
        <p:spPr>
          <a:xfrm>
            <a:off x="990600" y="9572625"/>
            <a:ext cx="406960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17 · Leadership &amp; the crew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9" name="Google Shape;529;p20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869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1"/>
          <p:cNvSpPr/>
          <p:nvPr/>
        </p:nvSpPr>
        <p:spPr>
          <a:xfrm>
            <a:off x="990600" y="666750"/>
            <a:ext cx="149832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DETAIL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1"/>
          <p:cNvSpPr/>
          <p:nvPr/>
        </p:nvSpPr>
        <p:spPr>
          <a:xfrm>
            <a:off x="2584177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1"/>
          <p:cNvSpPr/>
          <p:nvPr/>
        </p:nvSpPr>
        <p:spPr>
          <a:xfrm>
            <a:off x="990600" y="1138238"/>
            <a:ext cx="17937480" cy="6522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0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Eurylochus — the voice against the captain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1"/>
          <p:cNvSpPr/>
          <p:nvPr/>
        </p:nvSpPr>
        <p:spPr>
          <a:xfrm>
            <a:off x="990600" y="1923827"/>
            <a:ext cx="14716125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4A5070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4A5070"/>
                </a:solidFill>
                <a:latin typeface="Inter"/>
                <a:ea typeface="Inter"/>
                <a:cs typeface="Inter"/>
                <a:sym typeface="Inter"/>
              </a:rPr>
              <a:t>Every leader needs an opposition, and Odysseus's is his kinsman Eurylochus — study him as the crew's case against the captain.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1"/>
          <p:cNvSpPr/>
          <p:nvPr/>
        </p:nvSpPr>
        <p:spPr>
          <a:xfrm>
            <a:off x="990600" y="4127822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1"/>
          <p:cNvSpPr/>
          <p:nvPr/>
        </p:nvSpPr>
        <p:spPr>
          <a:xfrm>
            <a:off x="990600" y="3152552"/>
            <a:ext cx="35623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On Aiaia (Bk 10)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1"/>
          <p:cNvSpPr/>
          <p:nvPr/>
        </p:nvSpPr>
        <p:spPr>
          <a:xfrm>
            <a:off x="4572000" y="3200177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alone smells the trap, waits outside Circe's door, and refuses to go back — openly reminding everyone whose 'recklessness' lost the men in the Cyclops's cave. The charge is fair, and it stings.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1"/>
          <p:cNvSpPr/>
          <p:nvPr/>
        </p:nvSpPr>
        <p:spPr>
          <a:xfrm>
            <a:off x="990600" y="5322168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1"/>
          <p:cNvSpPr/>
          <p:nvPr/>
        </p:nvSpPr>
        <p:spPr>
          <a:xfrm>
            <a:off x="990600" y="4346897"/>
            <a:ext cx="35623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Off Thrinacia (Bk 12)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1"/>
          <p:cNvSpPr/>
          <p:nvPr/>
        </p:nvSpPr>
        <p:spPr>
          <a:xfrm>
            <a:off x="4572000" y="4394522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leads the mutiny: the men are exhausted, night sailing is deadly, they will land. Odysseus yields — 'I was one man alone' — extracting only an oath.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1"/>
          <p:cNvSpPr/>
          <p:nvPr/>
        </p:nvSpPr>
        <p:spPr>
          <a:xfrm>
            <a:off x="990600" y="5541243"/>
            <a:ext cx="35623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In the famine (Bk 12)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1"/>
          <p:cNvSpPr/>
          <p:nvPr/>
        </p:nvSpPr>
        <p:spPr>
          <a:xfrm>
            <a:off x="4572000" y="5588868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It is Eurylochus who breaks them: better to die at sea with full bellies than waste slowly by starvation. Persuasive, human — and fatal.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1"/>
          <p:cNvSpPr/>
          <p:nvPr/>
        </p:nvSpPr>
        <p:spPr>
          <a:xfrm>
            <a:off x="990600" y="6802264"/>
            <a:ext cx="16306800" cy="1203871"/>
          </a:xfrm>
          <a:prstGeom prst="roundRect">
            <a:avLst>
              <a:gd fmla="val 11077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1"/>
          <p:cNvSpPr/>
          <p:nvPr/>
        </p:nvSpPr>
        <p:spPr>
          <a:xfrm>
            <a:off x="1371600" y="7116589"/>
            <a:ext cx="2126196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THE QUESTION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1"/>
          <p:cNvSpPr/>
          <p:nvPr/>
        </p:nvSpPr>
        <p:spPr>
          <a:xfrm>
            <a:off x="3609305" y="7030864"/>
            <a:ext cx="13706308" cy="784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04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ora"/>
              <a:buNone/>
            </a:pPr>
            <a:r>
              <a:rPr b="0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Coward and corrupter, or the reasonable voice of men whose captain gets them killed? The poem lets you argue either — which is exactly why the examiners love him.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1"/>
          <p:cNvSpPr/>
          <p:nvPr/>
        </p:nvSpPr>
        <p:spPr>
          <a:xfrm>
            <a:off x="990600" y="9534525"/>
            <a:ext cx="406960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17 · Leadership &amp; the crew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1" name="Google Shape;551;p21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2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2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2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verdict — weighing the blame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2"/>
          <p:cNvSpPr/>
          <p:nvPr/>
        </p:nvSpPr>
        <p:spPr>
          <a:xfrm>
            <a:off x="990600" y="1910655"/>
            <a:ext cx="1471612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4A5070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4A5070"/>
                </a:solidFill>
                <a:latin typeface="Inter"/>
                <a:ea typeface="Inter"/>
                <a:cs typeface="Inter"/>
                <a:sym typeface="Inter"/>
              </a:rPr>
              <a:t>The poem's official line comes first, in the proem (Book 1): he 'strove to win his own life and the return of his comrades', but they perished 'through their own recklessness'.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2"/>
          <p:cNvSpPr/>
          <p:nvPr/>
        </p:nvSpPr>
        <p:spPr>
          <a:xfrm>
            <a:off x="990600" y="2920305"/>
            <a:ext cx="7962900" cy="3724275"/>
          </a:xfrm>
          <a:prstGeom prst="roundRect">
            <a:avLst>
              <a:gd fmla="val 4092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2"/>
          <p:cNvSpPr/>
          <p:nvPr/>
        </p:nvSpPr>
        <p:spPr>
          <a:xfrm>
            <a:off x="1381125" y="3215580"/>
            <a:ext cx="790003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DEFENCE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2"/>
          <p:cNvSpPr/>
          <p:nvPr/>
        </p:nvSpPr>
        <p:spPr>
          <a:xfrm>
            <a:off x="1381125" y="4520505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2"/>
          <p:cNvSpPr/>
          <p:nvPr/>
        </p:nvSpPr>
        <p:spPr>
          <a:xfrm>
            <a:off x="1381125" y="3729930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repeatedly risks himself for them — the pig-rescue, going last under the rams.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2"/>
          <p:cNvSpPr/>
          <p:nvPr/>
        </p:nvSpPr>
        <p:spPr>
          <a:xfrm>
            <a:off x="1381125" y="5434905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2"/>
          <p:cNvSpPr/>
          <p:nvPr/>
        </p:nvSpPr>
        <p:spPr>
          <a:xfrm>
            <a:off x="1381125" y="4644330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His plans save everyone they can — the Sirens, Scylla's arithmetic, the Laestrygonian mooring.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2"/>
          <p:cNvSpPr/>
          <p:nvPr/>
        </p:nvSpPr>
        <p:spPr>
          <a:xfrm>
            <a:off x="1381125" y="5558730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final catastrophe happens against his orders, under oath, while he sleeps.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2"/>
          <p:cNvSpPr/>
          <p:nvPr/>
        </p:nvSpPr>
        <p:spPr>
          <a:xfrm>
            <a:off x="9334500" y="2920305"/>
            <a:ext cx="7962900" cy="3724275"/>
          </a:xfrm>
          <a:prstGeom prst="roundRect">
            <a:avLst>
              <a:gd fmla="val 4092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2"/>
          <p:cNvSpPr/>
          <p:nvPr/>
        </p:nvSpPr>
        <p:spPr>
          <a:xfrm>
            <a:off x="9725025" y="3215580"/>
            <a:ext cx="790003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THE PROSECUTION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2"/>
          <p:cNvSpPr/>
          <p:nvPr/>
        </p:nvSpPr>
        <p:spPr>
          <a:xfrm>
            <a:off x="9725025" y="4520505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2"/>
          <p:cNvSpPr/>
          <p:nvPr/>
        </p:nvSpPr>
        <p:spPr>
          <a:xfrm>
            <a:off x="9725025" y="3729930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guest-gift greed, the boast, the secrecies (the bag, Scylla), the year of forgetting.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2"/>
          <p:cNvSpPr/>
          <p:nvPr/>
        </p:nvSpPr>
        <p:spPr>
          <a:xfrm>
            <a:off x="9725025" y="5434905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2"/>
          <p:cNvSpPr/>
          <p:nvPr/>
        </p:nvSpPr>
        <p:spPr>
          <a:xfrm>
            <a:off x="9725025" y="4644330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pattern of sleeping at every crisis — the bag of winds, Thrinacia.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2"/>
          <p:cNvSpPr/>
          <p:nvPr/>
        </p:nvSpPr>
        <p:spPr>
          <a:xfrm>
            <a:off x="9725025" y="5558730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Poseidon's curse — 'all comrades lost' — was earned by his vanity.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2"/>
          <p:cNvSpPr/>
          <p:nvPr/>
        </p:nvSpPr>
        <p:spPr>
          <a:xfrm>
            <a:off x="990600" y="6911280"/>
            <a:ext cx="16306800" cy="1552649"/>
          </a:xfrm>
          <a:prstGeom prst="roundRect">
            <a:avLst>
              <a:gd fmla="val 8589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2"/>
          <p:cNvSpPr/>
          <p:nvPr/>
        </p:nvSpPr>
        <p:spPr>
          <a:xfrm>
            <a:off x="1371600" y="7216080"/>
            <a:ext cx="184592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THE NUANCE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2"/>
          <p:cNvSpPr/>
          <p:nvPr/>
        </p:nvSpPr>
        <p:spPr>
          <a:xfrm>
            <a:off x="3354512" y="7139880"/>
            <a:ext cx="13968745" cy="11335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113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Lora"/>
              <a:buNone/>
            </a:pPr>
            <a:r>
              <a:rPr b="0" i="1" lang="en-US" sz="2025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This whole account is Odysseus's own — the incriminating details are, tellingly, ones he confesses himself. A strong essay holds both: the crew author their final ruin, and the captain's flaws set the stage. Responsibility is shared — argue the proportions.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2"/>
          <p:cNvSpPr/>
          <p:nvPr/>
        </p:nvSpPr>
        <p:spPr>
          <a:xfrm>
            <a:off x="990600" y="9534525"/>
            <a:ext cx="406960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17 · Leadership &amp; the crew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9" name="Google Shape;579;p22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3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3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3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3"/>
          <p:cNvSpPr/>
          <p:nvPr/>
        </p:nvSpPr>
        <p:spPr>
          <a:xfrm>
            <a:off x="990600" y="2100263"/>
            <a:ext cx="5232350" cy="4227537"/>
          </a:xfrm>
          <a:prstGeom prst="roundRect">
            <a:avLst>
              <a:gd fmla="val 360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3"/>
          <p:cNvSpPr/>
          <p:nvPr/>
        </p:nvSpPr>
        <p:spPr>
          <a:xfrm>
            <a:off x="1343025" y="2414588"/>
            <a:ext cx="1679153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3"/>
          <p:cNvSpPr/>
          <p:nvPr/>
        </p:nvSpPr>
        <p:spPr>
          <a:xfrm>
            <a:off x="1476375" y="2471738"/>
            <a:ext cx="1488653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9–12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3"/>
          <p:cNvSpPr/>
          <p:nvPr/>
        </p:nvSpPr>
        <p:spPr>
          <a:xfrm>
            <a:off x="1343025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ledger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3"/>
          <p:cNvSpPr/>
          <p:nvPr/>
        </p:nvSpPr>
        <p:spPr>
          <a:xfrm>
            <a:off x="1343025" y="3428479"/>
            <a:ext cx="4663325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Saves: Maron's wine; the Nobody plan; mooring outside the Laestrygonian harbour; the pig-rescue; wax and ropes; Scylla's arithmetic.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3"/>
          <p:cNvSpPr/>
          <p:nvPr/>
        </p:nvSpPr>
        <p:spPr>
          <a:xfrm>
            <a:off x="1343025" y="4857229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3"/>
          <p:cNvSpPr/>
          <p:nvPr/>
        </p:nvSpPr>
        <p:spPr>
          <a:xfrm>
            <a:off x="1343025" y="5019154"/>
            <a:ext cx="4663325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Dooms: Cicones delay; guest-gift greed; the boast; the secret bag + sleep; Circe's year; Scylla secrecy; Thrinacia sleep.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3"/>
          <p:cNvSpPr/>
          <p:nvPr/>
        </p:nvSpPr>
        <p:spPr>
          <a:xfrm>
            <a:off x="6527750" y="2100263"/>
            <a:ext cx="5232425" cy="4227537"/>
          </a:xfrm>
          <a:prstGeom prst="roundRect">
            <a:avLst>
              <a:gd fmla="val 360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3"/>
          <p:cNvSpPr/>
          <p:nvPr/>
        </p:nvSpPr>
        <p:spPr>
          <a:xfrm>
            <a:off x="6880175" y="2414588"/>
            <a:ext cx="1792635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3"/>
          <p:cNvSpPr/>
          <p:nvPr/>
        </p:nvSpPr>
        <p:spPr>
          <a:xfrm>
            <a:off x="7013525" y="2471738"/>
            <a:ext cx="1602135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10–12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3"/>
          <p:cNvSpPr/>
          <p:nvPr/>
        </p:nvSpPr>
        <p:spPr>
          <a:xfrm>
            <a:off x="6880175" y="2933700"/>
            <a:ext cx="4980332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Eurylochus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3"/>
          <p:cNvSpPr/>
          <p:nvPr/>
        </p:nvSpPr>
        <p:spPr>
          <a:xfrm>
            <a:off x="6880175" y="3428479"/>
            <a:ext cx="4663402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opposition voice: right about Circe's trap, blunt about the cave, leader of the Thrinacia mutiny, breaker of the famine.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3"/>
          <p:cNvSpPr/>
          <p:nvPr/>
        </p:nvSpPr>
        <p:spPr>
          <a:xfrm>
            <a:off x="6880175" y="5188669"/>
            <a:ext cx="4527575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3"/>
          <p:cNvSpPr/>
          <p:nvPr/>
        </p:nvSpPr>
        <p:spPr>
          <a:xfrm>
            <a:off x="6880175" y="5350594"/>
            <a:ext cx="4663402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Coward or reasonable man? Both cases are arguable — learn his three scenes.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3"/>
          <p:cNvSpPr/>
          <p:nvPr/>
        </p:nvSpPr>
        <p:spPr>
          <a:xfrm>
            <a:off x="12064975" y="2100263"/>
            <a:ext cx="5232350" cy="4227537"/>
          </a:xfrm>
          <a:prstGeom prst="roundRect">
            <a:avLst>
              <a:gd fmla="val 360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3"/>
          <p:cNvSpPr/>
          <p:nvPr/>
        </p:nvSpPr>
        <p:spPr>
          <a:xfrm>
            <a:off x="12417400" y="2414588"/>
            <a:ext cx="1944216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3"/>
          <p:cNvSpPr/>
          <p:nvPr/>
        </p:nvSpPr>
        <p:spPr>
          <a:xfrm>
            <a:off x="12550750" y="2471738"/>
            <a:ext cx="1753716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1, 9–12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3"/>
          <p:cNvSpPr/>
          <p:nvPr/>
        </p:nvSpPr>
        <p:spPr>
          <a:xfrm>
            <a:off x="12417400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verdict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3"/>
          <p:cNvSpPr/>
          <p:nvPr/>
        </p:nvSpPr>
        <p:spPr>
          <a:xfrm>
            <a:off x="12417400" y="3428479"/>
            <a:ext cx="4663325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Proem: 'their own recklessness' — the crew author their end (the Orestes paradigm).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3"/>
          <p:cNvSpPr/>
          <p:nvPr/>
        </p:nvSpPr>
        <p:spPr>
          <a:xfrm>
            <a:off x="12417400" y="4857229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3"/>
          <p:cNvSpPr/>
          <p:nvPr/>
        </p:nvSpPr>
        <p:spPr>
          <a:xfrm>
            <a:off x="12417400" y="5019154"/>
            <a:ext cx="4663325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But the captain's vanity, secrecy and sleeping set the stage — and he is the one telling the story.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3"/>
          <p:cNvSpPr/>
          <p:nvPr/>
        </p:nvSpPr>
        <p:spPr>
          <a:xfrm>
            <a:off x="990600" y="9534525"/>
            <a:ext cx="406960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17 · Leadership &amp; the crew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0" name="Google Shape;610;p23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4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4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4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4"/>
          <p:cNvSpPr/>
          <p:nvPr/>
        </p:nvSpPr>
        <p:spPr>
          <a:xfrm>
            <a:off x="990600" y="2115071"/>
            <a:ext cx="6134100" cy="3091755"/>
          </a:xfrm>
          <a:prstGeom prst="roundRect">
            <a:avLst>
              <a:gd fmla="val 4929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4"/>
          <p:cNvSpPr/>
          <p:nvPr/>
        </p:nvSpPr>
        <p:spPr>
          <a:xfrm>
            <a:off x="1390650" y="2457971"/>
            <a:ext cx="5867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4"/>
          <p:cNvSpPr/>
          <p:nvPr/>
        </p:nvSpPr>
        <p:spPr>
          <a:xfrm>
            <a:off x="1390650" y="3880024"/>
            <a:ext cx="53340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4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4"/>
          <p:cNvSpPr/>
          <p:nvPr/>
        </p:nvSpPr>
        <p:spPr>
          <a:xfrm>
            <a:off x="1758628" y="3019946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Cite specific decisions on both sides of the ledger.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4"/>
          <p:cNvSpPr/>
          <p:nvPr/>
        </p:nvSpPr>
        <p:spPr>
          <a:xfrm>
            <a:off x="1390650" y="4032424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4"/>
          <p:cNvSpPr/>
          <p:nvPr/>
        </p:nvSpPr>
        <p:spPr>
          <a:xfrm>
            <a:off x="1758628" y="4003849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Argue a weighted judgement on the blame.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4"/>
          <p:cNvSpPr/>
          <p:nvPr/>
        </p:nvSpPr>
        <p:spPr>
          <a:xfrm>
            <a:off x="7543800" y="3176067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4"/>
          <p:cNvSpPr/>
          <p:nvPr/>
        </p:nvSpPr>
        <p:spPr>
          <a:xfrm>
            <a:off x="7543800" y="2348433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COMPILE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4"/>
          <p:cNvSpPr/>
          <p:nvPr/>
        </p:nvSpPr>
        <p:spPr>
          <a:xfrm>
            <a:off x="9544050" y="2286521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Your own two-column ledger — at least five entries per side, each with book reference.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4"/>
          <p:cNvSpPr/>
          <p:nvPr/>
        </p:nvSpPr>
        <p:spPr>
          <a:xfrm>
            <a:off x="7543800" y="3887539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4"/>
          <p:cNvSpPr/>
          <p:nvPr/>
        </p:nvSpPr>
        <p:spPr>
          <a:xfrm>
            <a:off x="7543800" y="3418954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ANALYSE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4"/>
          <p:cNvSpPr/>
          <p:nvPr/>
        </p:nvSpPr>
        <p:spPr>
          <a:xfrm>
            <a:off x="9544050" y="3357042"/>
            <a:ext cx="6897797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Eurylochus — make the case for him and against him.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4"/>
          <p:cNvSpPr/>
          <p:nvPr/>
        </p:nvSpPr>
        <p:spPr>
          <a:xfrm>
            <a:off x="7543800" y="4599012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4"/>
          <p:cNvSpPr/>
          <p:nvPr/>
        </p:nvSpPr>
        <p:spPr>
          <a:xfrm>
            <a:off x="7543800" y="4130427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EXPLAIN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4"/>
          <p:cNvSpPr/>
          <p:nvPr/>
        </p:nvSpPr>
        <p:spPr>
          <a:xfrm>
            <a:off x="9544050" y="4068514"/>
            <a:ext cx="8473105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does the proem's verdict (Book 1) frame the whole question?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4"/>
          <p:cNvSpPr/>
          <p:nvPr/>
        </p:nvSpPr>
        <p:spPr>
          <a:xfrm>
            <a:off x="7543800" y="4841900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4"/>
          <p:cNvSpPr/>
          <p:nvPr/>
        </p:nvSpPr>
        <p:spPr>
          <a:xfrm>
            <a:off x="9544050" y="4779987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'Odysseus is a great hero but a poor leader.'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 do you agree, using Books 9–12?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4"/>
          <p:cNvSpPr/>
          <p:nvPr/>
        </p:nvSpPr>
        <p:spPr>
          <a:xfrm>
            <a:off x="990600" y="9534525"/>
            <a:ext cx="406960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17 · Leadership &amp; the crew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8" name="Google Shape;638;p24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5" name="Google Shape;64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25"/>
          <p:cNvSpPr/>
          <p:nvPr/>
        </p:nvSpPr>
        <p:spPr>
          <a:xfrm>
            <a:off x="1524000" y="666750"/>
            <a:ext cx="813389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3 · THE WANDERINGS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5"/>
          <p:cNvSpPr/>
          <p:nvPr/>
        </p:nvSpPr>
        <p:spPr>
          <a:xfrm>
            <a:off x="15667806" y="609600"/>
            <a:ext cx="1172394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18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5"/>
          <p:cNvSpPr/>
          <p:nvPr/>
        </p:nvSpPr>
        <p:spPr>
          <a:xfrm>
            <a:off x="1524000" y="2637830"/>
            <a:ext cx="1783876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18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5"/>
          <p:cNvSpPr/>
          <p:nvPr/>
        </p:nvSpPr>
        <p:spPr>
          <a:xfrm>
            <a:off x="3393356" y="2766417"/>
            <a:ext cx="1593205" cy="357188"/>
          </a:xfrm>
          <a:prstGeom prst="roundRect">
            <a:avLst>
              <a:gd fmla="val 16000" name="adj"/>
            </a:avLst>
          </a:prstGeom>
          <a:solidFill>
            <a:srgbClr val="5EC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5"/>
          <p:cNvSpPr/>
          <p:nvPr/>
        </p:nvSpPr>
        <p:spPr>
          <a:xfrm>
            <a:off x="3545756" y="2823567"/>
            <a:ext cx="136460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NEW IDEA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5"/>
          <p:cNvSpPr/>
          <p:nvPr/>
        </p:nvSpPr>
        <p:spPr>
          <a:xfrm>
            <a:off x="1524000" y="3218855"/>
            <a:ext cx="15697200" cy="2375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0"/>
              <a:buFont typeface="Lora"/>
              <a:buNone/>
            </a:pPr>
            <a:r>
              <a:rPr b="1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Death &amp; the afterlife: </a:t>
            </a:r>
            <a:r>
              <a:rPr b="0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Nekyia</a:t>
            </a:r>
            <a:endParaRPr b="0" i="0" sz="8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5"/>
          <p:cNvSpPr/>
          <p:nvPr/>
        </p:nvSpPr>
        <p:spPr>
          <a:xfrm>
            <a:off x="1524000" y="6166247"/>
            <a:ext cx="14859000" cy="9525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5"/>
          <p:cNvSpPr/>
          <p:nvPr/>
        </p:nvSpPr>
        <p:spPr>
          <a:xfrm>
            <a:off x="1524000" y="6518672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5"/>
          <p:cNvSpPr/>
          <p:nvPr/>
        </p:nvSpPr>
        <p:spPr>
          <a:xfrm>
            <a:off x="1524000" y="6875859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Understand the Homeric view of death through Odysseus's journey to the dead.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5"/>
          <p:cNvSpPr/>
          <p:nvPr/>
        </p:nvSpPr>
        <p:spPr>
          <a:xfrm>
            <a:off x="9334500" y="6518672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5"/>
          <p:cNvSpPr/>
          <p:nvPr/>
        </p:nvSpPr>
        <p:spPr>
          <a:xfrm>
            <a:off x="9334500" y="6875859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Describe the underworld and its ritual; explain the key encounters; analyse Achilles' verdict on kleos.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7" name="Google Shape;657;p25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6"/>
          <p:cNvSpPr/>
          <p:nvPr/>
        </p:nvSpPr>
        <p:spPr>
          <a:xfrm>
            <a:off x="990600" y="666750"/>
            <a:ext cx="212310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CONCEPT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6"/>
          <p:cNvSpPr/>
          <p:nvPr/>
        </p:nvSpPr>
        <p:spPr>
          <a:xfrm>
            <a:off x="3208958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990600" y="1233488"/>
            <a:ext cx="71247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292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8250"/>
              <a:buFont typeface="Lora"/>
              <a:buNone/>
            </a:pPr>
            <a:r>
              <a:rPr b="1" i="1" lang="en-US" sz="8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nekyia</a:t>
            </a:r>
            <a:endParaRPr b="0" i="0" sz="8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6"/>
          <p:cNvSpPr/>
          <p:nvPr/>
        </p:nvSpPr>
        <p:spPr>
          <a:xfrm>
            <a:off x="990600" y="2357438"/>
            <a:ext cx="71247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νέκυια · rite of the dead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6"/>
          <p:cNvSpPr/>
          <p:nvPr/>
        </p:nvSpPr>
        <p:spPr>
          <a:xfrm>
            <a:off x="990600" y="3167063"/>
            <a:ext cx="6671310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28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175"/>
              <a:buFont typeface="Inter"/>
              <a:buNone/>
            </a:pPr>
            <a:r>
              <a:rPr b="0" i="0" lang="en-US" sz="21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Book 11: Odysseus's journey to consult the dead — the epic's katabasis (descent). Sent by Circe, he sails to Ocean's edge, the sunless land of the Cimmerians, wrapped in perpetual mist.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6"/>
          <p:cNvSpPr/>
          <p:nvPr/>
        </p:nvSpPr>
        <p:spPr>
          <a:xfrm>
            <a:off x="990600" y="5186363"/>
            <a:ext cx="6477000" cy="2370534"/>
          </a:xfrm>
          <a:prstGeom prst="roundRect">
            <a:avLst>
              <a:gd fmla="val 5625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1314450" y="5434013"/>
            <a:ext cx="641223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 THIS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6"/>
          <p:cNvSpPr/>
          <p:nvPr/>
        </p:nvSpPr>
        <p:spPr>
          <a:xfrm>
            <a:off x="1314450" y="5762625"/>
            <a:ext cx="6004179" cy="15847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3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ora"/>
              <a:buNone/>
            </a:pPr>
            <a:r>
              <a:rPr b="0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Homeric afterlife is grey and joyless for all alike: the psychē survives as a strengthless shade. Meaning belongs to the living — and to fame.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6"/>
          <p:cNvSpPr/>
          <p:nvPr/>
        </p:nvSpPr>
        <p:spPr>
          <a:xfrm>
            <a:off x="8324850" y="4686821"/>
            <a:ext cx="897255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6"/>
          <p:cNvSpPr/>
          <p:nvPr/>
        </p:nvSpPr>
        <p:spPr>
          <a:xfrm>
            <a:off x="8324850" y="3012504"/>
            <a:ext cx="26193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shades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6"/>
          <p:cNvSpPr/>
          <p:nvPr/>
        </p:nvSpPr>
        <p:spPr>
          <a:xfrm>
            <a:off x="10972800" y="3041079"/>
            <a:ext cx="6514338" cy="14742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dead are psychai: witless, strengthless images of the living, flitting like shadows or dreams. They must drink sacrificial blood before they can know and speak with a living man.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6"/>
          <p:cNvSpPr/>
          <p:nvPr/>
        </p:nvSpPr>
        <p:spPr>
          <a:xfrm>
            <a:off x="8324850" y="6221164"/>
            <a:ext cx="897255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6"/>
          <p:cNvSpPr/>
          <p:nvPr/>
        </p:nvSpPr>
        <p:spPr>
          <a:xfrm>
            <a:off x="8324850" y="4905896"/>
            <a:ext cx="26193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No judgement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6"/>
          <p:cNvSpPr/>
          <p:nvPr/>
        </p:nvSpPr>
        <p:spPr>
          <a:xfrm>
            <a:off x="10972800" y="4934471"/>
            <a:ext cx="6514338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With a handful of special sinners apart, there is no reward and no punishment: hero and coward end in the same grey murk. No heaven to hope for.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6"/>
          <p:cNvSpPr/>
          <p:nvPr/>
        </p:nvSpPr>
        <p:spPr>
          <a:xfrm>
            <a:off x="8324850" y="6440239"/>
            <a:ext cx="24574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Why kleos matters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6"/>
          <p:cNvSpPr/>
          <p:nvPr/>
        </p:nvSpPr>
        <p:spPr>
          <a:xfrm>
            <a:off x="10972800" y="6468814"/>
            <a:ext cx="6514338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If the afterlife holds nothing, the only immortality is the name you leave among the living (Topic 1). The Nekyia is where that belief is tested.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6"/>
          <p:cNvSpPr/>
          <p:nvPr/>
        </p:nvSpPr>
        <p:spPr>
          <a:xfrm>
            <a:off x="990600" y="9534525"/>
            <a:ext cx="274215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18 · The Nekyia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0" name="Google Shape;680;p26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7"/>
          <p:cNvSpPr/>
          <p:nvPr/>
        </p:nvSpPr>
        <p:spPr>
          <a:xfrm>
            <a:off x="990600" y="666750"/>
            <a:ext cx="149832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DETAIL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7"/>
          <p:cNvSpPr/>
          <p:nvPr/>
        </p:nvSpPr>
        <p:spPr>
          <a:xfrm>
            <a:off x="2584177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7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ritual, and the first encounters </a:t>
            </a:r>
            <a:r>
              <a:rPr b="0" i="1" lang="en-US" sz="465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(Book 11)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7"/>
          <p:cNvSpPr/>
          <p:nvPr/>
        </p:nvSpPr>
        <p:spPr>
          <a:xfrm>
            <a:off x="990600" y="3610868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7"/>
          <p:cNvSpPr/>
          <p:nvPr/>
        </p:nvSpPr>
        <p:spPr>
          <a:xfrm>
            <a:off x="990600" y="2215455"/>
            <a:ext cx="933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7"/>
          <p:cNvSpPr/>
          <p:nvPr/>
        </p:nvSpPr>
        <p:spPr>
          <a:xfrm>
            <a:off x="2190750" y="2334518"/>
            <a:ext cx="166173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rite, exactly as Circe prescribed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7"/>
          <p:cNvSpPr/>
          <p:nvPr/>
        </p:nvSpPr>
        <p:spPr>
          <a:xfrm>
            <a:off x="2190750" y="2744093"/>
            <a:ext cx="155598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 pit dug a cubit square; libations to the dead of milk-and-honey, wine and water, sprinkled with barley; prayers; then a black ram and ewe bled into the pit. The shades swarm up, and Odysseus holds them from the blood at sword-point until Teiresias has drunk.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7"/>
          <p:cNvSpPr/>
          <p:nvPr/>
        </p:nvSpPr>
        <p:spPr>
          <a:xfrm>
            <a:off x="990600" y="5206305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7"/>
          <p:cNvSpPr/>
          <p:nvPr/>
        </p:nvSpPr>
        <p:spPr>
          <a:xfrm>
            <a:off x="990600" y="3810893"/>
            <a:ext cx="933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7"/>
          <p:cNvSpPr/>
          <p:nvPr/>
        </p:nvSpPr>
        <p:spPr>
          <a:xfrm>
            <a:off x="2190750" y="3929955"/>
            <a:ext cx="166173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Elpenor — the unburied man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7"/>
          <p:cNvSpPr/>
          <p:nvPr/>
        </p:nvSpPr>
        <p:spPr>
          <a:xfrm>
            <a:off x="2190750" y="4339530"/>
            <a:ext cx="155598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First comes the youngest of the crew, 'not brave in battle nor strong of mind', who drank too much on Circe's roof, fell, and broke his neck: still unburied. He begs — do not leave me unwept, unburned — and asks for his oar planted on the mound.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7"/>
          <p:cNvSpPr/>
          <p:nvPr/>
        </p:nvSpPr>
        <p:spPr>
          <a:xfrm>
            <a:off x="990600" y="6801743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7"/>
          <p:cNvSpPr/>
          <p:nvPr/>
        </p:nvSpPr>
        <p:spPr>
          <a:xfrm>
            <a:off x="990600" y="5406330"/>
            <a:ext cx="933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iii.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7"/>
          <p:cNvSpPr/>
          <p:nvPr/>
        </p:nvSpPr>
        <p:spPr>
          <a:xfrm>
            <a:off x="2190750" y="5525393"/>
            <a:ext cx="166173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point: rites are absolute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7"/>
          <p:cNvSpPr/>
          <p:nvPr/>
        </p:nvSpPr>
        <p:spPr>
          <a:xfrm>
            <a:off x="2190750" y="5934968"/>
            <a:ext cx="155598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Even in death, the rites matter absolutely. An unburied man is a reproach that draws the gods' anger. (Odysseus returns to Aiaia and performs it all, Book 12.)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7"/>
          <p:cNvSpPr/>
          <p:nvPr/>
        </p:nvSpPr>
        <p:spPr>
          <a:xfrm>
            <a:off x="990600" y="8397180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7"/>
          <p:cNvSpPr/>
          <p:nvPr/>
        </p:nvSpPr>
        <p:spPr>
          <a:xfrm>
            <a:off x="990600" y="7001768"/>
            <a:ext cx="933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iv.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7"/>
          <p:cNvSpPr/>
          <p:nvPr/>
        </p:nvSpPr>
        <p:spPr>
          <a:xfrm>
            <a:off x="2190750" y="7120830"/>
            <a:ext cx="166173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Anticleia — his mother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7"/>
          <p:cNvSpPr/>
          <p:nvPr/>
        </p:nvSpPr>
        <p:spPr>
          <a:xfrm>
            <a:off x="2190750" y="7530405"/>
            <a:ext cx="155598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Alive when he left for Troy. She tells him Penelope waits faithfully; Telemachus holds the estates; Laertes has withdrawn to the countryside in squalid grief. And she herself died not of sickness but of longing for her son.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7"/>
          <p:cNvSpPr/>
          <p:nvPr/>
        </p:nvSpPr>
        <p:spPr>
          <a:xfrm>
            <a:off x="990600" y="8597205"/>
            <a:ext cx="933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v.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7"/>
          <p:cNvSpPr/>
          <p:nvPr/>
        </p:nvSpPr>
        <p:spPr>
          <a:xfrm>
            <a:off x="2190750" y="8716268"/>
            <a:ext cx="166173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three embraces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7"/>
          <p:cNvSpPr/>
          <p:nvPr/>
        </p:nvSpPr>
        <p:spPr>
          <a:xfrm>
            <a:off x="2190750" y="9125843"/>
            <a:ext cx="155598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Three times he reaches for her; three times she flits through his arms like a shadow or a dream. This is the way of mortals, she explains: the sinews no longer hold flesh and bone. The poem's tenderest statement of what death is.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7"/>
          <p:cNvSpPr/>
          <p:nvPr/>
        </p:nvSpPr>
        <p:spPr>
          <a:xfrm>
            <a:off x="990600" y="10202168"/>
            <a:ext cx="274215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18 · The Nekyia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9" name="Google Shape;709;p27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10216455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2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50000">
                <a:srgbClr val="0D1433"/>
              </a:gs>
              <a:gs pos="100000">
                <a:srgbClr val="080C1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6" name="Google Shape;71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28"/>
          <p:cNvSpPr/>
          <p:nvPr/>
        </p:nvSpPr>
        <p:spPr>
          <a:xfrm>
            <a:off x="1714500" y="1747614"/>
            <a:ext cx="4572883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CLOSE ANALYSIS · KNOW THIS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8"/>
          <p:cNvSpPr/>
          <p:nvPr/>
        </p:nvSpPr>
        <p:spPr>
          <a:xfrm>
            <a:off x="6325642" y="1878583"/>
            <a:ext cx="666750" cy="19050"/>
          </a:xfrm>
          <a:prstGeom prst="rect">
            <a:avLst/>
          </a:prstGeom>
          <a:solidFill>
            <a:srgbClr val="5E9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8"/>
          <p:cNvSpPr/>
          <p:nvPr/>
        </p:nvSpPr>
        <p:spPr>
          <a:xfrm>
            <a:off x="1714500" y="2390552"/>
            <a:ext cx="15304770" cy="23388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5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50"/>
              <a:buFont typeface="Lora"/>
              <a:buNone/>
            </a:pPr>
            <a:r>
              <a:rPr b="1" i="1" lang="en-US" sz="49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'I would rather be the hired serf of a landless man, with little to live on, than </a:t>
            </a:r>
            <a:r>
              <a:rPr b="1" i="1" lang="en-US" sz="495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king over all the perished dead</a:t>
            </a:r>
            <a:r>
              <a:rPr b="1" i="1" lang="en-US" sz="49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.'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8"/>
          <p:cNvSpPr/>
          <p:nvPr/>
        </p:nvSpPr>
        <p:spPr>
          <a:xfrm>
            <a:off x="1714500" y="4938936"/>
            <a:ext cx="16344900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ACHILLES TO ODYSSEUS · BOOK 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8"/>
          <p:cNvSpPr/>
          <p:nvPr/>
        </p:nvSpPr>
        <p:spPr>
          <a:xfrm>
            <a:off x="1714500" y="5715223"/>
            <a:ext cx="4572000" cy="9525"/>
          </a:xfrm>
          <a:prstGeom prst="rect">
            <a:avLst/>
          </a:prstGeom>
          <a:solidFill>
            <a:srgbClr val="FFFFFF">
              <a:alpha val="1411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8"/>
          <p:cNvSpPr/>
          <p:nvPr/>
        </p:nvSpPr>
        <p:spPr>
          <a:xfrm>
            <a:off x="1714500" y="5972398"/>
            <a:ext cx="50292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WEIGH WHAT THIS IS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8"/>
          <p:cNvSpPr/>
          <p:nvPr/>
        </p:nvSpPr>
        <p:spPr>
          <a:xfrm>
            <a:off x="1714500" y="6310536"/>
            <a:ext cx="4709160" cy="2266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supreme hero of the Iliad — who chose a short life for imperishable fame — declaring that the meanest life outranks the greatest death. The heroic bargain, repudiated by the man who made 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8"/>
          <p:cNvSpPr/>
          <p:nvPr/>
        </p:nvSpPr>
        <p:spPr>
          <a:xfrm>
            <a:off x="6858000" y="5715223"/>
            <a:ext cx="4572000" cy="9525"/>
          </a:xfrm>
          <a:prstGeom prst="rect">
            <a:avLst/>
          </a:prstGeom>
          <a:solidFill>
            <a:srgbClr val="FFFFFF">
              <a:alpha val="1411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8"/>
          <p:cNvSpPr/>
          <p:nvPr/>
        </p:nvSpPr>
        <p:spPr>
          <a:xfrm>
            <a:off x="6858000" y="5972398"/>
            <a:ext cx="50292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THE NUANCE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8"/>
          <p:cNvSpPr/>
          <p:nvPr/>
        </p:nvSpPr>
        <p:spPr>
          <a:xfrm>
            <a:off x="6858000" y="6310536"/>
            <a:ext cx="4709160" cy="2266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Told of his son Neoptolemus's valour at Troy, Achilles strides away through the asphodel rejoicing. Fame still touches him — through the living. Kleos is not worthless; it is worth less than life.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8"/>
          <p:cNvSpPr/>
          <p:nvPr/>
        </p:nvSpPr>
        <p:spPr>
          <a:xfrm>
            <a:off x="12001500" y="5715223"/>
            <a:ext cx="4572000" cy="9525"/>
          </a:xfrm>
          <a:prstGeom prst="rect">
            <a:avLst/>
          </a:prstGeom>
          <a:solidFill>
            <a:srgbClr val="FFFFFF">
              <a:alpha val="1411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8"/>
          <p:cNvSpPr/>
          <p:nvPr/>
        </p:nvSpPr>
        <p:spPr>
          <a:xfrm>
            <a:off x="12001500" y="5972398"/>
            <a:ext cx="50292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F5C842"/>
                </a:solidFill>
                <a:latin typeface="Inter"/>
                <a:ea typeface="Inter"/>
                <a:cs typeface="Inter"/>
                <a:sym typeface="Inter"/>
              </a:rPr>
              <a:t>THE CODA: AJAX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8"/>
          <p:cNvSpPr/>
          <p:nvPr/>
        </p:nvSpPr>
        <p:spPr>
          <a:xfrm>
            <a:off x="12001500" y="6310536"/>
            <a:ext cx="4709160" cy="1895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Dead by his own hand after losing Achilles' arms to Odysseus, he stands apart in silence and stalks away unreconciled — honour's wounds outlasting death itself.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0" name="Google Shape;730;p28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7145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29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9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9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What the Nekyia is for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9"/>
          <p:cNvSpPr/>
          <p:nvPr/>
        </p:nvSpPr>
        <p:spPr>
          <a:xfrm>
            <a:off x="990600" y="3258369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9"/>
          <p:cNvSpPr/>
          <p:nvPr/>
        </p:nvSpPr>
        <p:spPr>
          <a:xfrm>
            <a:off x="990600" y="2292623"/>
            <a:ext cx="3562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It reframes the values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9"/>
          <p:cNvSpPr/>
          <p:nvPr/>
        </p:nvSpPr>
        <p:spPr>
          <a:xfrm>
            <a:off x="4572000" y="2330723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If death is this, then Odysseus's choice of mortal home over Calypso's immortality (Topic 2) — and his hunger for life and nostos — make complete sense.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9"/>
          <p:cNvSpPr/>
          <p:nvPr/>
        </p:nvSpPr>
        <p:spPr>
          <a:xfrm>
            <a:off x="990600" y="4443189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9"/>
          <p:cNvSpPr/>
          <p:nvPr/>
        </p:nvSpPr>
        <p:spPr>
          <a:xfrm>
            <a:off x="990600" y="3477444"/>
            <a:ext cx="3562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deepest descent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9"/>
          <p:cNvSpPr/>
          <p:nvPr/>
        </p:nvSpPr>
        <p:spPr>
          <a:xfrm>
            <a:off x="4572000" y="3515544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goes to the one place no living man goes, gains knowledge there, and returns — the ultimate test of endurance and the ultimate credential.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9"/>
          <p:cNvSpPr/>
          <p:nvPr/>
        </p:nvSpPr>
        <p:spPr>
          <a:xfrm>
            <a:off x="990600" y="5652864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29"/>
          <p:cNvSpPr/>
          <p:nvPr/>
        </p:nvSpPr>
        <p:spPr>
          <a:xfrm>
            <a:off x="990600" y="4662264"/>
            <a:ext cx="3335655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geography of death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9"/>
          <p:cNvSpPr/>
          <p:nvPr/>
        </p:nvSpPr>
        <p:spPr>
          <a:xfrm>
            <a:off x="4572000" y="4700364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Minos judging; Orion; the great sinners — Tantalus (water and fruit forever receding) and Sisyphus (the stone forever rolling back) — exceptional punishments that prove the ordinary dead are simply… grey.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9"/>
          <p:cNvSpPr/>
          <p:nvPr/>
        </p:nvSpPr>
        <p:spPr>
          <a:xfrm>
            <a:off x="990600" y="5871939"/>
            <a:ext cx="3562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The frame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9"/>
          <p:cNvSpPr/>
          <p:nvPr/>
        </p:nvSpPr>
        <p:spPr>
          <a:xfrm>
            <a:off x="4572000" y="5910039"/>
            <a:ext cx="13107162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Mid-book, the tale pauses — we are back at the Phaeacian court, Arete calls him 'my guest' and urges more gifts, Alcinous begs him to continue. Homer reminds us this is a performance — the master storyteller holding an audience spellbound.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9"/>
          <p:cNvSpPr/>
          <p:nvPr/>
        </p:nvSpPr>
        <p:spPr>
          <a:xfrm>
            <a:off x="990600" y="9534525"/>
            <a:ext cx="274215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18 · The Nekyia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1" name="Google Shape;751;p29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30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0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0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0"/>
          <p:cNvSpPr/>
          <p:nvPr/>
        </p:nvSpPr>
        <p:spPr>
          <a:xfrm>
            <a:off x="990600" y="2062163"/>
            <a:ext cx="8029575" cy="2396133"/>
          </a:xfrm>
          <a:prstGeom prst="roundRect">
            <a:avLst>
              <a:gd fmla="val 6360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0"/>
          <p:cNvSpPr/>
          <p:nvPr/>
        </p:nvSpPr>
        <p:spPr>
          <a:xfrm>
            <a:off x="1343025" y="2338388"/>
            <a:ext cx="2826142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rite &amp; the dead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0"/>
          <p:cNvSpPr/>
          <p:nvPr/>
        </p:nvSpPr>
        <p:spPr>
          <a:xfrm>
            <a:off x="7762652" y="2457450"/>
            <a:ext cx="98129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11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0"/>
          <p:cNvSpPr/>
          <p:nvPr/>
        </p:nvSpPr>
        <p:spPr>
          <a:xfrm>
            <a:off x="1343025" y="2828925"/>
            <a:ext cx="7544467" cy="13912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0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Pit, triple libation, barley, black ram and ewe; blood gives the shades speech; sword holds them back for Teiresias. The dead are strengthless shades — no reward, no punishment, the same grey murk for all.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0"/>
          <p:cNvSpPr/>
          <p:nvPr/>
        </p:nvSpPr>
        <p:spPr>
          <a:xfrm>
            <a:off x="9267825" y="2062163"/>
            <a:ext cx="8029575" cy="2396133"/>
          </a:xfrm>
          <a:prstGeom prst="roundRect">
            <a:avLst>
              <a:gd fmla="val 6360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0"/>
          <p:cNvSpPr/>
          <p:nvPr/>
        </p:nvSpPr>
        <p:spPr>
          <a:xfrm>
            <a:off x="9620250" y="2338388"/>
            <a:ext cx="2889171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Elpenor &amp; Anticleia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0"/>
          <p:cNvSpPr/>
          <p:nvPr/>
        </p:nvSpPr>
        <p:spPr>
          <a:xfrm>
            <a:off x="16039877" y="2457450"/>
            <a:ext cx="98129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11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0"/>
          <p:cNvSpPr/>
          <p:nvPr/>
        </p:nvSpPr>
        <p:spPr>
          <a:xfrm>
            <a:off x="9620250" y="2828925"/>
            <a:ext cx="7544467" cy="1052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0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Elpenor first: burial rites are absolute — unwept and unburned is unbearable (oar on the mound). Anticleia died of longing; three embraces pass through her — 'this is the way of mortals'.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0"/>
          <p:cNvSpPr/>
          <p:nvPr/>
        </p:nvSpPr>
        <p:spPr>
          <a:xfrm>
            <a:off x="990600" y="4705945"/>
            <a:ext cx="8029575" cy="2057846"/>
          </a:xfrm>
          <a:prstGeom prst="roundRect">
            <a:avLst>
              <a:gd fmla="val 740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0"/>
          <p:cNvSpPr/>
          <p:nvPr/>
        </p:nvSpPr>
        <p:spPr>
          <a:xfrm>
            <a:off x="1343025" y="4982170"/>
            <a:ext cx="2217137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Achilles &amp; Ajax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0"/>
          <p:cNvSpPr/>
          <p:nvPr/>
        </p:nvSpPr>
        <p:spPr>
          <a:xfrm>
            <a:off x="7762652" y="5101233"/>
            <a:ext cx="98129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11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0"/>
          <p:cNvSpPr/>
          <p:nvPr/>
        </p:nvSpPr>
        <p:spPr>
          <a:xfrm>
            <a:off x="1343025" y="5472708"/>
            <a:ext cx="7544467" cy="1052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0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'Rather a landless man's serf than king of all the dead' — the heroic bargain repudiated… yet he exults in Neoptolemus: fame still matters, through the living. Ajax's silence: honour outlasting death.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0"/>
          <p:cNvSpPr/>
          <p:nvPr/>
        </p:nvSpPr>
        <p:spPr>
          <a:xfrm>
            <a:off x="9267825" y="4705945"/>
            <a:ext cx="8029575" cy="2057846"/>
          </a:xfrm>
          <a:prstGeom prst="roundRect">
            <a:avLst>
              <a:gd fmla="val 740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0"/>
          <p:cNvSpPr/>
          <p:nvPr/>
        </p:nvSpPr>
        <p:spPr>
          <a:xfrm>
            <a:off x="9620250" y="4982170"/>
            <a:ext cx="1516864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frame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0"/>
          <p:cNvSpPr/>
          <p:nvPr/>
        </p:nvSpPr>
        <p:spPr>
          <a:xfrm>
            <a:off x="16039877" y="5101233"/>
            <a:ext cx="98129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11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0"/>
          <p:cNvSpPr/>
          <p:nvPr/>
        </p:nvSpPr>
        <p:spPr>
          <a:xfrm>
            <a:off x="9620250" y="5472708"/>
            <a:ext cx="7544467" cy="1052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0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Mid-tale intermission at the Phaeacian court — Arete's praise, Alcinous's plea for more. We are watching a performance: the storyteller theme, alive inside the Nekyia.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0"/>
          <p:cNvSpPr/>
          <p:nvPr/>
        </p:nvSpPr>
        <p:spPr>
          <a:xfrm>
            <a:off x="990600" y="9534525"/>
            <a:ext cx="274215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18 · The Nekyia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7" name="Google Shape;777;p30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1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1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1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1"/>
          <p:cNvSpPr/>
          <p:nvPr/>
        </p:nvSpPr>
        <p:spPr>
          <a:xfrm>
            <a:off x="990600" y="2115071"/>
            <a:ext cx="6134100" cy="2718867"/>
          </a:xfrm>
          <a:prstGeom prst="roundRect">
            <a:avLst>
              <a:gd fmla="val 5605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31"/>
          <p:cNvSpPr/>
          <p:nvPr/>
        </p:nvSpPr>
        <p:spPr>
          <a:xfrm>
            <a:off x="1390650" y="2457971"/>
            <a:ext cx="5867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1"/>
          <p:cNvSpPr/>
          <p:nvPr/>
        </p:nvSpPr>
        <p:spPr>
          <a:xfrm>
            <a:off x="1390650" y="3880024"/>
            <a:ext cx="53340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1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1"/>
          <p:cNvSpPr/>
          <p:nvPr/>
        </p:nvSpPr>
        <p:spPr>
          <a:xfrm>
            <a:off x="1758628" y="3019946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Describe the underworld, its ritual and its inhabitants.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1"/>
          <p:cNvSpPr/>
          <p:nvPr/>
        </p:nvSpPr>
        <p:spPr>
          <a:xfrm>
            <a:off x="1390650" y="4032424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1"/>
          <p:cNvSpPr/>
          <p:nvPr/>
        </p:nvSpPr>
        <p:spPr>
          <a:xfrm>
            <a:off x="1758628" y="4003849"/>
            <a:ext cx="5442816" cy="410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Analyse Achilles' verdict with its nuance.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1"/>
          <p:cNvSpPr/>
          <p:nvPr/>
        </p:nvSpPr>
        <p:spPr>
          <a:xfrm>
            <a:off x="7543800" y="2817019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1"/>
          <p:cNvSpPr/>
          <p:nvPr/>
        </p:nvSpPr>
        <p:spPr>
          <a:xfrm>
            <a:off x="7543800" y="2348433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DESCRIBE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1"/>
          <p:cNvSpPr/>
          <p:nvPr/>
        </p:nvSpPr>
        <p:spPr>
          <a:xfrm>
            <a:off x="9544050" y="2286521"/>
            <a:ext cx="6059924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rite step by step, and what the blood does.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1"/>
          <p:cNvSpPr/>
          <p:nvPr/>
        </p:nvSpPr>
        <p:spPr>
          <a:xfrm>
            <a:off x="7543800" y="3528492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1"/>
          <p:cNvSpPr/>
          <p:nvPr/>
        </p:nvSpPr>
        <p:spPr>
          <a:xfrm>
            <a:off x="7543800" y="3059906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EXPLAIN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1"/>
          <p:cNvSpPr/>
          <p:nvPr/>
        </p:nvSpPr>
        <p:spPr>
          <a:xfrm>
            <a:off x="9544050" y="2997994"/>
            <a:ext cx="7832914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What Elpenor and Anticleia each teach about Homeric death.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1"/>
          <p:cNvSpPr/>
          <p:nvPr/>
        </p:nvSpPr>
        <p:spPr>
          <a:xfrm>
            <a:off x="7543800" y="4599012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1"/>
          <p:cNvSpPr/>
          <p:nvPr/>
        </p:nvSpPr>
        <p:spPr>
          <a:xfrm>
            <a:off x="7543800" y="3771379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ANALYSE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1"/>
          <p:cNvSpPr/>
          <p:nvPr/>
        </p:nvSpPr>
        <p:spPr>
          <a:xfrm>
            <a:off x="9544050" y="3709467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Achilles' verdict — statement, nuance (Neoptolemus), and what it does to the heroic bargain.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1"/>
          <p:cNvSpPr/>
          <p:nvPr/>
        </p:nvSpPr>
        <p:spPr>
          <a:xfrm>
            <a:off x="7543800" y="4841900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1"/>
          <p:cNvSpPr/>
          <p:nvPr/>
        </p:nvSpPr>
        <p:spPr>
          <a:xfrm>
            <a:off x="9544050" y="4779987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'The Nekyia proves that in the Odyssey life, not glory, is the supreme value.'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 do you agree?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1"/>
          <p:cNvSpPr/>
          <p:nvPr/>
        </p:nvSpPr>
        <p:spPr>
          <a:xfrm>
            <a:off x="990600" y="9534525"/>
            <a:ext cx="274215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18 · The Nekyia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5" name="Google Shape;805;p31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2" name="Google Shape;81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32"/>
          <p:cNvSpPr/>
          <p:nvPr/>
        </p:nvSpPr>
        <p:spPr>
          <a:xfrm>
            <a:off x="1524000" y="666750"/>
            <a:ext cx="813389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3 · THE WANDERINGS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2"/>
          <p:cNvSpPr/>
          <p:nvPr/>
        </p:nvSpPr>
        <p:spPr>
          <a:xfrm>
            <a:off x="15668997" y="609600"/>
            <a:ext cx="1171203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19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2"/>
          <p:cNvSpPr/>
          <p:nvPr/>
        </p:nvSpPr>
        <p:spPr>
          <a:xfrm>
            <a:off x="1524000" y="3028950"/>
            <a:ext cx="1780356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19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2"/>
          <p:cNvSpPr/>
          <p:nvPr/>
        </p:nvSpPr>
        <p:spPr>
          <a:xfrm>
            <a:off x="3390156" y="3157538"/>
            <a:ext cx="1593205" cy="357188"/>
          </a:xfrm>
          <a:prstGeom prst="roundRect">
            <a:avLst>
              <a:gd fmla="val 16000" name="adj"/>
            </a:avLst>
          </a:prstGeom>
          <a:solidFill>
            <a:srgbClr val="5EC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2"/>
          <p:cNvSpPr/>
          <p:nvPr/>
        </p:nvSpPr>
        <p:spPr>
          <a:xfrm>
            <a:off x="3542556" y="3214688"/>
            <a:ext cx="136460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NEW IDEA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2"/>
          <p:cNvSpPr/>
          <p:nvPr/>
        </p:nvSpPr>
        <p:spPr>
          <a:xfrm>
            <a:off x="1524000" y="3609975"/>
            <a:ext cx="16764000" cy="12069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0"/>
              <a:buFont typeface="Lora"/>
              <a:buNone/>
            </a:pPr>
            <a:r>
              <a:rPr b="1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Prophecy &amp; omens: </a:t>
            </a:r>
            <a:r>
              <a:rPr b="0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Teiresias</a:t>
            </a:r>
            <a:endParaRPr b="0" i="0" sz="8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2"/>
          <p:cNvSpPr/>
          <p:nvPr/>
        </p:nvSpPr>
        <p:spPr>
          <a:xfrm>
            <a:off x="1524000" y="5388471"/>
            <a:ext cx="14859000" cy="9525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32"/>
          <p:cNvSpPr/>
          <p:nvPr/>
        </p:nvSpPr>
        <p:spPr>
          <a:xfrm>
            <a:off x="1524000" y="5740896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2"/>
          <p:cNvSpPr/>
          <p:nvPr/>
        </p:nvSpPr>
        <p:spPr>
          <a:xfrm>
            <a:off x="1524000" y="6098084"/>
            <a:ext cx="7753350" cy="4247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Understand the role of prophecy in the poem.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2"/>
          <p:cNvSpPr/>
          <p:nvPr/>
        </p:nvSpPr>
        <p:spPr>
          <a:xfrm>
            <a:off x="9334500" y="5740896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2"/>
          <p:cNvSpPr/>
          <p:nvPr/>
        </p:nvSpPr>
        <p:spPr>
          <a:xfrm>
            <a:off x="9334500" y="6098084"/>
            <a:ext cx="7259955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Set out Teiresias's prophecy in full; explain how prophecy steers expectation, tension and behaviour without abolishing choice.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4" name="Google Shape;824;p32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33"/>
          <p:cNvSpPr/>
          <p:nvPr/>
        </p:nvSpPr>
        <p:spPr>
          <a:xfrm>
            <a:off x="990600" y="666750"/>
            <a:ext cx="212310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CONCEPT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3"/>
          <p:cNvSpPr/>
          <p:nvPr/>
        </p:nvSpPr>
        <p:spPr>
          <a:xfrm>
            <a:off x="3208958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33"/>
          <p:cNvSpPr/>
          <p:nvPr/>
        </p:nvSpPr>
        <p:spPr>
          <a:xfrm>
            <a:off x="990600" y="1271588"/>
            <a:ext cx="6475095" cy="12900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66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How prophecy works in the Odyssey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3"/>
          <p:cNvSpPr/>
          <p:nvPr/>
        </p:nvSpPr>
        <p:spPr>
          <a:xfrm>
            <a:off x="990600" y="2828330"/>
            <a:ext cx="647509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82"/>
              </a:lnSpc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Fate sets the frame; conduct fills it in.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3"/>
          <p:cNvSpPr/>
          <p:nvPr/>
        </p:nvSpPr>
        <p:spPr>
          <a:xfrm>
            <a:off x="990600" y="4104680"/>
            <a:ext cx="647509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Prophecy is the gods' knowledge leaking into human time: through seers (Teiresias, Halitherses, Theoclymenus), omens (birds, thunder), and even a dying enemy's curse.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3"/>
          <p:cNvSpPr/>
          <p:nvPr/>
        </p:nvSpPr>
        <p:spPr>
          <a:xfrm>
            <a:off x="8039100" y="4732958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33"/>
          <p:cNvSpPr/>
          <p:nvPr/>
        </p:nvSpPr>
        <p:spPr>
          <a:xfrm>
            <a:off x="8039100" y="3112889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CONDITIONAL, NOT SCRIPTED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3"/>
          <p:cNvSpPr/>
          <p:nvPr/>
        </p:nvSpPr>
        <p:spPr>
          <a:xfrm>
            <a:off x="8039100" y="3446264"/>
            <a:ext cx="9536049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Homeric prophecy usually maps the consequences of choices — 'if you restrain yourselves… but if you harm them…' — rather than fixing what must happen.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3"/>
          <p:cNvSpPr/>
          <p:nvPr/>
        </p:nvSpPr>
        <p:spPr>
          <a:xfrm>
            <a:off x="8039100" y="6213053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33"/>
          <p:cNvSpPr/>
          <p:nvPr/>
        </p:nvSpPr>
        <p:spPr>
          <a:xfrm>
            <a:off x="8039100" y="4952033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WARNING-SYSTEM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3"/>
          <p:cNvSpPr/>
          <p:nvPr/>
        </p:nvSpPr>
        <p:spPr>
          <a:xfrm>
            <a:off x="8039100" y="5285408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That preserves the poem's moral rule (Book 1, the Orestes paradigm): being warned and persisting is what makes mortals responsible for their ruin.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3"/>
          <p:cNvSpPr/>
          <p:nvPr/>
        </p:nvSpPr>
        <p:spPr>
          <a:xfrm>
            <a:off x="8039100" y="6432128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A NARRATIVE ENGINE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3"/>
          <p:cNvSpPr/>
          <p:nvPr/>
        </p:nvSpPr>
        <p:spPr>
          <a:xfrm>
            <a:off x="8039100" y="6765503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We know what is coming, the characters half-know, and the tension lies in watching the conditions be kept — or broken.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3"/>
          <p:cNvSpPr/>
          <p:nvPr/>
        </p:nvSpPr>
        <p:spPr>
          <a:xfrm>
            <a:off x="990600" y="9534525"/>
            <a:ext cx="361604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19 · Prophecy &amp; omens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4" name="Google Shape;844;p33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34"/>
          <p:cNvSpPr/>
          <p:nvPr/>
        </p:nvSpPr>
        <p:spPr>
          <a:xfrm>
            <a:off x="990600" y="666750"/>
            <a:ext cx="149832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DETAIL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4"/>
          <p:cNvSpPr/>
          <p:nvPr/>
        </p:nvSpPr>
        <p:spPr>
          <a:xfrm>
            <a:off x="2584177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34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Teiresias's prophecy — in full </a:t>
            </a:r>
            <a:r>
              <a:rPr b="0" i="1" lang="en-US" sz="465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(Book 11)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4"/>
          <p:cNvSpPr/>
          <p:nvPr/>
        </p:nvSpPr>
        <p:spPr>
          <a:xfrm>
            <a:off x="990600" y="3253680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34"/>
          <p:cNvSpPr/>
          <p:nvPr/>
        </p:nvSpPr>
        <p:spPr>
          <a:xfrm>
            <a:off x="990600" y="2205930"/>
            <a:ext cx="933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4"/>
          <p:cNvSpPr/>
          <p:nvPr/>
        </p:nvSpPr>
        <p:spPr>
          <a:xfrm>
            <a:off x="2190750" y="2324993"/>
            <a:ext cx="1626263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unique seer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4"/>
          <p:cNvSpPr/>
          <p:nvPr/>
        </p:nvSpPr>
        <p:spPr>
          <a:xfrm>
            <a:off x="2190750" y="2734568"/>
            <a:ext cx="1626263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blind Theban keeps his wits even in Hades — he alone needs no explanation of who Odysseus is, and he carries a golden staff.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4"/>
          <p:cNvSpPr/>
          <p:nvPr/>
        </p:nvSpPr>
        <p:spPr>
          <a:xfrm>
            <a:off x="990600" y="4830068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34"/>
          <p:cNvSpPr/>
          <p:nvPr/>
        </p:nvSpPr>
        <p:spPr>
          <a:xfrm>
            <a:off x="990600" y="3444180"/>
            <a:ext cx="933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4"/>
          <p:cNvSpPr/>
          <p:nvPr/>
        </p:nvSpPr>
        <p:spPr>
          <a:xfrm>
            <a:off x="2190750" y="3563243"/>
            <a:ext cx="166173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cause named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4"/>
          <p:cNvSpPr/>
          <p:nvPr/>
        </p:nvSpPr>
        <p:spPr>
          <a:xfrm>
            <a:off x="2190750" y="3972818"/>
            <a:ext cx="155598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It is Poseidon who makes the way bitter, angry for his blinded son. The Cyclops's curse and the god's wrath are confirmed as the machinery of the wanderings.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4"/>
          <p:cNvSpPr/>
          <p:nvPr/>
        </p:nvSpPr>
        <p:spPr>
          <a:xfrm>
            <a:off x="990600" y="6406455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34"/>
          <p:cNvSpPr/>
          <p:nvPr/>
        </p:nvSpPr>
        <p:spPr>
          <a:xfrm>
            <a:off x="990600" y="5020568"/>
            <a:ext cx="933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iii.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4"/>
          <p:cNvSpPr/>
          <p:nvPr/>
        </p:nvSpPr>
        <p:spPr>
          <a:xfrm>
            <a:off x="2190750" y="5139630"/>
            <a:ext cx="166173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condition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4"/>
          <p:cNvSpPr/>
          <p:nvPr/>
        </p:nvSpPr>
        <p:spPr>
          <a:xfrm>
            <a:off x="2190750" y="5549205"/>
            <a:ext cx="155598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You may yet reach home, in misery, if — if — you restrain your own spirit and your comrades' when you reach Thrinacia, and leave the cattle of the Sun unharmed.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4"/>
          <p:cNvSpPr/>
          <p:nvPr/>
        </p:nvSpPr>
        <p:spPr>
          <a:xfrm>
            <a:off x="990600" y="7982843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990600" y="6596955"/>
            <a:ext cx="933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iv.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4"/>
          <p:cNvSpPr/>
          <p:nvPr/>
        </p:nvSpPr>
        <p:spPr>
          <a:xfrm>
            <a:off x="2190750" y="6716018"/>
            <a:ext cx="166173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alternative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4"/>
          <p:cNvSpPr/>
          <p:nvPr/>
        </p:nvSpPr>
        <p:spPr>
          <a:xfrm>
            <a:off x="2190750" y="7125593"/>
            <a:ext cx="155598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Harm them, and destruction for ship and crew; if you escape, you come home late and in evil plight, all comrades lost, on a foreign ship — to find insolent men devouring your house and wooing your wife. (Word for word, the shape of Polyphemus's curse.)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4"/>
          <p:cNvSpPr/>
          <p:nvPr/>
        </p:nvSpPr>
        <p:spPr>
          <a:xfrm>
            <a:off x="990600" y="8173343"/>
            <a:ext cx="933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v.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4"/>
          <p:cNvSpPr/>
          <p:nvPr/>
        </p:nvSpPr>
        <p:spPr>
          <a:xfrm>
            <a:off x="2190750" y="8292405"/>
            <a:ext cx="166173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Beyond the homecoming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4"/>
          <p:cNvSpPr/>
          <p:nvPr/>
        </p:nvSpPr>
        <p:spPr>
          <a:xfrm>
            <a:off x="2190750" y="8701980"/>
            <a:ext cx="155598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Kill the suitors; then travel inland carrying an oar until a wayfarer calls it a winnowing-fan; plant it, sacrifice to Poseidon — reconciliation at last — and a gentle death will come, away from the sea, in sleek old age, with prosperous people around him.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4"/>
          <p:cNvSpPr/>
          <p:nvPr/>
        </p:nvSpPr>
        <p:spPr>
          <a:xfrm>
            <a:off x="990600" y="9768780"/>
            <a:ext cx="361604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19 · Prophecy &amp; omens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3" name="Google Shape;873;p34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783068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35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5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5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What the prophecy does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5"/>
          <p:cNvSpPr/>
          <p:nvPr/>
        </p:nvSpPr>
        <p:spPr>
          <a:xfrm>
            <a:off x="990600" y="3201219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35"/>
          <p:cNvSpPr/>
          <p:nvPr/>
        </p:nvSpPr>
        <p:spPr>
          <a:xfrm>
            <a:off x="990600" y="2254523"/>
            <a:ext cx="3562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Steers expectation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5"/>
          <p:cNvSpPr/>
          <p:nvPr/>
        </p:nvSpPr>
        <p:spPr>
          <a:xfrm>
            <a:off x="4572000" y="2292623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audience now holds the itinerary — Thrinacia, the losses, the foreign ship, the suitors, the reckoning. We read Books 12–24 checking the prophecy off.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5"/>
          <p:cNvSpPr/>
          <p:nvPr/>
        </p:nvSpPr>
        <p:spPr>
          <a:xfrm>
            <a:off x="990600" y="4347939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35"/>
          <p:cNvSpPr/>
          <p:nvPr/>
        </p:nvSpPr>
        <p:spPr>
          <a:xfrm>
            <a:off x="990600" y="3401244"/>
            <a:ext cx="3562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Manufactures tension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5"/>
          <p:cNvSpPr/>
          <p:nvPr/>
        </p:nvSpPr>
        <p:spPr>
          <a:xfrm>
            <a:off x="4572000" y="3439344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Precisely because it is conditional: when the crew swear the oath off Thrinacia, we hold our breath — the fate is avoidable, and we watch them walk into it anyway.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5"/>
          <p:cNvSpPr/>
          <p:nvPr/>
        </p:nvSpPr>
        <p:spPr>
          <a:xfrm>
            <a:off x="990600" y="5519514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35"/>
          <p:cNvSpPr/>
          <p:nvPr/>
        </p:nvSpPr>
        <p:spPr>
          <a:xfrm>
            <a:off x="990600" y="4547964"/>
            <a:ext cx="3335655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Transfers responsibility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5"/>
          <p:cNvSpPr/>
          <p:nvPr/>
        </p:nvSpPr>
        <p:spPr>
          <a:xfrm>
            <a:off x="4572000" y="4586064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After Teiresias (and Circe's repeat warning), no one on that ship is uninformed. The crew's end is chosen — exactly as the proem said.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5"/>
          <p:cNvSpPr/>
          <p:nvPr/>
        </p:nvSpPr>
        <p:spPr>
          <a:xfrm>
            <a:off x="990600" y="6666235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35"/>
          <p:cNvSpPr/>
          <p:nvPr/>
        </p:nvSpPr>
        <p:spPr>
          <a:xfrm>
            <a:off x="990600" y="5719539"/>
            <a:ext cx="3562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Reaches past Book 24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5"/>
          <p:cNvSpPr/>
          <p:nvPr/>
        </p:nvSpPr>
        <p:spPr>
          <a:xfrm>
            <a:off x="4572000" y="5757639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oar-journey and the gentle death 'away from the sea' give Odysseus a future beyond the poem's last page — the rare glimpse of a hero's whole life-shape.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5"/>
          <p:cNvSpPr/>
          <p:nvPr/>
        </p:nvSpPr>
        <p:spPr>
          <a:xfrm>
            <a:off x="990600" y="6866260"/>
            <a:ext cx="3562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Pair it: Telemus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5"/>
          <p:cNvSpPr/>
          <p:nvPr/>
        </p:nvSpPr>
        <p:spPr>
          <a:xfrm>
            <a:off x="4572000" y="6904360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Polyphemus recalls that a seer had foretold his blinding 'at Odysseus's hands' — he had expected someone big. Prophecy true, expectation wrong: the gods' knowledge, human misreading.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35"/>
          <p:cNvSpPr/>
          <p:nvPr/>
        </p:nvSpPr>
        <p:spPr>
          <a:xfrm>
            <a:off x="990600" y="9534525"/>
            <a:ext cx="361604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19 · Prophecy &amp; omens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7" name="Google Shape;897;p35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36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6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6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6"/>
          <p:cNvSpPr/>
          <p:nvPr/>
        </p:nvSpPr>
        <p:spPr>
          <a:xfrm>
            <a:off x="990600" y="2100263"/>
            <a:ext cx="5232350" cy="4227537"/>
          </a:xfrm>
          <a:prstGeom prst="roundRect">
            <a:avLst>
              <a:gd fmla="val 360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36"/>
          <p:cNvSpPr/>
          <p:nvPr/>
        </p:nvSpPr>
        <p:spPr>
          <a:xfrm>
            <a:off x="1343025" y="2414588"/>
            <a:ext cx="1935287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6"/>
          <p:cNvSpPr/>
          <p:nvPr/>
        </p:nvSpPr>
        <p:spPr>
          <a:xfrm>
            <a:off x="1476375" y="2471738"/>
            <a:ext cx="1744787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1, 9, 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6"/>
          <p:cNvSpPr/>
          <p:nvPr/>
        </p:nvSpPr>
        <p:spPr>
          <a:xfrm>
            <a:off x="1343025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How prophecy works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6"/>
          <p:cNvSpPr/>
          <p:nvPr/>
        </p:nvSpPr>
        <p:spPr>
          <a:xfrm>
            <a:off x="1343025" y="3428479"/>
            <a:ext cx="4663325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Conditional, not scripted: it maps the outcomes of choices — the warning-system of the Orestes paradigm.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6"/>
          <p:cNvSpPr/>
          <p:nvPr/>
        </p:nvSpPr>
        <p:spPr>
          <a:xfrm>
            <a:off x="1343025" y="4857229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6"/>
          <p:cNvSpPr/>
          <p:nvPr/>
        </p:nvSpPr>
        <p:spPr>
          <a:xfrm>
            <a:off x="1343025" y="5019154"/>
            <a:ext cx="4663325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Channels: seers, omens, curses. Telemus's misread prophecy: divine truth, human misreading.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6"/>
          <p:cNvSpPr/>
          <p:nvPr/>
        </p:nvSpPr>
        <p:spPr>
          <a:xfrm>
            <a:off x="6527750" y="2100263"/>
            <a:ext cx="5232425" cy="4227537"/>
          </a:xfrm>
          <a:prstGeom prst="roundRect">
            <a:avLst>
              <a:gd fmla="val 360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36"/>
          <p:cNvSpPr/>
          <p:nvPr/>
        </p:nvSpPr>
        <p:spPr>
          <a:xfrm>
            <a:off x="6880175" y="2414588"/>
            <a:ext cx="1219423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36"/>
          <p:cNvSpPr/>
          <p:nvPr/>
        </p:nvSpPr>
        <p:spPr>
          <a:xfrm>
            <a:off x="7013525" y="2471738"/>
            <a:ext cx="1028923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6"/>
          <p:cNvSpPr/>
          <p:nvPr/>
        </p:nvSpPr>
        <p:spPr>
          <a:xfrm>
            <a:off x="6880175" y="2933700"/>
            <a:ext cx="4980332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Teiresias in full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6"/>
          <p:cNvSpPr/>
          <p:nvPr/>
        </p:nvSpPr>
        <p:spPr>
          <a:xfrm>
            <a:off x="6880175" y="3428479"/>
            <a:ext cx="4663402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Poseidon's anger named; the Thrinacia condition; the alternative — late, wretched, alone, foreign ship, suitors at home.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6"/>
          <p:cNvSpPr/>
          <p:nvPr/>
        </p:nvSpPr>
        <p:spPr>
          <a:xfrm>
            <a:off x="6880175" y="4857229"/>
            <a:ext cx="4527575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36"/>
          <p:cNvSpPr/>
          <p:nvPr/>
        </p:nvSpPr>
        <p:spPr>
          <a:xfrm>
            <a:off x="6880175" y="5019154"/>
            <a:ext cx="4663402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Then: kill the suitors; the inland oar / winnowing-fan; sacrifice to Poseidon; gentle death away from the sea.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36"/>
          <p:cNvSpPr/>
          <p:nvPr/>
        </p:nvSpPr>
        <p:spPr>
          <a:xfrm>
            <a:off x="12064975" y="2100263"/>
            <a:ext cx="5232350" cy="4227537"/>
          </a:xfrm>
          <a:prstGeom prst="roundRect">
            <a:avLst>
              <a:gd fmla="val 360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36"/>
          <p:cNvSpPr/>
          <p:nvPr/>
        </p:nvSpPr>
        <p:spPr>
          <a:xfrm>
            <a:off x="12417400" y="2414588"/>
            <a:ext cx="1746349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36"/>
          <p:cNvSpPr/>
          <p:nvPr/>
        </p:nvSpPr>
        <p:spPr>
          <a:xfrm>
            <a:off x="12550750" y="2471738"/>
            <a:ext cx="1555849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11–12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6"/>
          <p:cNvSpPr/>
          <p:nvPr/>
        </p:nvSpPr>
        <p:spPr>
          <a:xfrm>
            <a:off x="12417400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What it does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6"/>
          <p:cNvSpPr/>
          <p:nvPr/>
        </p:nvSpPr>
        <p:spPr>
          <a:xfrm>
            <a:off x="12417400" y="3428479"/>
            <a:ext cx="4663325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Gives the audience the itinerary — we check it off; tension comes from watching avoidable fate approach.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36"/>
          <p:cNvSpPr/>
          <p:nvPr/>
        </p:nvSpPr>
        <p:spPr>
          <a:xfrm>
            <a:off x="12417400" y="4857229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36"/>
          <p:cNvSpPr/>
          <p:nvPr/>
        </p:nvSpPr>
        <p:spPr>
          <a:xfrm>
            <a:off x="12417400" y="5019154"/>
            <a:ext cx="4663325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After the double warning, the crew's ruin is chosen; the oar-journey extends the hero's story past the poem.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36"/>
          <p:cNvSpPr/>
          <p:nvPr/>
        </p:nvSpPr>
        <p:spPr>
          <a:xfrm>
            <a:off x="990600" y="9534525"/>
            <a:ext cx="361604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19 · Prophecy &amp; omens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8" name="Google Shape;928;p36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7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7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37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7"/>
          <p:cNvSpPr/>
          <p:nvPr/>
        </p:nvSpPr>
        <p:spPr>
          <a:xfrm>
            <a:off x="990600" y="2115071"/>
            <a:ext cx="6134100" cy="3091755"/>
          </a:xfrm>
          <a:prstGeom prst="roundRect">
            <a:avLst>
              <a:gd fmla="val 4929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37"/>
          <p:cNvSpPr/>
          <p:nvPr/>
        </p:nvSpPr>
        <p:spPr>
          <a:xfrm>
            <a:off x="1390650" y="2457971"/>
            <a:ext cx="5867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7"/>
          <p:cNvSpPr/>
          <p:nvPr/>
        </p:nvSpPr>
        <p:spPr>
          <a:xfrm>
            <a:off x="1390650" y="3880024"/>
            <a:ext cx="53340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37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7"/>
          <p:cNvSpPr/>
          <p:nvPr/>
        </p:nvSpPr>
        <p:spPr>
          <a:xfrm>
            <a:off x="1758628" y="3019946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Set out the prophecy in full, condition and consequence.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7"/>
          <p:cNvSpPr/>
          <p:nvPr/>
        </p:nvSpPr>
        <p:spPr>
          <a:xfrm>
            <a:off x="1390650" y="4032424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7"/>
          <p:cNvSpPr/>
          <p:nvPr/>
        </p:nvSpPr>
        <p:spPr>
          <a:xfrm>
            <a:off x="1758628" y="4003849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Explain how prophecy creates tension and responsibility.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7"/>
          <p:cNvSpPr/>
          <p:nvPr/>
        </p:nvSpPr>
        <p:spPr>
          <a:xfrm>
            <a:off x="7543800" y="3176067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37"/>
          <p:cNvSpPr/>
          <p:nvPr/>
        </p:nvSpPr>
        <p:spPr>
          <a:xfrm>
            <a:off x="7543800" y="2348433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RECALL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7"/>
          <p:cNvSpPr/>
          <p:nvPr/>
        </p:nvSpPr>
        <p:spPr>
          <a:xfrm>
            <a:off x="9544050" y="2286521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Write out Teiresias's prophecy as a flowchart — condition, branch, outcomes, epilogue.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7"/>
          <p:cNvSpPr/>
          <p:nvPr/>
        </p:nvSpPr>
        <p:spPr>
          <a:xfrm>
            <a:off x="7543800" y="4246587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37"/>
          <p:cNvSpPr/>
          <p:nvPr/>
        </p:nvSpPr>
        <p:spPr>
          <a:xfrm>
            <a:off x="7543800" y="3418954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EXPLAIN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37"/>
          <p:cNvSpPr/>
          <p:nvPr/>
        </p:nvSpPr>
        <p:spPr>
          <a:xfrm>
            <a:off x="9544050" y="3357042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Why does conditional prophecy create more tension than fixed fate?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7"/>
          <p:cNvSpPr/>
          <p:nvPr/>
        </p:nvSpPr>
        <p:spPr>
          <a:xfrm>
            <a:off x="7543800" y="5317108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37"/>
          <p:cNvSpPr/>
          <p:nvPr/>
        </p:nvSpPr>
        <p:spPr>
          <a:xfrm>
            <a:off x="7543800" y="4489475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CONNECT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7"/>
          <p:cNvSpPr/>
          <p:nvPr/>
        </p:nvSpPr>
        <p:spPr>
          <a:xfrm>
            <a:off x="9544050" y="4427562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does the prophecy echo Polyphemus's curse — and enact the Orestes paradigm?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37"/>
          <p:cNvSpPr/>
          <p:nvPr/>
        </p:nvSpPr>
        <p:spPr>
          <a:xfrm>
            <a:off x="7543800" y="5559996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7"/>
          <p:cNvSpPr/>
          <p:nvPr/>
        </p:nvSpPr>
        <p:spPr>
          <a:xfrm>
            <a:off x="9544050" y="5498083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'Prophecy removes all suspense from the Odyssey.'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 do you agree?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37"/>
          <p:cNvSpPr/>
          <p:nvPr/>
        </p:nvSpPr>
        <p:spPr>
          <a:xfrm>
            <a:off x="990600" y="9534525"/>
            <a:ext cx="361604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19 · Prophecy &amp; omens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6" name="Google Shape;956;p37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3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3" name="Google Shape;96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38"/>
          <p:cNvSpPr/>
          <p:nvPr/>
        </p:nvSpPr>
        <p:spPr>
          <a:xfrm>
            <a:off x="1524000" y="666750"/>
            <a:ext cx="813389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3 · THE WANDERINGS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38"/>
          <p:cNvSpPr/>
          <p:nvPr/>
        </p:nvSpPr>
        <p:spPr>
          <a:xfrm>
            <a:off x="15452973" y="609600"/>
            <a:ext cx="144213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20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38"/>
          <p:cNvSpPr/>
          <p:nvPr/>
        </p:nvSpPr>
        <p:spPr>
          <a:xfrm>
            <a:off x="1524000" y="2444502"/>
            <a:ext cx="186712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20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38"/>
          <p:cNvSpPr/>
          <p:nvPr/>
        </p:nvSpPr>
        <p:spPr>
          <a:xfrm>
            <a:off x="3469035" y="2573089"/>
            <a:ext cx="1673870" cy="357188"/>
          </a:xfrm>
          <a:prstGeom prst="roundRect">
            <a:avLst>
              <a:gd fmla="val 16000" name="adj"/>
            </a:avLst>
          </a:prstGeom>
          <a:solidFill>
            <a:srgbClr val="F5C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38"/>
          <p:cNvSpPr/>
          <p:nvPr/>
        </p:nvSpPr>
        <p:spPr>
          <a:xfrm>
            <a:off x="3621435" y="2630239"/>
            <a:ext cx="144527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REVISITED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38"/>
          <p:cNvSpPr/>
          <p:nvPr/>
        </p:nvSpPr>
        <p:spPr>
          <a:xfrm>
            <a:off x="1524000" y="3025527"/>
            <a:ext cx="15697200" cy="2375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0"/>
              <a:buFont typeface="Lora"/>
              <a:buNone/>
            </a:pPr>
            <a:r>
              <a:rPr b="1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Nostos revisited: </a:t>
            </a:r>
            <a:r>
              <a:rPr b="0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Agamemnon's return</a:t>
            </a:r>
            <a:endParaRPr b="0" i="0" sz="8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38"/>
          <p:cNvSpPr/>
          <p:nvPr/>
        </p:nvSpPr>
        <p:spPr>
          <a:xfrm>
            <a:off x="1524000" y="5972919"/>
            <a:ext cx="14859000" cy="9525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38"/>
          <p:cNvSpPr/>
          <p:nvPr/>
        </p:nvSpPr>
        <p:spPr>
          <a:xfrm>
            <a:off x="1524000" y="6325344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38"/>
          <p:cNvSpPr/>
          <p:nvPr/>
        </p:nvSpPr>
        <p:spPr>
          <a:xfrm>
            <a:off x="1524000" y="6682532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Revisit nostos through the fatal homecoming — the dark mirror of Odysseus's own.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8"/>
          <p:cNvSpPr/>
          <p:nvPr/>
        </p:nvSpPr>
        <p:spPr>
          <a:xfrm>
            <a:off x="9334500" y="6325344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8"/>
          <p:cNvSpPr/>
          <p:nvPr/>
        </p:nvSpPr>
        <p:spPr>
          <a:xfrm>
            <a:off x="9334500" y="6682532"/>
            <a:ext cx="7259955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Retell Agamemnon's murder as his shade tells it; map the two households point for point; explain what the warning changes.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5" name="Google Shape;975;p38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39"/>
          <p:cNvSpPr/>
          <p:nvPr/>
        </p:nvSpPr>
        <p:spPr>
          <a:xfrm>
            <a:off x="990600" y="666750"/>
            <a:ext cx="122254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REVISIT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39"/>
          <p:cNvSpPr/>
          <p:nvPr/>
        </p:nvSpPr>
        <p:spPr>
          <a:xfrm>
            <a:off x="230839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39"/>
          <p:cNvSpPr/>
          <p:nvPr/>
        </p:nvSpPr>
        <p:spPr>
          <a:xfrm>
            <a:off x="990600" y="1271588"/>
            <a:ext cx="6915150" cy="6640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66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Nostos: the thread so far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9"/>
          <p:cNvSpPr/>
          <p:nvPr/>
        </p:nvSpPr>
        <p:spPr>
          <a:xfrm>
            <a:off x="990600" y="2202359"/>
            <a:ext cx="6475095" cy="158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82"/>
              </a:lnSpc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Keep the comparison question open throughout: what exactly must Odysseus do differently?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9"/>
          <p:cNvSpPr/>
          <p:nvPr/>
        </p:nvSpPr>
        <p:spPr>
          <a:xfrm>
            <a:off x="8039100" y="4553471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39"/>
          <p:cNvSpPr/>
          <p:nvPr/>
        </p:nvSpPr>
        <p:spPr>
          <a:xfrm>
            <a:off x="8039100" y="2933402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FROM TOPIC 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39"/>
          <p:cNvSpPr/>
          <p:nvPr/>
        </p:nvSpPr>
        <p:spPr>
          <a:xfrm>
            <a:off x="8039100" y="3266777"/>
            <a:ext cx="9536049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Nostos — the return home, and the recovery of everything home means — and how to judge homecomings: Nestor's swift, Menelaus's long but rich, Agamemnon's fatal.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9"/>
          <p:cNvSpPr/>
          <p:nvPr/>
        </p:nvSpPr>
        <p:spPr>
          <a:xfrm>
            <a:off x="8039100" y="6392614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39"/>
          <p:cNvSpPr/>
          <p:nvPr/>
        </p:nvSpPr>
        <p:spPr>
          <a:xfrm>
            <a:off x="8039100" y="4772546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SHADOW OVER THE POEM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9"/>
          <p:cNvSpPr/>
          <p:nvPr/>
        </p:nvSpPr>
        <p:spPr>
          <a:xfrm>
            <a:off x="8039100" y="5105921"/>
            <a:ext cx="9536049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Agamemnon's murder has shadowed the poem from its first scene: Zeus opened Book 1 with Aegisthus's crime and Orestes' revenge; Nestor and Menelaus each retold 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9"/>
          <p:cNvSpPr/>
          <p:nvPr/>
        </p:nvSpPr>
        <p:spPr>
          <a:xfrm>
            <a:off x="8039100" y="6611689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NOW, IN HADES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39"/>
          <p:cNvSpPr/>
          <p:nvPr/>
        </p:nvSpPr>
        <p:spPr>
          <a:xfrm>
            <a:off x="8039100" y="6945064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We finally hear it from the victim himself — and the teller matters: this is the homecoming as experienced from inside.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39"/>
          <p:cNvSpPr/>
          <p:nvPr/>
        </p:nvSpPr>
        <p:spPr>
          <a:xfrm>
            <a:off x="990600" y="9534525"/>
            <a:ext cx="337359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20 · Nostos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4" name="Google Shape;994;p39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40"/>
          <p:cNvSpPr/>
          <p:nvPr/>
        </p:nvSpPr>
        <p:spPr>
          <a:xfrm>
            <a:off x="990600" y="666750"/>
            <a:ext cx="149832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DETAIL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40"/>
          <p:cNvSpPr/>
          <p:nvPr/>
        </p:nvSpPr>
        <p:spPr>
          <a:xfrm>
            <a:off x="2584177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40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shade's own story </a:t>
            </a:r>
            <a:r>
              <a:rPr b="0" i="1" lang="en-US" sz="465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(Book 11)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40"/>
          <p:cNvSpPr/>
          <p:nvPr/>
        </p:nvSpPr>
        <p:spPr>
          <a:xfrm>
            <a:off x="990600" y="3162151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40"/>
          <p:cNvSpPr/>
          <p:nvPr/>
        </p:nvSpPr>
        <p:spPr>
          <a:xfrm>
            <a:off x="990600" y="2215455"/>
            <a:ext cx="3562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The truth is worse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40"/>
          <p:cNvSpPr/>
          <p:nvPr/>
        </p:nvSpPr>
        <p:spPr>
          <a:xfrm>
            <a:off x="4572000" y="2253555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Odysseus expects a hero's death — shipwreck, or war. Instead: Aegisthus, 'with my accursed wife', invited him to a feast and killed him there — 'as a man strikes down an ox at the manger'.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40"/>
          <p:cNvSpPr/>
          <p:nvPr/>
        </p:nvSpPr>
        <p:spPr>
          <a:xfrm>
            <a:off x="990600" y="4333726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40"/>
          <p:cNvSpPr/>
          <p:nvPr/>
        </p:nvSpPr>
        <p:spPr>
          <a:xfrm>
            <a:off x="990600" y="3362176"/>
            <a:ext cx="3335655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The setting is the outrage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40"/>
          <p:cNvSpPr/>
          <p:nvPr/>
        </p:nvSpPr>
        <p:spPr>
          <a:xfrm>
            <a:off x="4572000" y="3400276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Not battle but hospitality — his own welcome-feast made the killing-floor, his comrades slaughtered around him 'like white-tusked swine'. Xenia and homecoming violated in one act.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40"/>
          <p:cNvSpPr/>
          <p:nvPr/>
        </p:nvSpPr>
        <p:spPr>
          <a:xfrm>
            <a:off x="990600" y="5480447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40"/>
          <p:cNvSpPr/>
          <p:nvPr/>
        </p:nvSpPr>
        <p:spPr>
          <a:xfrm>
            <a:off x="990600" y="4533751"/>
            <a:ext cx="3562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Clytemnestra's part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40"/>
          <p:cNvSpPr/>
          <p:nvPr/>
        </p:nvSpPr>
        <p:spPr>
          <a:xfrm>
            <a:off x="4572000" y="4571851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Unforgivable in his telling: she butchered Cassandra over his body, and would not even close his eyes or mouth as he died — the last, minimal decencies refused.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40"/>
          <p:cNvSpPr/>
          <p:nvPr/>
        </p:nvSpPr>
        <p:spPr>
          <a:xfrm>
            <a:off x="990600" y="6652022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40"/>
          <p:cNvSpPr/>
          <p:nvPr/>
        </p:nvSpPr>
        <p:spPr>
          <a:xfrm>
            <a:off x="990600" y="5680472"/>
            <a:ext cx="3335655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bitterness generalises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40"/>
          <p:cNvSpPr/>
          <p:nvPr/>
        </p:nvSpPr>
        <p:spPr>
          <a:xfrm>
            <a:off x="4572000" y="5718572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'There is nothing more terrible and shameless than a woman who plants such deeds in her heart' — she has 'poured shame on all women to come, even the virtuous'.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40"/>
          <p:cNvSpPr/>
          <p:nvPr/>
        </p:nvSpPr>
        <p:spPr>
          <a:xfrm>
            <a:off x="990600" y="6852047"/>
            <a:ext cx="3562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crucial exception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40"/>
          <p:cNvSpPr/>
          <p:nvPr/>
        </p:nvSpPr>
        <p:spPr>
          <a:xfrm>
            <a:off x="4572000" y="6890147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Penelope is wise, prudent, loyal — she would never do such a thing. The warning is not 'your wife is a killer'; it is 'no homecoming is safe'.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40"/>
          <p:cNvSpPr/>
          <p:nvPr/>
        </p:nvSpPr>
        <p:spPr>
          <a:xfrm>
            <a:off x="990600" y="9534525"/>
            <a:ext cx="337359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20 · Nostos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8" name="Google Shape;1018;p40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41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41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41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dark mirror — and the advice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41"/>
          <p:cNvSpPr/>
          <p:nvPr/>
        </p:nvSpPr>
        <p:spPr>
          <a:xfrm>
            <a:off x="990600" y="2044005"/>
            <a:ext cx="3919537" cy="152400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41"/>
          <p:cNvSpPr/>
          <p:nvPr/>
        </p:nvSpPr>
        <p:spPr>
          <a:xfrm>
            <a:off x="1098471" y="2263080"/>
            <a:ext cx="370379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Agamemnon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41"/>
          <p:cNvSpPr/>
          <p:nvPr/>
        </p:nvSpPr>
        <p:spPr>
          <a:xfrm>
            <a:off x="1098471" y="2672655"/>
            <a:ext cx="370379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↕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41"/>
          <p:cNvSpPr/>
          <p:nvPr/>
        </p:nvSpPr>
        <p:spPr>
          <a:xfrm>
            <a:off x="1098471" y="2996505"/>
            <a:ext cx="370379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Odysseus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41"/>
          <p:cNvSpPr/>
          <p:nvPr/>
        </p:nvSpPr>
        <p:spPr>
          <a:xfrm>
            <a:off x="5119688" y="2044005"/>
            <a:ext cx="3919537" cy="152400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41"/>
          <p:cNvSpPr/>
          <p:nvPr/>
        </p:nvSpPr>
        <p:spPr>
          <a:xfrm>
            <a:off x="5227558" y="2263080"/>
            <a:ext cx="370379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Clytemnestra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41"/>
          <p:cNvSpPr/>
          <p:nvPr/>
        </p:nvSpPr>
        <p:spPr>
          <a:xfrm>
            <a:off x="5227558" y="2672655"/>
            <a:ext cx="370379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↕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41"/>
          <p:cNvSpPr/>
          <p:nvPr/>
        </p:nvSpPr>
        <p:spPr>
          <a:xfrm>
            <a:off x="5227558" y="2996505"/>
            <a:ext cx="370379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Penelope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41"/>
          <p:cNvSpPr/>
          <p:nvPr/>
        </p:nvSpPr>
        <p:spPr>
          <a:xfrm>
            <a:off x="9248775" y="2044005"/>
            <a:ext cx="3919537" cy="152400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41"/>
          <p:cNvSpPr/>
          <p:nvPr/>
        </p:nvSpPr>
        <p:spPr>
          <a:xfrm>
            <a:off x="9356646" y="2263080"/>
            <a:ext cx="370379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Aegisthus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41"/>
          <p:cNvSpPr/>
          <p:nvPr/>
        </p:nvSpPr>
        <p:spPr>
          <a:xfrm>
            <a:off x="9356646" y="2672655"/>
            <a:ext cx="370379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↕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41"/>
          <p:cNvSpPr/>
          <p:nvPr/>
        </p:nvSpPr>
        <p:spPr>
          <a:xfrm>
            <a:off x="9356646" y="2996505"/>
            <a:ext cx="370379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suitors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41"/>
          <p:cNvSpPr/>
          <p:nvPr/>
        </p:nvSpPr>
        <p:spPr>
          <a:xfrm>
            <a:off x="13377863" y="2044005"/>
            <a:ext cx="3919537" cy="152400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41"/>
          <p:cNvSpPr/>
          <p:nvPr/>
        </p:nvSpPr>
        <p:spPr>
          <a:xfrm>
            <a:off x="13485733" y="2263080"/>
            <a:ext cx="370379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Orestes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41"/>
          <p:cNvSpPr/>
          <p:nvPr/>
        </p:nvSpPr>
        <p:spPr>
          <a:xfrm>
            <a:off x="13485733" y="2672655"/>
            <a:ext cx="370379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↕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41"/>
          <p:cNvSpPr/>
          <p:nvPr/>
        </p:nvSpPr>
        <p:spPr>
          <a:xfrm>
            <a:off x="13485733" y="2996505"/>
            <a:ext cx="370379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Telemachus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41"/>
          <p:cNvSpPr/>
          <p:nvPr/>
        </p:nvSpPr>
        <p:spPr>
          <a:xfrm>
            <a:off x="990600" y="4905226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41"/>
          <p:cNvSpPr/>
          <p:nvPr/>
        </p:nvSpPr>
        <p:spPr>
          <a:xfrm>
            <a:off x="990600" y="3987105"/>
            <a:ext cx="356235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differences argue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41"/>
          <p:cNvSpPr/>
          <p:nvPr/>
        </p:nvSpPr>
        <p:spPr>
          <a:xfrm>
            <a:off x="4572000" y="4015680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Clytemnestra yielded to the seducer, Penelope resists a hundred; Orestes avenged a dead father, Telemachus will fight beside a living one. One story is the other run to catastrophe.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41"/>
          <p:cNvSpPr/>
          <p:nvPr/>
        </p:nvSpPr>
        <p:spPr>
          <a:xfrm>
            <a:off x="990600" y="6004322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41"/>
          <p:cNvSpPr/>
          <p:nvPr/>
        </p:nvSpPr>
        <p:spPr>
          <a:xfrm>
            <a:off x="990600" y="5086201"/>
            <a:ext cx="356235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advice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41"/>
          <p:cNvSpPr/>
          <p:nvPr/>
        </p:nvSpPr>
        <p:spPr>
          <a:xfrm>
            <a:off x="4572000" y="5114776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shade gives the plot of the second half in advance: never be gentle, even to your wife; tell her only part of what you know; and land on Ithaca secretly — 'in secret, not openly'.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41"/>
          <p:cNvSpPr/>
          <p:nvPr/>
        </p:nvSpPr>
        <p:spPr>
          <a:xfrm>
            <a:off x="990600" y="6185297"/>
            <a:ext cx="356235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Followed to the letter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41"/>
          <p:cNvSpPr/>
          <p:nvPr/>
        </p:nvSpPr>
        <p:spPr>
          <a:xfrm>
            <a:off x="4572000" y="6213872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disguise and the testing of everyone — even Penelope — flow from this conversation in Hades (to come, Books 13 onward).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41"/>
          <p:cNvSpPr/>
          <p:nvPr/>
        </p:nvSpPr>
        <p:spPr>
          <a:xfrm>
            <a:off x="990600" y="7332018"/>
            <a:ext cx="16306800" cy="1139130"/>
          </a:xfrm>
          <a:prstGeom prst="roundRect">
            <a:avLst>
              <a:gd fmla="val 11706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41"/>
          <p:cNvSpPr/>
          <p:nvPr/>
        </p:nvSpPr>
        <p:spPr>
          <a:xfrm>
            <a:off x="1371600" y="7617768"/>
            <a:ext cx="174360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THE PAYOFF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41"/>
          <p:cNvSpPr/>
          <p:nvPr/>
        </p:nvSpPr>
        <p:spPr>
          <a:xfrm>
            <a:off x="3261494" y="7541568"/>
            <a:ext cx="14064553" cy="7581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95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Lora"/>
              <a:buNone/>
            </a:pPr>
            <a:r>
              <a:rPr b="0" i="1" lang="en-US" sz="2025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In Topic 1 Agamemnon was a cautionary tale about the past; now he is a manual for the future — the fatal nostos teaching the successful one how to survive.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41"/>
          <p:cNvSpPr/>
          <p:nvPr/>
        </p:nvSpPr>
        <p:spPr>
          <a:xfrm>
            <a:off x="990600" y="9534525"/>
            <a:ext cx="337359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20 · Nostos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5" name="Google Shape;1055;p41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42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42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42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42"/>
          <p:cNvSpPr/>
          <p:nvPr/>
        </p:nvSpPr>
        <p:spPr>
          <a:xfrm>
            <a:off x="990600" y="2100263"/>
            <a:ext cx="5232350" cy="4227537"/>
          </a:xfrm>
          <a:prstGeom prst="roundRect">
            <a:avLst>
              <a:gd fmla="val 360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42"/>
          <p:cNvSpPr/>
          <p:nvPr/>
        </p:nvSpPr>
        <p:spPr>
          <a:xfrm>
            <a:off x="1343025" y="2414588"/>
            <a:ext cx="1219423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42"/>
          <p:cNvSpPr/>
          <p:nvPr/>
        </p:nvSpPr>
        <p:spPr>
          <a:xfrm>
            <a:off x="1476375" y="2471738"/>
            <a:ext cx="1028923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42"/>
          <p:cNvSpPr/>
          <p:nvPr/>
        </p:nvSpPr>
        <p:spPr>
          <a:xfrm>
            <a:off x="1343025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murder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42"/>
          <p:cNvSpPr/>
          <p:nvPr/>
        </p:nvSpPr>
        <p:spPr>
          <a:xfrm>
            <a:off x="1343025" y="3428479"/>
            <a:ext cx="4663325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Killed at his own welcome-feast — 'like an ox at the manger', comrades slaughtered like swine; xenia and nostos violated together.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42"/>
          <p:cNvSpPr/>
          <p:nvPr/>
        </p:nvSpPr>
        <p:spPr>
          <a:xfrm>
            <a:off x="1343025" y="4857229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42"/>
          <p:cNvSpPr/>
          <p:nvPr/>
        </p:nvSpPr>
        <p:spPr>
          <a:xfrm>
            <a:off x="1343025" y="5019154"/>
            <a:ext cx="4663325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Clytemnestra kills Cassandra over him and refuses to close his eyes — the final indecency.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42"/>
          <p:cNvSpPr/>
          <p:nvPr/>
        </p:nvSpPr>
        <p:spPr>
          <a:xfrm>
            <a:off x="6527750" y="2100263"/>
            <a:ext cx="5232425" cy="4227537"/>
          </a:xfrm>
          <a:prstGeom prst="roundRect">
            <a:avLst>
              <a:gd fmla="val 360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42"/>
          <p:cNvSpPr/>
          <p:nvPr/>
        </p:nvSpPr>
        <p:spPr>
          <a:xfrm>
            <a:off x="6880175" y="2414588"/>
            <a:ext cx="1219423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42"/>
          <p:cNvSpPr/>
          <p:nvPr/>
        </p:nvSpPr>
        <p:spPr>
          <a:xfrm>
            <a:off x="7013525" y="2471738"/>
            <a:ext cx="1028923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42"/>
          <p:cNvSpPr/>
          <p:nvPr/>
        </p:nvSpPr>
        <p:spPr>
          <a:xfrm>
            <a:off x="6880175" y="2933700"/>
            <a:ext cx="4980332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bitterness &amp; the exception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42"/>
          <p:cNvSpPr/>
          <p:nvPr/>
        </p:nvSpPr>
        <p:spPr>
          <a:xfrm>
            <a:off x="6880175" y="3428479"/>
            <a:ext cx="4663402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'Nothing more shameless than such a woman' — shame poured on all women…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42"/>
          <p:cNvSpPr/>
          <p:nvPr/>
        </p:nvSpPr>
        <p:spPr>
          <a:xfrm>
            <a:off x="6880175" y="4857229"/>
            <a:ext cx="4527575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42"/>
          <p:cNvSpPr/>
          <p:nvPr/>
        </p:nvSpPr>
        <p:spPr>
          <a:xfrm>
            <a:off x="6880175" y="5019154"/>
            <a:ext cx="4663402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…but Penelope expressly excepted: wise, loyal, incapable of it. The warning is about homecomings, not about her.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42"/>
          <p:cNvSpPr/>
          <p:nvPr/>
        </p:nvSpPr>
        <p:spPr>
          <a:xfrm>
            <a:off x="12064975" y="2100263"/>
            <a:ext cx="5232350" cy="4227537"/>
          </a:xfrm>
          <a:prstGeom prst="roundRect">
            <a:avLst>
              <a:gd fmla="val 360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42"/>
          <p:cNvSpPr/>
          <p:nvPr/>
        </p:nvSpPr>
        <p:spPr>
          <a:xfrm>
            <a:off x="12417400" y="2414588"/>
            <a:ext cx="1219423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42"/>
          <p:cNvSpPr/>
          <p:nvPr/>
        </p:nvSpPr>
        <p:spPr>
          <a:xfrm>
            <a:off x="12550750" y="2471738"/>
            <a:ext cx="1028923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42"/>
          <p:cNvSpPr/>
          <p:nvPr/>
        </p:nvSpPr>
        <p:spPr>
          <a:xfrm>
            <a:off x="12417400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mirror &amp; the manual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42"/>
          <p:cNvSpPr/>
          <p:nvPr/>
        </p:nvSpPr>
        <p:spPr>
          <a:xfrm>
            <a:off x="12417400" y="3428479"/>
            <a:ext cx="4663325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Grid: Agamemnon/Odysseus; Clytemnestra/Penelope; Aegisthus/suitors; Orestes/Telemachus.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42"/>
          <p:cNvSpPr/>
          <p:nvPr/>
        </p:nvSpPr>
        <p:spPr>
          <a:xfrm>
            <a:off x="12417400" y="4857229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42"/>
          <p:cNvSpPr/>
          <p:nvPr/>
        </p:nvSpPr>
        <p:spPr>
          <a:xfrm>
            <a:off x="12417400" y="5019154"/>
            <a:ext cx="4663325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Advice — be hard, tell her only part, land in secret — becomes the exact strategy of Books 13–24.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42"/>
          <p:cNvSpPr/>
          <p:nvPr/>
        </p:nvSpPr>
        <p:spPr>
          <a:xfrm>
            <a:off x="990600" y="9534525"/>
            <a:ext cx="337359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20 · Nostos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6" name="Google Shape;1086;p42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43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43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3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43"/>
          <p:cNvSpPr/>
          <p:nvPr/>
        </p:nvSpPr>
        <p:spPr>
          <a:xfrm>
            <a:off x="990600" y="2115071"/>
            <a:ext cx="6134100" cy="2718867"/>
          </a:xfrm>
          <a:prstGeom prst="roundRect">
            <a:avLst>
              <a:gd fmla="val 5605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3"/>
          <p:cNvSpPr/>
          <p:nvPr/>
        </p:nvSpPr>
        <p:spPr>
          <a:xfrm>
            <a:off x="1390650" y="2457971"/>
            <a:ext cx="5867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43"/>
          <p:cNvSpPr/>
          <p:nvPr/>
        </p:nvSpPr>
        <p:spPr>
          <a:xfrm>
            <a:off x="1390650" y="3507135"/>
            <a:ext cx="53340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3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43"/>
          <p:cNvSpPr/>
          <p:nvPr/>
        </p:nvSpPr>
        <p:spPr>
          <a:xfrm>
            <a:off x="1758628" y="3019946"/>
            <a:ext cx="5225408" cy="410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Retell the murder with its telling details.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43"/>
          <p:cNvSpPr/>
          <p:nvPr/>
        </p:nvSpPr>
        <p:spPr>
          <a:xfrm>
            <a:off x="1390650" y="3659535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43"/>
          <p:cNvSpPr/>
          <p:nvPr/>
        </p:nvSpPr>
        <p:spPr>
          <a:xfrm>
            <a:off x="1758628" y="3630960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Map the mirror and explain what the advice changes.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43"/>
          <p:cNvSpPr/>
          <p:nvPr/>
        </p:nvSpPr>
        <p:spPr>
          <a:xfrm>
            <a:off x="7543800" y="3176067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43"/>
          <p:cNvSpPr/>
          <p:nvPr/>
        </p:nvSpPr>
        <p:spPr>
          <a:xfrm>
            <a:off x="7543800" y="2348433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RETELL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43"/>
          <p:cNvSpPr/>
          <p:nvPr/>
        </p:nvSpPr>
        <p:spPr>
          <a:xfrm>
            <a:off x="9544050" y="2286521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murder in four sentences, keeping the ox simile and the refused decencies.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43"/>
          <p:cNvSpPr/>
          <p:nvPr/>
        </p:nvSpPr>
        <p:spPr>
          <a:xfrm>
            <a:off x="7543800" y="4246587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43"/>
          <p:cNvSpPr/>
          <p:nvPr/>
        </p:nvSpPr>
        <p:spPr>
          <a:xfrm>
            <a:off x="7543800" y="3418954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MAP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43"/>
          <p:cNvSpPr/>
          <p:nvPr/>
        </p:nvSpPr>
        <p:spPr>
          <a:xfrm>
            <a:off x="9544050" y="3357042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Draw the two-household grid and annotate each pairing with one key difference.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43"/>
          <p:cNvSpPr/>
          <p:nvPr/>
        </p:nvSpPr>
        <p:spPr>
          <a:xfrm>
            <a:off x="7543800" y="5317108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43"/>
          <p:cNvSpPr/>
          <p:nvPr/>
        </p:nvSpPr>
        <p:spPr>
          <a:xfrm>
            <a:off x="7543800" y="4489475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EXPLAIN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43"/>
          <p:cNvSpPr/>
          <p:nvPr/>
        </p:nvSpPr>
        <p:spPr>
          <a:xfrm>
            <a:off x="9544050" y="4427562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does this scene script Odysseus's behaviour for the rest of the poem?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43"/>
          <p:cNvSpPr/>
          <p:nvPr/>
        </p:nvSpPr>
        <p:spPr>
          <a:xfrm>
            <a:off x="7543800" y="5559996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43"/>
          <p:cNvSpPr/>
          <p:nvPr/>
        </p:nvSpPr>
        <p:spPr>
          <a:xfrm>
            <a:off x="9544050" y="5498083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'Agamemnon's story matters more to the Odyssey than Odysseus's own adventures.'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 do you agree?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43"/>
          <p:cNvSpPr/>
          <p:nvPr/>
        </p:nvSpPr>
        <p:spPr>
          <a:xfrm>
            <a:off x="990600" y="9534525"/>
            <a:ext cx="337359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20 · Nostos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4" name="Google Shape;1114;p43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4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1" name="Google Shape;112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44"/>
          <p:cNvSpPr/>
          <p:nvPr/>
        </p:nvSpPr>
        <p:spPr>
          <a:xfrm>
            <a:off x="1524000" y="666750"/>
            <a:ext cx="813389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3 · THE WANDERINGS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44"/>
          <p:cNvSpPr/>
          <p:nvPr/>
        </p:nvSpPr>
        <p:spPr>
          <a:xfrm>
            <a:off x="15713571" y="609600"/>
            <a:ext cx="1126629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21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44"/>
          <p:cNvSpPr/>
          <p:nvPr/>
        </p:nvSpPr>
        <p:spPr>
          <a:xfrm>
            <a:off x="1524000" y="2444502"/>
            <a:ext cx="176742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21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44"/>
          <p:cNvSpPr/>
          <p:nvPr/>
        </p:nvSpPr>
        <p:spPr>
          <a:xfrm>
            <a:off x="3378398" y="2573089"/>
            <a:ext cx="1673870" cy="357188"/>
          </a:xfrm>
          <a:prstGeom prst="roundRect">
            <a:avLst>
              <a:gd fmla="val 16000" name="adj"/>
            </a:avLst>
          </a:prstGeom>
          <a:solidFill>
            <a:srgbClr val="F5C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44"/>
          <p:cNvSpPr/>
          <p:nvPr/>
        </p:nvSpPr>
        <p:spPr>
          <a:xfrm>
            <a:off x="3530798" y="2630239"/>
            <a:ext cx="144527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REVISITED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44"/>
          <p:cNvSpPr/>
          <p:nvPr/>
        </p:nvSpPr>
        <p:spPr>
          <a:xfrm>
            <a:off x="1524000" y="3025527"/>
            <a:ext cx="15697200" cy="2375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0"/>
              <a:buFont typeface="Lora"/>
              <a:buNone/>
            </a:pPr>
            <a:r>
              <a:rPr b="1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Women revisited: </a:t>
            </a:r>
            <a:r>
              <a:rPr b="0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Circe &amp; Clytemnestra</a:t>
            </a:r>
            <a:endParaRPr b="0" i="0" sz="8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44"/>
          <p:cNvSpPr/>
          <p:nvPr/>
        </p:nvSpPr>
        <p:spPr>
          <a:xfrm>
            <a:off x="1524000" y="5972919"/>
            <a:ext cx="14859000" cy="9525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44"/>
          <p:cNvSpPr/>
          <p:nvPr/>
        </p:nvSpPr>
        <p:spPr>
          <a:xfrm>
            <a:off x="1524000" y="6325344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44"/>
          <p:cNvSpPr/>
          <p:nvPr/>
        </p:nvSpPr>
        <p:spPr>
          <a:xfrm>
            <a:off x="1524000" y="6682532"/>
            <a:ext cx="7259955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Revisit 'women' through the witch-helper and the murderous wife — the two extremes that frame Penelope.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44"/>
          <p:cNvSpPr/>
          <p:nvPr/>
        </p:nvSpPr>
        <p:spPr>
          <a:xfrm>
            <a:off x="9334500" y="6325344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44"/>
          <p:cNvSpPr/>
          <p:nvPr/>
        </p:nvSpPr>
        <p:spPr>
          <a:xfrm>
            <a:off x="9334500" y="6682532"/>
            <a:ext cx="7259955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Characterise Circe across her whole arc; characterise Clytemnestra from the shade's account; place both on the poem's spectrum of women.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3" name="Google Shape;1133;p44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45"/>
          <p:cNvSpPr/>
          <p:nvPr/>
        </p:nvSpPr>
        <p:spPr>
          <a:xfrm>
            <a:off x="990600" y="666750"/>
            <a:ext cx="122254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REVISIT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45"/>
          <p:cNvSpPr/>
          <p:nvPr/>
        </p:nvSpPr>
        <p:spPr>
          <a:xfrm>
            <a:off x="230839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45"/>
          <p:cNvSpPr/>
          <p:nvPr/>
        </p:nvSpPr>
        <p:spPr>
          <a:xfrm>
            <a:off x="990600" y="1271588"/>
            <a:ext cx="6475095" cy="12900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66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Women: the spectrum so far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45"/>
          <p:cNvSpPr/>
          <p:nvPr/>
        </p:nvSpPr>
        <p:spPr>
          <a:xfrm>
            <a:off x="990600" y="2828330"/>
            <a:ext cx="647509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82"/>
              </a:lnSpc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poem keeps refusing one template for 'woman'.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45"/>
          <p:cNvSpPr/>
          <p:nvPr/>
        </p:nvSpPr>
        <p:spPr>
          <a:xfrm>
            <a:off x="8039100" y="4732958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45"/>
          <p:cNvSpPr/>
          <p:nvPr/>
        </p:nvSpPr>
        <p:spPr>
          <a:xfrm>
            <a:off x="8039100" y="3112889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THREAD SO FAR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45"/>
          <p:cNvSpPr/>
          <p:nvPr/>
        </p:nvSpPr>
        <p:spPr>
          <a:xfrm>
            <a:off x="8039100" y="3446264"/>
            <a:ext cx="9536049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Helen (poised, ambiguous — Topic 1); Calypso (divine power that cannot compel love), Nausicaa (youth and social grace), Arete (queenly authority) — Topic 2. Each a different kind of power, and a different limit.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45"/>
          <p:cNvSpPr/>
          <p:nvPr/>
        </p:nvSpPr>
        <p:spPr>
          <a:xfrm>
            <a:off x="8039100" y="6213053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45"/>
          <p:cNvSpPr/>
          <p:nvPr/>
        </p:nvSpPr>
        <p:spPr>
          <a:xfrm>
            <a:off x="8039100" y="4952033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WHAT BOOKS 10–11 ADD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45"/>
          <p:cNvSpPr/>
          <p:nvPr/>
        </p:nvSpPr>
        <p:spPr>
          <a:xfrm>
            <a:off x="8039100" y="5285408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two extremes that complete the frame: the dangerous woman who becomes a helper, and the wife who becomes a killer.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45"/>
          <p:cNvSpPr/>
          <p:nvPr/>
        </p:nvSpPr>
        <p:spPr>
          <a:xfrm>
            <a:off x="8039100" y="6432128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AT THE CENTRE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45"/>
          <p:cNvSpPr/>
          <p:nvPr/>
        </p:nvSpPr>
        <p:spPr>
          <a:xfrm>
            <a:off x="8039100" y="6765503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Penelope — still barely seen — stands at the centre of this widening circle: every woman we meet is silently measured against her.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45"/>
          <p:cNvSpPr/>
          <p:nvPr/>
        </p:nvSpPr>
        <p:spPr>
          <a:xfrm>
            <a:off x="990600" y="9534525"/>
            <a:ext cx="341992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21 · Women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2" name="Google Shape;1152;p45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46"/>
          <p:cNvSpPr/>
          <p:nvPr/>
        </p:nvSpPr>
        <p:spPr>
          <a:xfrm>
            <a:off x="990600" y="666750"/>
            <a:ext cx="149832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DETAIL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46"/>
          <p:cNvSpPr/>
          <p:nvPr/>
        </p:nvSpPr>
        <p:spPr>
          <a:xfrm>
            <a:off x="2584177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46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Circe: threat into helper </a:t>
            </a:r>
            <a:r>
              <a:rPr b="0" i="1" lang="en-US" sz="465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(Books 10 &amp; 12)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46"/>
          <p:cNvSpPr/>
          <p:nvPr/>
        </p:nvSpPr>
        <p:spPr>
          <a:xfrm>
            <a:off x="990600" y="3143101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46"/>
          <p:cNvSpPr/>
          <p:nvPr/>
        </p:nvSpPr>
        <p:spPr>
          <a:xfrm>
            <a:off x="990600" y="2205930"/>
            <a:ext cx="29337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The threat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46"/>
          <p:cNvSpPr/>
          <p:nvPr/>
        </p:nvSpPr>
        <p:spPr>
          <a:xfrm>
            <a:off x="4000500" y="2244030"/>
            <a:ext cx="13695807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 goddess-witch on Aiaia, singing at her loom in a house ringed by drugged wolves and lions — domestic beauty concealing danger. Her potion and wand turn Eurylochus's party into pigs, their minds horribly intact.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46"/>
          <p:cNvSpPr/>
          <p:nvPr/>
        </p:nvSpPr>
        <p:spPr>
          <a:xfrm>
            <a:off x="990600" y="4629820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46"/>
          <p:cNvSpPr/>
          <p:nvPr/>
        </p:nvSpPr>
        <p:spPr>
          <a:xfrm>
            <a:off x="990600" y="3333601"/>
            <a:ext cx="29337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mastering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46"/>
          <p:cNvSpPr/>
          <p:nvPr/>
        </p:nvSpPr>
        <p:spPr>
          <a:xfrm>
            <a:off x="4000500" y="3371701"/>
            <a:ext cx="13695807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Armed with Hermes' moly and instructions, Odysseus drinks unharmed, draws his sword as she strikes, and — before her bed — makes her swear the great oath of the gods to attempt no more harm. Power neutralised on his terms.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46"/>
          <p:cNvSpPr/>
          <p:nvPr/>
        </p:nvSpPr>
        <p:spPr>
          <a:xfrm>
            <a:off x="990600" y="5757490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46"/>
          <p:cNvSpPr/>
          <p:nvPr/>
        </p:nvSpPr>
        <p:spPr>
          <a:xfrm>
            <a:off x="990600" y="4820320"/>
            <a:ext cx="29337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turn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46"/>
          <p:cNvSpPr/>
          <p:nvPr/>
        </p:nvSpPr>
        <p:spPr>
          <a:xfrm>
            <a:off x="4000500" y="4858420"/>
            <a:ext cx="13695807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Once beaten, Circe becomes the perfect hostess — the men restored, younger and more handsome than before; a year of feasting; baths, food, honour.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46"/>
          <p:cNvSpPr/>
          <p:nvPr/>
        </p:nvSpPr>
        <p:spPr>
          <a:xfrm>
            <a:off x="990600" y="7244209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46"/>
          <p:cNvSpPr/>
          <p:nvPr/>
        </p:nvSpPr>
        <p:spPr>
          <a:xfrm>
            <a:off x="990600" y="5947990"/>
            <a:ext cx="29337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helper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46"/>
          <p:cNvSpPr/>
          <p:nvPr/>
        </p:nvSpPr>
        <p:spPr>
          <a:xfrm>
            <a:off x="4000500" y="5986090"/>
            <a:ext cx="13695807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It is Circe who sends him to Teiresias, prescribes the entire Nekyia ritual, and — on his return — maps the route home danger by danger: the Sirens, Scylla or Charybdis, the arithmetic of six lives, the warning about the cattle (Book 12).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46"/>
          <p:cNvSpPr/>
          <p:nvPr/>
        </p:nvSpPr>
        <p:spPr>
          <a:xfrm>
            <a:off x="990600" y="7434709"/>
            <a:ext cx="29337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The arc's sting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46"/>
          <p:cNvSpPr/>
          <p:nvPr/>
        </p:nvSpPr>
        <p:spPr>
          <a:xfrm>
            <a:off x="4000500" y="7472809"/>
            <a:ext cx="13695807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Threat → conquest → ally: female power that, unlike Calypso's, ends up serving the nostos. Yet note who forgets home for a year in her house — her softest power proved the strongest.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46"/>
          <p:cNvSpPr/>
          <p:nvPr/>
        </p:nvSpPr>
        <p:spPr>
          <a:xfrm>
            <a:off x="990600" y="9534525"/>
            <a:ext cx="341992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21 · Women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6" name="Google Shape;1176;p46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47"/>
          <p:cNvSpPr/>
          <p:nvPr/>
        </p:nvSpPr>
        <p:spPr>
          <a:xfrm>
            <a:off x="990600" y="666750"/>
            <a:ext cx="333925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DETAIL &amp; ANALYSIS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47"/>
          <p:cNvSpPr/>
          <p:nvPr/>
        </p:nvSpPr>
        <p:spPr>
          <a:xfrm>
            <a:off x="4404047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47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Clytemnestra — and the heroines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47"/>
          <p:cNvSpPr/>
          <p:nvPr/>
        </p:nvSpPr>
        <p:spPr>
          <a:xfrm>
            <a:off x="990600" y="3181201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47"/>
          <p:cNvSpPr/>
          <p:nvPr/>
        </p:nvSpPr>
        <p:spPr>
          <a:xfrm>
            <a:off x="990600" y="2234505"/>
            <a:ext cx="3562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Offstage entirely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47"/>
          <p:cNvSpPr/>
          <p:nvPr/>
        </p:nvSpPr>
        <p:spPr>
          <a:xfrm>
            <a:off x="4572000" y="2272605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Clytemnestra never appears in the poem — she exists entirely in men's telling, above all her husband's shade (Lesson 20): the plotter of 'that shameful deed', killer of Cassandra, refuser of the last decencies.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47"/>
          <p:cNvSpPr/>
          <p:nvPr/>
        </p:nvSpPr>
        <p:spPr>
          <a:xfrm>
            <a:off x="990600" y="4327922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47"/>
          <p:cNvSpPr/>
          <p:nvPr/>
        </p:nvSpPr>
        <p:spPr>
          <a:xfrm>
            <a:off x="990600" y="3381226"/>
            <a:ext cx="3562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The limit-case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47"/>
          <p:cNvSpPr/>
          <p:nvPr/>
        </p:nvSpPr>
        <p:spPr>
          <a:xfrm>
            <a:off x="4572000" y="3419326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What a wife's intelligence and resolve become when turned against the homecoming rather than towards it. Penelope's qualities — inverted.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47"/>
          <p:cNvSpPr/>
          <p:nvPr/>
        </p:nvSpPr>
        <p:spPr>
          <a:xfrm>
            <a:off x="990600" y="5474643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47"/>
          <p:cNvSpPr/>
          <p:nvPr/>
        </p:nvSpPr>
        <p:spPr>
          <a:xfrm>
            <a:off x="990600" y="4527947"/>
            <a:ext cx="3562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Analyse the bitterness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47"/>
          <p:cNvSpPr/>
          <p:nvPr/>
        </p:nvSpPr>
        <p:spPr>
          <a:xfrm>
            <a:off x="4572000" y="4566047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Agamemnon's generalisation ('shame on all women') is itself worth analysing: the poem quotes male bitterness while its own narrative refutes it — through Penelope, Arete, Nausicaa, Eurycleia.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47"/>
          <p:cNvSpPr/>
          <p:nvPr/>
        </p:nvSpPr>
        <p:spPr>
          <a:xfrm>
            <a:off x="990600" y="6646218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47"/>
          <p:cNvSpPr/>
          <p:nvPr/>
        </p:nvSpPr>
        <p:spPr>
          <a:xfrm>
            <a:off x="990600" y="5674668"/>
            <a:ext cx="3335655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catalogue of heroines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47"/>
          <p:cNvSpPr/>
          <p:nvPr/>
        </p:nvSpPr>
        <p:spPr>
          <a:xfrm>
            <a:off x="4572000" y="5712768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Around these extremes, Book 11 parades Tyro, Antiope, Alcmene, Epicaste (Oedipus's mother), Leda and more — the famous women of legend, mothers of heroes by gods and men.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47"/>
          <p:cNvSpPr/>
          <p:nvPr/>
        </p:nvSpPr>
        <p:spPr>
          <a:xfrm>
            <a:off x="990600" y="6846243"/>
            <a:ext cx="3562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catalogue's effect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47"/>
          <p:cNvSpPr/>
          <p:nvPr/>
        </p:nvSpPr>
        <p:spPr>
          <a:xfrm>
            <a:off x="4572000" y="6884343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Women as the connective tissue of the heroic age — and an audience-pleaser with a frame: it is when the heroines finish that Arete, a queen, is first to speak in praise of the teller.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47"/>
          <p:cNvSpPr/>
          <p:nvPr/>
        </p:nvSpPr>
        <p:spPr>
          <a:xfrm>
            <a:off x="990600" y="9534525"/>
            <a:ext cx="341992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21 · Women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0" name="Google Shape;1200;p47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4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50000">
                <a:srgbClr val="0D1433"/>
              </a:gs>
              <a:gs pos="100000">
                <a:srgbClr val="080C1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7" name="Google Shape;120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8" name="Google Shape;1208;p48"/>
          <p:cNvSpPr/>
          <p:nvPr/>
        </p:nvSpPr>
        <p:spPr>
          <a:xfrm>
            <a:off x="1714500" y="2001589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48"/>
          <p:cNvSpPr/>
          <p:nvPr/>
        </p:nvSpPr>
        <p:spPr>
          <a:xfrm>
            <a:off x="4016722" y="2132558"/>
            <a:ext cx="666750" cy="19050"/>
          </a:xfrm>
          <a:prstGeom prst="rect">
            <a:avLst/>
          </a:prstGeom>
          <a:solidFill>
            <a:srgbClr val="5E9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48"/>
          <p:cNvSpPr/>
          <p:nvPr/>
        </p:nvSpPr>
        <p:spPr>
          <a:xfrm>
            <a:off x="1714500" y="2606427"/>
            <a:ext cx="15716250" cy="902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439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300"/>
              <a:buFont typeface="Lora"/>
              <a:buNone/>
            </a:pPr>
            <a:r>
              <a:rPr b="1" i="1" lang="en-US" sz="63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spectrum — </a:t>
            </a:r>
            <a:r>
              <a:rPr b="1" i="1" lang="en-US" sz="63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nearly complete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48"/>
          <p:cNvSpPr/>
          <p:nvPr/>
        </p:nvSpPr>
        <p:spPr>
          <a:xfrm>
            <a:off x="1714500" y="3927723"/>
            <a:ext cx="2216564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555"/>
              </a:buClr>
              <a:buSzPts val="2550"/>
              <a:buFont typeface="Lora"/>
              <a:buNone/>
            </a:pPr>
            <a:r>
              <a:rPr b="1" i="1" lang="en-US" sz="2550" u="none" cap="none" strike="noStrike">
                <a:solidFill>
                  <a:srgbClr val="E05555"/>
                </a:solidFill>
                <a:latin typeface="Lora"/>
                <a:ea typeface="Lora"/>
                <a:cs typeface="Lora"/>
                <a:sym typeface="Lora"/>
              </a:rPr>
              <a:t>Clytemnestra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48"/>
          <p:cNvSpPr/>
          <p:nvPr/>
        </p:nvSpPr>
        <p:spPr>
          <a:xfrm>
            <a:off x="3939108" y="3984873"/>
            <a:ext cx="1709388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destroyer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48"/>
          <p:cNvSpPr/>
          <p:nvPr/>
        </p:nvSpPr>
        <p:spPr>
          <a:xfrm>
            <a:off x="5702647" y="4130129"/>
            <a:ext cx="571500" cy="9525"/>
          </a:xfrm>
          <a:prstGeom prst="rect">
            <a:avLst/>
          </a:prstGeom>
          <a:solidFill>
            <a:srgbClr val="FFFFFF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48"/>
          <p:cNvSpPr/>
          <p:nvPr/>
        </p:nvSpPr>
        <p:spPr>
          <a:xfrm>
            <a:off x="6483697" y="3927723"/>
            <a:ext cx="928613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Lora"/>
              <a:buNone/>
            </a:pPr>
            <a:r>
              <a:rPr b="1" i="1" lang="en-US" sz="25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Helen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48"/>
          <p:cNvSpPr/>
          <p:nvPr/>
        </p:nvSpPr>
        <p:spPr>
          <a:xfrm>
            <a:off x="7545660" y="3984873"/>
            <a:ext cx="1906414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ambiguous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48"/>
          <p:cNvSpPr/>
          <p:nvPr/>
        </p:nvSpPr>
        <p:spPr>
          <a:xfrm>
            <a:off x="9488314" y="4130129"/>
            <a:ext cx="571500" cy="9525"/>
          </a:xfrm>
          <a:prstGeom prst="rect">
            <a:avLst/>
          </a:prstGeom>
          <a:solidFill>
            <a:srgbClr val="FFFFFF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8"/>
          <p:cNvSpPr/>
          <p:nvPr/>
        </p:nvSpPr>
        <p:spPr>
          <a:xfrm>
            <a:off x="10269364" y="3927723"/>
            <a:ext cx="2592363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Lora"/>
              <a:buNone/>
            </a:pPr>
            <a:r>
              <a:rPr b="1" i="1" lang="en-US" sz="25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Calypso &amp; Circe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48"/>
          <p:cNvSpPr/>
          <p:nvPr/>
        </p:nvSpPr>
        <p:spPr>
          <a:xfrm>
            <a:off x="12835607" y="3984873"/>
            <a:ext cx="2049415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divine detainers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48"/>
          <p:cNvSpPr/>
          <p:nvPr/>
        </p:nvSpPr>
        <p:spPr>
          <a:xfrm>
            <a:off x="14908262" y="4130129"/>
            <a:ext cx="571500" cy="9525"/>
          </a:xfrm>
          <a:prstGeom prst="rect">
            <a:avLst/>
          </a:prstGeom>
          <a:solidFill>
            <a:srgbClr val="FFFFFF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48"/>
          <p:cNvSpPr/>
          <p:nvPr/>
        </p:nvSpPr>
        <p:spPr>
          <a:xfrm>
            <a:off x="1714500" y="4551611"/>
            <a:ext cx="1514735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Lora"/>
              <a:buNone/>
            </a:pPr>
            <a:r>
              <a:rPr b="1" i="1" lang="en-US" sz="25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Nausicaa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48"/>
          <p:cNvSpPr/>
          <p:nvPr/>
        </p:nvSpPr>
        <p:spPr>
          <a:xfrm>
            <a:off x="3301082" y="4608761"/>
            <a:ext cx="160142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innocent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48"/>
          <p:cNvSpPr/>
          <p:nvPr/>
        </p:nvSpPr>
        <p:spPr>
          <a:xfrm>
            <a:off x="4966469" y="4754017"/>
            <a:ext cx="571500" cy="9525"/>
          </a:xfrm>
          <a:prstGeom prst="rect">
            <a:avLst/>
          </a:prstGeom>
          <a:solidFill>
            <a:srgbClr val="FFFFFF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48"/>
          <p:cNvSpPr/>
          <p:nvPr/>
        </p:nvSpPr>
        <p:spPr>
          <a:xfrm>
            <a:off x="5747519" y="4551611"/>
            <a:ext cx="86484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550"/>
              <a:buFont typeface="Lora"/>
              <a:buNone/>
            </a:pPr>
            <a:r>
              <a:rPr b="1" i="1" lang="en-US" sz="255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Arete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48"/>
          <p:cNvSpPr/>
          <p:nvPr/>
        </p:nvSpPr>
        <p:spPr>
          <a:xfrm>
            <a:off x="6745709" y="4608761"/>
            <a:ext cx="1632034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authority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48"/>
          <p:cNvSpPr/>
          <p:nvPr/>
        </p:nvSpPr>
        <p:spPr>
          <a:xfrm>
            <a:off x="1714500" y="5461248"/>
            <a:ext cx="4572000" cy="9525"/>
          </a:xfrm>
          <a:prstGeom prst="rect">
            <a:avLst/>
          </a:prstGeom>
          <a:solidFill>
            <a:srgbClr val="FFFFFF">
              <a:alpha val="1411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48"/>
          <p:cNvSpPr/>
          <p:nvPr/>
        </p:nvSpPr>
        <p:spPr>
          <a:xfrm>
            <a:off x="1714500" y="5718423"/>
            <a:ext cx="50292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TWO PATTERNS TO ARGUE WITH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48"/>
          <p:cNvSpPr/>
          <p:nvPr/>
        </p:nvSpPr>
        <p:spPr>
          <a:xfrm>
            <a:off x="1714500" y="6056561"/>
            <a:ext cx="4709160" cy="2266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Female power in this poem is real but bounded (by Zeus, by marriage, by reputation); and the most dangerous female power is not violence but the power to make a man stop — to forget, to stay, to soften.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48"/>
          <p:cNvSpPr/>
          <p:nvPr/>
        </p:nvSpPr>
        <p:spPr>
          <a:xfrm>
            <a:off x="6858000" y="5461248"/>
            <a:ext cx="4572000" cy="9525"/>
          </a:xfrm>
          <a:prstGeom prst="rect">
            <a:avLst/>
          </a:prstGeom>
          <a:solidFill>
            <a:srgbClr val="FFFFFF">
              <a:alpha val="1411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48"/>
          <p:cNvSpPr/>
          <p:nvPr/>
        </p:nvSpPr>
        <p:spPr>
          <a:xfrm>
            <a:off x="6858000" y="5718423"/>
            <a:ext cx="50292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EVERY FIGURE A FOIL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48"/>
          <p:cNvSpPr/>
          <p:nvPr/>
        </p:nvSpPr>
        <p:spPr>
          <a:xfrm>
            <a:off x="6858000" y="6056561"/>
            <a:ext cx="4709160" cy="1895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poem has spent eleven books teaching us the full range of what a woman might be — precisely so that we can measure the wife when the story finally reaches her.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48"/>
          <p:cNvSpPr/>
          <p:nvPr/>
        </p:nvSpPr>
        <p:spPr>
          <a:xfrm>
            <a:off x="12001500" y="5461248"/>
            <a:ext cx="4572000" cy="9525"/>
          </a:xfrm>
          <a:prstGeom prst="rect">
            <a:avLst/>
          </a:prstGeom>
          <a:solidFill>
            <a:srgbClr val="FFFFFF">
              <a:alpha val="1411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48"/>
          <p:cNvSpPr/>
          <p:nvPr/>
        </p:nvSpPr>
        <p:spPr>
          <a:xfrm>
            <a:off x="12001500" y="5718423"/>
            <a:ext cx="50292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F5C842"/>
                </a:solidFill>
                <a:latin typeface="Inter"/>
                <a:ea typeface="Inter"/>
                <a:cs typeface="Inter"/>
                <a:sym typeface="Inter"/>
              </a:rPr>
              <a:t>ESSAY-READY CONTRAST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48"/>
          <p:cNvSpPr/>
          <p:nvPr/>
        </p:nvSpPr>
        <p:spPr>
          <a:xfrm>
            <a:off x="12001500" y="6056561"/>
            <a:ext cx="4709160" cy="1895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Circe and Clytemnestra both deceive men at a feast — one turns guests to pigs and is converted to a helper; the other turns a feast to a slaughter and becomes the poem's darkest memory.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34" name="Google Shape;1234;p48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7145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49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49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49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49"/>
          <p:cNvSpPr/>
          <p:nvPr/>
        </p:nvSpPr>
        <p:spPr>
          <a:xfrm>
            <a:off x="990600" y="2100263"/>
            <a:ext cx="5232350" cy="3896097"/>
          </a:xfrm>
          <a:prstGeom prst="roundRect">
            <a:avLst>
              <a:gd fmla="val 3912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49"/>
          <p:cNvSpPr/>
          <p:nvPr/>
        </p:nvSpPr>
        <p:spPr>
          <a:xfrm>
            <a:off x="1343025" y="2414588"/>
            <a:ext cx="1821433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49"/>
          <p:cNvSpPr/>
          <p:nvPr/>
        </p:nvSpPr>
        <p:spPr>
          <a:xfrm>
            <a:off x="1476375" y="2471738"/>
            <a:ext cx="1630933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10, 12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49"/>
          <p:cNvSpPr/>
          <p:nvPr/>
        </p:nvSpPr>
        <p:spPr>
          <a:xfrm>
            <a:off x="1343025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Circe's arc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49"/>
          <p:cNvSpPr/>
          <p:nvPr/>
        </p:nvSpPr>
        <p:spPr>
          <a:xfrm>
            <a:off x="1343025" y="3428479"/>
            <a:ext cx="4663325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Threat (potion, wand, pigs with minds intact) → mastered (moly, sword, the great oath) → helper (restoration, the year, the Nekyia rite, the route home).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49"/>
          <p:cNvSpPr/>
          <p:nvPr/>
        </p:nvSpPr>
        <p:spPr>
          <a:xfrm>
            <a:off x="1343025" y="4857229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49"/>
          <p:cNvSpPr/>
          <p:nvPr/>
        </p:nvSpPr>
        <p:spPr>
          <a:xfrm>
            <a:off x="1343025" y="5019154"/>
            <a:ext cx="4663325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Her softest power was strongest: the captain himself forgot home for a year.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49"/>
          <p:cNvSpPr/>
          <p:nvPr/>
        </p:nvSpPr>
        <p:spPr>
          <a:xfrm>
            <a:off x="6527750" y="2100263"/>
            <a:ext cx="5232425" cy="3896097"/>
          </a:xfrm>
          <a:prstGeom prst="roundRect">
            <a:avLst>
              <a:gd fmla="val 3912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49"/>
          <p:cNvSpPr/>
          <p:nvPr/>
        </p:nvSpPr>
        <p:spPr>
          <a:xfrm>
            <a:off x="6880175" y="2414588"/>
            <a:ext cx="1219423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49"/>
          <p:cNvSpPr/>
          <p:nvPr/>
        </p:nvSpPr>
        <p:spPr>
          <a:xfrm>
            <a:off x="7013525" y="2471738"/>
            <a:ext cx="1028923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49"/>
          <p:cNvSpPr/>
          <p:nvPr/>
        </p:nvSpPr>
        <p:spPr>
          <a:xfrm>
            <a:off x="6880175" y="2933700"/>
            <a:ext cx="4980332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Clytemnestra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49"/>
          <p:cNvSpPr/>
          <p:nvPr/>
        </p:nvSpPr>
        <p:spPr>
          <a:xfrm>
            <a:off x="6880175" y="3428479"/>
            <a:ext cx="4663402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Exists only in men's telling: the feast-slaughter, Cassandra, the refused decencies.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49"/>
          <p:cNvSpPr/>
          <p:nvPr/>
        </p:nvSpPr>
        <p:spPr>
          <a:xfrm>
            <a:off x="6880175" y="4525789"/>
            <a:ext cx="4527575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49"/>
          <p:cNvSpPr/>
          <p:nvPr/>
        </p:nvSpPr>
        <p:spPr>
          <a:xfrm>
            <a:off x="6880175" y="4687714"/>
            <a:ext cx="4663402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Penelope inverted — the same intelligence and resolve, turned against the homecoming.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49"/>
          <p:cNvSpPr/>
          <p:nvPr/>
        </p:nvSpPr>
        <p:spPr>
          <a:xfrm>
            <a:off x="12064975" y="2100263"/>
            <a:ext cx="5232350" cy="3896097"/>
          </a:xfrm>
          <a:prstGeom prst="roundRect">
            <a:avLst>
              <a:gd fmla="val 3912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49"/>
          <p:cNvSpPr/>
          <p:nvPr/>
        </p:nvSpPr>
        <p:spPr>
          <a:xfrm>
            <a:off x="12417400" y="2414588"/>
            <a:ext cx="1219423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49"/>
          <p:cNvSpPr/>
          <p:nvPr/>
        </p:nvSpPr>
        <p:spPr>
          <a:xfrm>
            <a:off x="12550750" y="2471738"/>
            <a:ext cx="1028923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49"/>
          <p:cNvSpPr/>
          <p:nvPr/>
        </p:nvSpPr>
        <p:spPr>
          <a:xfrm>
            <a:off x="12417400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heroines &amp; the spectrum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49"/>
          <p:cNvSpPr/>
          <p:nvPr/>
        </p:nvSpPr>
        <p:spPr>
          <a:xfrm>
            <a:off x="12417400" y="3428479"/>
            <a:ext cx="4663325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catalogue (Tyro, Antiope, Alcmene, Epicaste, Leda…): women as the lineage of the heroic age.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49"/>
          <p:cNvSpPr/>
          <p:nvPr/>
        </p:nvSpPr>
        <p:spPr>
          <a:xfrm>
            <a:off x="12417400" y="4525789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49"/>
          <p:cNvSpPr/>
          <p:nvPr/>
        </p:nvSpPr>
        <p:spPr>
          <a:xfrm>
            <a:off x="12417400" y="4687714"/>
            <a:ext cx="4663325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Spectrum: Clytemnestra – Helen – Calypso/Circe – Nausicaa – Arete: every point a foil for Penelope.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49"/>
          <p:cNvSpPr/>
          <p:nvPr/>
        </p:nvSpPr>
        <p:spPr>
          <a:xfrm>
            <a:off x="990600" y="9534525"/>
            <a:ext cx="341992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21 · Women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5" name="Google Shape;1265;p49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50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50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50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50"/>
          <p:cNvSpPr/>
          <p:nvPr/>
        </p:nvSpPr>
        <p:spPr>
          <a:xfrm>
            <a:off x="990600" y="2115071"/>
            <a:ext cx="5334000" cy="3464644"/>
          </a:xfrm>
          <a:prstGeom prst="roundRect">
            <a:avLst>
              <a:gd fmla="val 4399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50"/>
          <p:cNvSpPr/>
          <p:nvPr/>
        </p:nvSpPr>
        <p:spPr>
          <a:xfrm>
            <a:off x="1390650" y="2457971"/>
            <a:ext cx="498729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50"/>
          <p:cNvSpPr/>
          <p:nvPr/>
        </p:nvSpPr>
        <p:spPr>
          <a:xfrm>
            <a:off x="1390650" y="4252913"/>
            <a:ext cx="45339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50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50"/>
          <p:cNvSpPr/>
          <p:nvPr/>
        </p:nvSpPr>
        <p:spPr>
          <a:xfrm>
            <a:off x="1758628" y="3019946"/>
            <a:ext cx="4290900" cy="11567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Characterise Circe across her whole arc, and Clytemnestra from the shade's account.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50"/>
          <p:cNvSpPr/>
          <p:nvPr/>
        </p:nvSpPr>
        <p:spPr>
          <a:xfrm>
            <a:off x="1390650" y="4405313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50"/>
          <p:cNvSpPr/>
          <p:nvPr/>
        </p:nvSpPr>
        <p:spPr>
          <a:xfrm>
            <a:off x="1758628" y="4376738"/>
            <a:ext cx="4290900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Place both on the poem's spectrum of women.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50"/>
          <p:cNvSpPr/>
          <p:nvPr/>
        </p:nvSpPr>
        <p:spPr>
          <a:xfrm>
            <a:off x="990600" y="5827365"/>
            <a:ext cx="5334000" cy="1703933"/>
          </a:xfrm>
          <a:prstGeom prst="roundRect">
            <a:avLst>
              <a:gd fmla="val 6708" name="adj"/>
            </a:avLst>
          </a:prstGeom>
          <a:solidFill>
            <a:srgbClr val="1A6FFF">
              <a:alpha val="7058"/>
            </a:srgbClr>
          </a:solidFill>
          <a:ln cap="flat" cmpd="sng" w="9525">
            <a:solidFill>
              <a:srgbClr val="1A6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50"/>
          <p:cNvSpPr/>
          <p:nvPr/>
        </p:nvSpPr>
        <p:spPr>
          <a:xfrm>
            <a:off x="1285875" y="6027390"/>
            <a:ext cx="1602566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NEXT TOPIC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50"/>
          <p:cNvSpPr/>
          <p:nvPr/>
        </p:nvSpPr>
        <p:spPr>
          <a:xfrm>
            <a:off x="1285875" y="6336953"/>
            <a:ext cx="4885754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tales are told; the magic ship sails. Odysseus lands on Ithaca at last — disguise, testing, and the road to revenge.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50"/>
          <p:cNvSpPr/>
          <p:nvPr/>
        </p:nvSpPr>
        <p:spPr>
          <a:xfrm>
            <a:off x="6743700" y="2817019"/>
            <a:ext cx="105537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50"/>
          <p:cNvSpPr/>
          <p:nvPr/>
        </p:nvSpPr>
        <p:spPr>
          <a:xfrm>
            <a:off x="6743700" y="2348433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TRACE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50"/>
          <p:cNvSpPr/>
          <p:nvPr/>
        </p:nvSpPr>
        <p:spPr>
          <a:xfrm>
            <a:off x="8743950" y="2286521"/>
            <a:ext cx="8362273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Circe's arc in three stages, with one piece of evidence per stage.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50"/>
          <p:cNvSpPr/>
          <p:nvPr/>
        </p:nvSpPr>
        <p:spPr>
          <a:xfrm>
            <a:off x="6743700" y="3887539"/>
            <a:ext cx="105537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50"/>
          <p:cNvSpPr/>
          <p:nvPr/>
        </p:nvSpPr>
        <p:spPr>
          <a:xfrm>
            <a:off x="6743700" y="3059906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ANALYSE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50"/>
          <p:cNvSpPr/>
          <p:nvPr/>
        </p:nvSpPr>
        <p:spPr>
          <a:xfrm>
            <a:off x="8743950" y="2997994"/>
            <a:ext cx="8810054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Why is Clytemnestra kept offstage — what does existing only in men's words do to her?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50"/>
          <p:cNvSpPr/>
          <p:nvPr/>
        </p:nvSpPr>
        <p:spPr>
          <a:xfrm>
            <a:off x="6743700" y="4599012"/>
            <a:ext cx="105537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50"/>
          <p:cNvSpPr/>
          <p:nvPr/>
        </p:nvSpPr>
        <p:spPr>
          <a:xfrm>
            <a:off x="6743700" y="4130427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COMPARE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50"/>
          <p:cNvSpPr/>
          <p:nvPr/>
        </p:nvSpPr>
        <p:spPr>
          <a:xfrm>
            <a:off x="8743950" y="4068514"/>
            <a:ext cx="8484401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Circe and Calypso — both divine detainers; what separates them?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50"/>
          <p:cNvSpPr/>
          <p:nvPr/>
        </p:nvSpPr>
        <p:spPr>
          <a:xfrm>
            <a:off x="6743700" y="4841900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50"/>
          <p:cNvSpPr/>
          <p:nvPr/>
        </p:nvSpPr>
        <p:spPr>
          <a:xfrm>
            <a:off x="8743950" y="4779987"/>
            <a:ext cx="8810054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'The Odyssey's women exist only to define Penelope.'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 do you agree, using Books 1–12?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50"/>
          <p:cNvSpPr/>
          <p:nvPr/>
        </p:nvSpPr>
        <p:spPr>
          <a:xfrm>
            <a:off x="990600" y="9534525"/>
            <a:ext cx="341992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21 · Women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6" name="Google Shape;1296;p50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2026-07-16T11:58:09Z</dcterms:created>
  <dc:creator>PptxGenJS</dc:creator>
</cp:coreProperties>
</file>