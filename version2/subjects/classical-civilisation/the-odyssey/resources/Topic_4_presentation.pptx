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10287000" cx="18288000"/>
  <p:notesSz cx="10287000" cy="18288000"/>
  <p:embeddedFontLst>
    <p:embeddedFont>
      <p:font typeface="Inter"/>
      <p:regular r:id="rId41"/>
      <p:bold r:id="rId42"/>
      <p:italic r:id="rId43"/>
      <p:boldItalic r:id="rId44"/>
    </p:embeddedFont>
    <p:embeddedFont>
      <p:font typeface="Lora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iHa174Qj06RikcOqlI0NS8pJrx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font" Target="fonts/Inter-bold.fntdata"/><Relationship Id="rId41" Type="http://schemas.openxmlformats.org/officeDocument/2006/relationships/font" Target="fonts/Inter-regular.fntdata"/><Relationship Id="rId44" Type="http://schemas.openxmlformats.org/officeDocument/2006/relationships/font" Target="fonts/Inter-boldItalic.fntdata"/><Relationship Id="rId43" Type="http://schemas.openxmlformats.org/officeDocument/2006/relationships/font" Target="fonts/Inter-italic.fntdata"/><Relationship Id="rId46" Type="http://schemas.openxmlformats.org/officeDocument/2006/relationships/font" Target="fonts/Lora-bold.fntdata"/><Relationship Id="rId45" Type="http://schemas.openxmlformats.org/officeDocument/2006/relationships/font" Target="fonts/Lor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Lora-boldItalic.fntdata"/><Relationship Id="rId47" Type="http://schemas.openxmlformats.org/officeDocument/2006/relationships/font" Target="fonts/Lora-italic.fntdata"/><Relationship Id="rId4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OCR A Level Classical Civilisation, Component 11: The World of the Hero. Topic 4 covers Books 13–16, the Homecoming, across lessons 22–26.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tale is told; the Phaeacians land Odysseus asleep on Ithaca. Exact halfway point: Books 1–12 away, 13–24 on Ithaca. The engine from here is the beggar-disguise and its dramatic irony; and the two strands converge as Telemachus comes home.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New: deception and the Cretan lies; loyalty, betrayal and slavery; fathers and sons. Revisited: disguise and recognition, xenia from below, nostos. Agamemnon's advice is now the script. Books 13 and 16 prescribed; 14–15 context.</a:t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22, revisiting disguise and recognition as the beggar-disguise — the engine of the poem's second half — is created.</a:t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 1: the disguise–token–recognition pattern. Topic 3: disguise as survival — Nobody, and the beggar-spy in Troy. Now disguise becomes the structure of the poem. Two running questions: who recognises him and by what means; what does each recognition cost?</a:t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beats: the sleeping landing; Poseidon's stone ship fulfilling Book 8's prophecy; waking in mist and counting the treasure; the instant lie to the 'shepherd'; Athene's delighted reveal — two schemers recognising each other.</a:t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Athene endorses the testing instinct; treasure hidden in the cave of the Nymphs; the beggar made — a transformation, not a costume; labour divided (Eumaeus first, Athene to Sparta); and what disguise now means: the king at the bottom of the honour-scale.</a:t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beats: the dogs and Eumaeus's father-simile; the restoration and Telemachus's awe; 'No god am I — I am your father' met with disbelief; the token problem — the proof is the transformation itself; the birds-of-prey simile — grief inside the joy.</a:t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Four effects: eight books of dramatic irony; identity as a test Odysseus administers; the social world inverted; and four themes fused in one device — mētis, tlēmosynē, nostos, Agamemnon's warning.</a:t>
            </a:r>
            <a:endParaRPr/>
          </a:p>
        </p:txBody>
      </p:sp>
      <p:sp>
        <p:nvSpPr>
          <p:cNvPr id="199" name="Google Shape;1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the landing; two schemers; the beggar made; father and son.</a:t>
            </a:r>
            <a:endParaRPr/>
          </a:p>
        </p:txBody>
      </p:sp>
      <p:sp>
        <p:nvSpPr>
          <p:cNvPr id="221" name="Google Shape;2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the success criteria, then the retell–analyse–compare–evaluate ladder on Books 13 and 16.</a:t>
            </a:r>
            <a:endParaRPr/>
          </a:p>
        </p:txBody>
      </p:sp>
      <p:sp>
        <p:nvSpPr>
          <p:cNvPr id="259" name="Google Shape;2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23, a new idea: the lying tales as testing, self-protection — and storytelling turned into a weapon.</a:t>
            </a:r>
            <a:endParaRPr/>
          </a:p>
        </p:txBody>
      </p:sp>
      <p:sp>
        <p:nvSpPr>
          <p:cNvPr id="287" name="Google Shape;28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From the moment he lands he tells almost no one the truth. Crafted narratives, not panic lies. Purposes: concealment, testing, control. Agamemnon's advice enacted. Learn this: false autobiographies — plausible, detailed, part-true.</a:t>
            </a:r>
            <a:endParaRPr/>
          </a:p>
        </p:txBody>
      </p:sp>
      <p:sp>
        <p:nvSpPr>
          <p:cNvPr id="306" name="Google Shape;30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Lie 1 to the shepherd: a killer's tale explaining the treasure. Lie 2 to Eumaeus, the longest: the Cretan noble's bastard son. The craft: real anchors, distance, pity, tuning. Each carries the true cargo — 'Odysseus is alive and near'. Eumaeus believes the pain, rejects the news, feeds him anyway.</a:t>
            </a:r>
            <a:endParaRPr/>
          </a:p>
        </p:txBody>
      </p:sp>
      <p:sp>
        <p:nvSpPr>
          <p:cNvPr id="329" name="Google Shape;32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lies are mētis in its purest social form; they push the storytelling question of Topic 3 to its edge; Homer plays with it openly — falsehoods seeming like truth; the gods endorse it; keep protective lies distinct from the suitors' and Clytemnestra's deceits.</a:t>
            </a:r>
            <a:endParaRPr/>
          </a:p>
        </p:txBody>
      </p:sp>
      <p:sp>
        <p:nvSpPr>
          <p:cNvPr id="355" name="Google Shape;35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what the lies are; the craft; Eumaeus's result; lies and the bard.</a:t>
            </a:r>
            <a:endParaRPr/>
          </a:p>
        </p:txBody>
      </p:sp>
      <p:sp>
        <p:nvSpPr>
          <p:cNvPr id="380" name="Google Shape;38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the success criteria, then the anatomise–explain–discuss–evaluate ladder on Books 13–14.</a:t>
            </a:r>
            <a:endParaRPr/>
          </a:p>
        </p:txBody>
      </p:sp>
      <p:sp>
        <p:nvSpPr>
          <p:cNvPr id="418" name="Google Shape;41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24, a new idea: how the household is sorted — loyal against faithless — and what the poem shows about enslaved people.</a:t>
            </a:r>
            <a:endParaRPr/>
          </a:p>
        </p:txBody>
      </p:sp>
      <p:sp>
        <p:nvSpPr>
          <p:cNvPr id="446" name="Google Shape;44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second half is a great audit: everyone sorted, loyal or faithless, and the sorting decides who lives. The tester is the disguise; the stakes are twenty years of absence; Book 14 gives the gold standard — Eumaeus.</a:t>
            </a:r>
            <a:endParaRPr/>
          </a:p>
        </p:txBody>
      </p:sp>
      <p:sp>
        <p:nvSpPr>
          <p:cNvPr id="465" name="Google Shape;46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facets: stewardship at his post; grief that avoids the dear name; hatred of the suitors itemised; the royal backstory — nobility is character, not status; and Homer's rare direct address, 'you, swineherd Eumaeus'.</a:t>
            </a:r>
            <a:endParaRPr/>
          </a:p>
        </p:txBody>
      </p:sp>
      <p:sp>
        <p:nvSpPr>
          <p:cNvPr id="485" name="Google Shape;48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institution assumed, never questioned — but the enslaved are full moral agents. Eumaeus is given the sharpest line: Zeus takes half a man's worth on the day slavery seizes him. The faithless foils are coming: Melanthius and Melantho. The audit's rule: your worth is what you do when the master seems gone forever.</a:t>
            </a:r>
            <a:endParaRPr/>
          </a:p>
        </p:txBody>
      </p:sp>
      <p:sp>
        <p:nvSpPr>
          <p:cNvPr id="514" name="Google Shape;514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the audit; Eumaeus; slavery and the foils.</a:t>
            </a:r>
            <a:endParaRPr/>
          </a:p>
        </p:txBody>
      </p:sp>
      <p:sp>
        <p:nvSpPr>
          <p:cNvPr id="539" name="Google Shape;53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the success criteria, then the characterise–explain–discuss–evaluate ladder on Books 14–15.</a:t>
            </a:r>
            <a:endParaRPr/>
          </a:p>
        </p:txBody>
      </p:sp>
      <p:sp>
        <p:nvSpPr>
          <p:cNvPr id="570" name="Google Shape;57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25, revisiting xenia through Eumaeus — the poor but perfect host — against the Phaeacians and the Cyclops.</a:t>
            </a:r>
            <a:endParaRPr/>
          </a:p>
        </p:txBody>
      </p:sp>
      <p:sp>
        <p:nvSpPr>
          <p:cNvPr id="598" name="Google Shape;59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theme has run the full scale: Cyclops (inversion), suitors (abuse), Nestor and Menelaus (royal models), Phaeacians (splendid ideal). One position left: the bottom — hospitality with almost nothing to give. Book 14 answers. Run the checklist as you read.</a:t>
            </a:r>
            <a:endParaRPr/>
          </a:p>
        </p:txBody>
      </p:sp>
      <p:sp>
        <p:nvSpPr>
          <p:cNvPr id="617" name="Google Shape;617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steps: the rescue from the dogs; the creed from below — strangers and beggars come from Zeus; the goatskin seat and the suckling pig with its apology; feed first, ask later kept exactly; and the storm-night cloak, teased out by the Troy story.</a:t>
            </a:r>
            <a:endParaRPr/>
          </a:p>
        </p:txBody>
      </p:sp>
      <p:sp>
        <p:nvSpPr>
          <p:cNvPr id="651" name="Google Shape;65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9" name="Google Shape;67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Proportion is the point — the hut outgives the palace; xenia detached from wealth; dramatic irony doubles the value — theoxeny made real; the theme's map completed; essay gold — the best host is an enslaved swineherd, the worst are noblemen.</a:t>
            </a:r>
            <a:endParaRPr/>
          </a:p>
        </p:txBody>
      </p:sp>
      <p:sp>
        <p:nvSpPr>
          <p:cNvPr id="680" name="Google Shape;68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the welcome; the feast and the cloak; what it proves.</a:t>
            </a:r>
            <a:endParaRPr/>
          </a:p>
        </p:txBody>
      </p:sp>
      <p:sp>
        <p:nvSpPr>
          <p:cNvPr id="704" name="Google Shape;70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4" name="Google Shape;73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the success criteria, then the apply–compare–analyse–evaluate ladder on Book 14.</a:t>
            </a:r>
            <a:endParaRPr/>
          </a:p>
        </p:txBody>
      </p:sp>
      <p:sp>
        <p:nvSpPr>
          <p:cNvPr id="735" name="Google Shape;735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Lesson 26, a new idea: the father–son bonds that structure the poem, through the reunion of Book 16.</a:t>
            </a:r>
            <a:endParaRPr/>
          </a:p>
        </p:txBody>
      </p:sp>
      <p:sp>
        <p:nvSpPr>
          <p:cNvPr id="763" name="Google Shape;763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Beneath the adventure, a study of the male line. The Telemachy was a son in search of a father; three generations are in play on Ithaca; and the web runs wider — Nestor, Menelaus, Achilles, Poseidon and Polyphemus.</a:t>
            </a:r>
            <a:endParaRPr/>
          </a:p>
        </p:txBody>
      </p:sp>
      <p:sp>
        <p:nvSpPr>
          <p:cNvPr id="782" name="Google Shape;78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beats: the surrogate father and 'atta'; courtesies between strangers; 'No god am I — I am your father'; disbelief unlocked by Athene's explanation, then the sea-eagle simile; and the practical question that turns tears to business.</a:t>
            </a:r>
            <a:endParaRPr/>
          </a:p>
        </p:txBody>
      </p:sp>
      <p:sp>
        <p:nvSpPr>
          <p:cNvPr id="802" name="Google Shape;80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council of two: strategy straight after embrace; over a hundred suitors counted; 'will Athene and Zeus suffice?'; the arms removed on the smoke pretext; secrecy absolute; and Telemachus transformed — trusted with doing nothing, convincingly.</a:t>
            </a:r>
            <a:endParaRPr/>
          </a:p>
        </p:txBody>
      </p:sp>
      <p:sp>
        <p:nvSpPr>
          <p:cNvPr id="827" name="Google Shape;82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Identity is patrilineal — the reunion repairs a lineage; the nostos is generational — the poem ends with Laertes; the Orestes paradigm bettered — a living father to fight beside; and against Achilles — the recovered son is what nostos is for.</a:t>
            </a:r>
            <a:endParaRPr/>
          </a:p>
        </p:txBody>
      </p:sp>
      <p:sp>
        <p:nvSpPr>
          <p:cNvPr id="849" name="Google Shape;849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0" name="Google Shape;87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Booklet notes: the reunion; the council of two; the generations.</a:t>
            </a:r>
            <a:endParaRPr/>
          </a:p>
        </p:txBody>
      </p:sp>
      <p:sp>
        <p:nvSpPr>
          <p:cNvPr id="871" name="Google Shape;871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1" name="Google Shape;90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Check the success criteria, then the retell–analyse–map–evaluate ladder on Book 16 — and the end of Topic 4.</a:t>
            </a:r>
            <a:endParaRPr/>
          </a:p>
        </p:txBody>
      </p:sp>
      <p:sp>
        <p:nvSpPr>
          <p:cNvPr id="902" name="Google Shape;902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" name="Google Shape;18;p1"/>
          <p:cNvPicPr preferRelativeResize="0"/>
          <p:nvPr/>
        </p:nvPicPr>
        <p:blipFill rotWithShape="1">
          <a:blip r:embed="rId4">
            <a:alphaModFix amt="92000"/>
          </a:blip>
          <a:srcRect b="0" l="0" r="0" t="0"/>
          <a:stretch/>
        </p:blipFill>
        <p:spPr>
          <a:xfrm>
            <a:off x="7812174" y="666750"/>
            <a:ext cx="2663651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1905688" y="3023518"/>
            <a:ext cx="1447654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OCR A LEVEL CLASSICAL CIVILISATION · COMPONENT 11 · THE WORLD OF THE HERO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310573" y="3647405"/>
            <a:ext cx="5666854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"/>
              <a:buFont typeface="Lora"/>
              <a:buNone/>
            </a:pPr>
            <a:r>
              <a:rPr b="0" i="1" lang="en-US" sz="34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Homer's Odyssey · Topic 4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517636" y="4342730"/>
            <a:ext cx="13252728" cy="160622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765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0"/>
              <a:buFont typeface="Lora"/>
              <a:buNone/>
            </a:pPr>
            <a:r>
              <a:rPr b="1" i="1" lang="en-US" sz="126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</a:t>
            </a:r>
            <a:r>
              <a:rPr b="1" i="1" lang="en-US" sz="126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Homecoming</a:t>
            </a:r>
            <a:endParaRPr b="0" i="0" sz="12600" u="none" cap="none" strike="noStrike">
              <a:solidFill>
                <a:srgbClr val="1A6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099185" y="6291858"/>
            <a:ext cx="1608963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Inter"/>
              <a:buNone/>
            </a:pPr>
            <a:r>
              <a:rPr b="0" i="0" lang="en-US" sz="25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Ithaca at last — the beggar-disguise, the lying tales, the loyal swineherd, and a father restored to his son.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-914400" y="9320213"/>
            <a:ext cx="20116800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BOOKS 13–16 · LESSONS 22–26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990600" y="666750"/>
            <a:ext cx="102974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RECAP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211559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990600" y="1271588"/>
            <a:ext cx="6278880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story so far — the poem turns for home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990600" y="2866430"/>
            <a:ext cx="6278880" cy="16222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667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150"/>
              <a:buFont typeface="Lora"/>
              <a:buNone/>
            </a:pPr>
            <a:r>
              <a:rPr b="0" i="1" lang="en-US" sz="31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fabulous world is behind him. What remains is the hardest, most human part.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90600" y="4717256"/>
            <a:ext cx="627888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810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We stand at the poem's exact halfway point: Books 1–12 were the world away from home; Books 13–24 all happen on Ithaca.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848600" y="4758928"/>
            <a:ext cx="9448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7848600" y="3199209"/>
            <a:ext cx="1039368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TALE IS TOLD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848600" y="3532584"/>
            <a:ext cx="9732264" cy="1073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 the end of Book 12 Odysseus's narration reaches Calypso — flashback and present meet. The Phaeacians load him with treasure and, as he sleeps, lay him on the shore of Ithaca.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848600" y="6173391"/>
            <a:ext cx="9448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7848600" y="4958953"/>
            <a:ext cx="1039368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ONE GREAT ENGINE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848600" y="5292328"/>
            <a:ext cx="9732264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From here the poem runs on the beggar-disguise, and the dramatic irony it creates — we know who the beggar is; almost no one else does.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848600" y="6373416"/>
            <a:ext cx="1039368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THE STRANDS CONVERGE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848600" y="6706791"/>
            <a:ext cx="9732264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Telemachus, summoned home by Athene from Sparta, evades the suitors' ambush (Book 15) — father and son are about to meet.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990600" y="9534525"/>
            <a:ext cx="2856019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Recap · The story so far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990600" y="666750"/>
            <a:ext cx="102974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RECAP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211559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New ideas, and ideas we revisit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990600" y="2102123"/>
            <a:ext cx="7962900" cy="4157663"/>
          </a:xfrm>
          <a:prstGeom prst="roundRect">
            <a:avLst>
              <a:gd fmla="val 366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400175" y="2397398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NEW THIS TOPIC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400175" y="3402285"/>
            <a:ext cx="71437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400175" y="2921273"/>
            <a:ext cx="31432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Deception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4467225" y="2945085"/>
            <a:ext cx="434734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And the Cretan lies — Books 13–14.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400175" y="4350023"/>
            <a:ext cx="71437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400175" y="3535635"/>
            <a:ext cx="31432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Loyalty &amp; slavery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467225" y="3559448"/>
            <a:ext cx="4199001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Loyalty, betrayal, and the enslaved — Book 14.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400175" y="4483373"/>
            <a:ext cx="31432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Fathers &amp; sons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467225" y="4507185"/>
            <a:ext cx="4199001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generations of the male line — Book 16.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334500" y="2102123"/>
            <a:ext cx="7962900" cy="4157663"/>
          </a:xfrm>
          <a:prstGeom prst="roundRect">
            <a:avLst>
              <a:gd fmla="val 366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9744075" y="2397398"/>
            <a:ext cx="785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REVISITED FROM EARLIER TOPICS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9744075" y="4069035"/>
            <a:ext cx="71437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9744075" y="2921273"/>
            <a:ext cx="2943225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Disguise &amp; recognition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2811125" y="2945085"/>
            <a:ext cx="4199001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beggar-disguise begins; the first great recognition follows — Books 13, 16.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9744075" y="5016773"/>
            <a:ext cx="7143750" cy="9525"/>
          </a:xfrm>
          <a:prstGeom prst="rect">
            <a:avLst/>
          </a:prstGeom>
          <a:solidFill>
            <a:srgbClr val="0D1433">
              <a:alpha val="705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9744075" y="4202385"/>
            <a:ext cx="31432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Xenia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2811125" y="4226198"/>
            <a:ext cx="4199001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From below, in Eumaeus's hut — Book 14.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744075" y="5150123"/>
            <a:ext cx="31432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Nostos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2811125" y="5173935"/>
            <a:ext cx="4199001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goal reached — but not yet secured.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990600" y="6507435"/>
            <a:ext cx="16306800" cy="1139130"/>
          </a:xfrm>
          <a:prstGeom prst="roundRect">
            <a:avLst>
              <a:gd fmla="val 11706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1371600" y="6793185"/>
            <a:ext cx="1695718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THE SCRIPT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217962" y="6716985"/>
            <a:ext cx="14109391" cy="7581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95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Lora"/>
              <a:buNone/>
            </a:pPr>
            <a:r>
              <a:rPr b="0" i="1" lang="en-US" sz="202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Agamemnon's advice (Topic 3) now governs everything: land in secret, trust no one at first, test everyone. Watch Odysseus follow it line by line.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990600" y="7798966"/>
            <a:ext cx="16306800" cy="657225"/>
          </a:xfrm>
          <a:prstGeom prst="roundRect">
            <a:avLst>
              <a:gd fmla="val 17391" name="adj"/>
            </a:avLst>
          </a:prstGeom>
          <a:solidFill>
            <a:srgbClr val="1A6FFF">
              <a:alpha val="7059"/>
            </a:srgbClr>
          </a:solidFill>
          <a:ln cap="flat" cmpd="sng" w="9525">
            <a:solidFill>
              <a:srgbClr val="1A6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323975" y="8027566"/>
            <a:ext cx="1981148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FOR THE EXAM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372669" y="7960891"/>
            <a:ext cx="1331739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Books 13 and 16 are prescribed — close study; 14 and 15 are context — read for the story, and for Eumaeus.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990600" y="9534525"/>
            <a:ext cx="362210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Recap · The shape of the topic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4"/>
          <p:cNvSpPr/>
          <p:nvPr/>
        </p:nvSpPr>
        <p:spPr>
          <a:xfrm>
            <a:off x="1524000" y="666750"/>
            <a:ext cx="823367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4 · THE HOMECOMING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15570696" y="609600"/>
            <a:ext cx="1269504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22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524000" y="2251174"/>
            <a:ext cx="183266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22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437706" y="2379762"/>
            <a:ext cx="1335881" cy="357188"/>
          </a:xfrm>
          <a:prstGeom prst="roundRect">
            <a:avLst>
              <a:gd fmla="val 16000" name="adj"/>
            </a:avLst>
          </a:prstGeom>
          <a:solidFill>
            <a:srgbClr val="F5C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3590106" y="2436912"/>
            <a:ext cx="110728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REVISIT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524000" y="2832199"/>
            <a:ext cx="15697200" cy="2375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Lora"/>
              <a:buNone/>
            </a:pPr>
            <a:r>
              <a:rPr b="1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Disguise &amp; recognition: </a:t>
            </a:r>
            <a:r>
              <a:rPr b="0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disguise begins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524000" y="5779591"/>
            <a:ext cx="14859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1524000" y="6132016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524000" y="6489204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Revisit disguise and recognition as the beggar-disguise — the engine of the poem's second half — is created.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334500" y="6132016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9334500" y="6489204"/>
            <a:ext cx="7259955" cy="158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Retell the Ithaca landing and the two transformations; analyse the Athene scene and the father–son recognition; explain how the disguise generates dramatic irony.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/>
          <p:nvPr/>
        </p:nvSpPr>
        <p:spPr>
          <a:xfrm>
            <a:off x="990600" y="666750"/>
            <a:ext cx="122254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REVISIT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230839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thread so far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990600" y="3228901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990600" y="2325960"/>
            <a:ext cx="20955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TOPIC 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238500" y="2254523"/>
            <a:ext cx="14480667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Gave the pattern: </a:t>
            </a:r>
            <a:r>
              <a:rPr b="1" i="1" lang="en-US" sz="20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disguise – token – recognition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— Athene as Mentes, and Telemachus known at Sparta by his likeness.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990600" y="4068514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990600" y="3538463"/>
            <a:ext cx="20955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TOPIC 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238500" y="3467026"/>
            <a:ext cx="14547681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Showed disguise as </a:t>
            </a:r>
            <a:r>
              <a:rPr b="1" i="1" lang="en-US" sz="20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survival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: 'Nobody' in the cave, and Helen's tale of Odysseus the beggar-spy inside Troy.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990600" y="4378077"/>
            <a:ext cx="20955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238500" y="4306639"/>
            <a:ext cx="14480667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Disguise stops being an episode and becomes </a:t>
            </a:r>
            <a:r>
              <a:rPr b="1" i="1" lang="en-US" sz="20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structure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: from Book 13 to the reckoning, Odysseus will live inside a false identity.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990600" y="8121104"/>
            <a:ext cx="16306800" cy="1203871"/>
          </a:xfrm>
          <a:prstGeom prst="roundRect">
            <a:avLst>
              <a:gd fmla="val 11077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1371600" y="8435429"/>
            <a:ext cx="2131107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KEEP RUNNING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613770" y="8349704"/>
            <a:ext cx="13701709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4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Two questions from here to the end: who recognises him, by what means — and what does each recognition cost or risk?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990600" y="9534525"/>
            <a:ext cx="41837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22 · Disguise &amp; recognition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Book 13: the strangest homecoming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990600" y="4171057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990600" y="2186880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866900" y="2291655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Home, asleep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866900" y="2691705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arrival undoes every epic expectation: the great homecoming happens while the hero sleeps. The Phaeacian crew lay him on the sand with his treasure and slip away.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525000" y="4171057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9525000" y="2186880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0401300" y="2291655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Poseidon's receipt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10401300" y="2691705"/>
            <a:ext cx="7102983" cy="13364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With Zeus's consent he turns the returning ship to stone within sight of harbour — fulfilling the prophecy Alcinous now remembers (Book 8). The Phaeacians' last act of xenia is also their punishment for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990600" y="6345734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>
            <a:off x="990600" y="4361557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1866900" y="4466332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Waking in mist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866900" y="4866382"/>
            <a:ext cx="7102983" cy="13364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does not know his own island: Athene has wrapped it in mist. He laments being dumped in a strange land — then, beautifully in character, counts his treasure to check the Phaeacians have not cheated him.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9525000" y="6345734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9525000" y="4361557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iv.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0401300" y="4466332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instant lie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0401300" y="4866382"/>
            <a:ext cx="7102983" cy="13364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Athene approaches disguised as a young shepherd and tells him this is Ithaca. His response to the best news of his life? Instantly, a lie — the first Cretan tale. Even joy does not switch off his caution.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990600" y="6536234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v.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866900" y="6641009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Two schemers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866900" y="7041059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She smiles, caresses him, and reveals herself — delighted, not offended: it would take a master trickster to outdo you; you are the best of mortals in counsel and tales, I of gods in cunning.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990600" y="9534525"/>
            <a:ext cx="41837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22 · Disguise &amp; recognition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8" name="Google Shape;148;p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990600" y="1233488"/>
            <a:ext cx="6082665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transformation — and the plan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990600" y="2771180"/>
            <a:ext cx="6082665" cy="19669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Athene singles out exactly what she loves in him: any other man home from wandering would have rushed to his house and family — </a:t>
            </a:r>
            <a:r>
              <a:rPr b="1" i="1" lang="en-US" sz="2025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you test first </a:t>
            </a: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. The disguise is a character-choice endorsed by a goddess.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990600" y="5023842"/>
            <a:ext cx="5905500" cy="2370534"/>
          </a:xfrm>
          <a:prstGeom prst="roundRect">
            <a:avLst>
              <a:gd fmla="val 5625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1314450" y="5271492"/>
            <a:ext cx="578358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NOTE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1314450" y="5600105"/>
            <a:ext cx="5415534" cy="158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3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king must be a beggar in his own kingdom — the man of timē at the very bottom of the honour-scale. The disguise is itself an act of endurance.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658100" y="4507260"/>
            <a:ext cx="9639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7658100" y="3191991"/>
            <a:ext cx="26193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Conspirators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10306050" y="3220566"/>
            <a:ext cx="7201091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Together they hide the treasure in the cave of the Nymphs and sit against the olive tree to plot the suitors' destruction — goddess and mortal as equals.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658100" y="6400651"/>
            <a:ext cx="9639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658100" y="4726335"/>
            <a:ext cx="26193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beggar made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0306050" y="4754910"/>
            <a:ext cx="7201091" cy="14742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She withers his skin over his supple limbs, dims his eyes, strips the brown hair from his head, and wraps him in filthy rags with a staff and a leather pouch — a transformation, not a costume.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658100" y="6619726"/>
            <a:ext cx="26193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Labour divided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10306050" y="6648301"/>
            <a:ext cx="7201091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goes first to the swineherd Eumaeus, to wait and learn; she flies to Sparta to bring Telemachus home.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990600" y="9534525"/>
            <a:ext cx="41837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22 · Disguise &amp; recognition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50000">
                <a:srgbClr val="0D1433"/>
              </a:gs>
              <a:gs pos="100000">
                <a:srgbClr val="080C1F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990600" y="666750"/>
            <a:ext cx="255463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CLOSE ANALYSIS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640485" y="797719"/>
            <a:ext cx="666750" cy="19050"/>
          </a:xfrm>
          <a:prstGeom prst="rect">
            <a:avLst/>
          </a:prstGeom>
          <a:solidFill>
            <a:srgbClr val="5E9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Book 16: the first recognition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990600" y="3106043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990600" y="2167830"/>
            <a:ext cx="68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905000" y="2253555"/>
            <a:ext cx="1585417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Lora"/>
              <a:buNone/>
            </a:pPr>
            <a:r>
              <a:rPr b="1" i="1" lang="en-US" sz="187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setting speaks first: </a:t>
            </a: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Telemachus reaches the hut and the dogs fawn on him — the same dogs that nearly savaged the beggar (Book 14). Eumaeus greets him 'as a father greets his son back from ten years abroad' — Homer's simile hands us the theme.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990600" y="4215705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990600" y="3277493"/>
            <a:ext cx="68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1905000" y="3363218"/>
            <a:ext cx="1585417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Lora"/>
              <a:buNone/>
            </a:pPr>
            <a:r>
              <a:rPr b="1" i="1" lang="en-US" sz="187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restoration: </a:t>
            </a: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with Eumaeus sent to Penelope, Athene restores Odysseus — taller, younger, firm-fleshed, well-dressed. Telemachus, who watched a beggar walk out and a lord walk in, concludes he must be a god.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990600" y="5325368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990600" y="4387155"/>
            <a:ext cx="68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905000" y="4472880"/>
            <a:ext cx="1585417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1875"/>
              <a:buFont typeface="Lora"/>
              <a:buNone/>
            </a:pPr>
            <a:r>
              <a:rPr b="1" i="1" lang="en-US" sz="187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'No god am I — I am your father.' </a:t>
            </a: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And Telemachus refuses to believe it: no mortal could transform like that; 'some god is bewitching me'. The scepticism is the point — he is his father's son, and Ithaca has taught him not to trust.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990600" y="6435030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990600" y="5496818"/>
            <a:ext cx="68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iv.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1905000" y="5582543"/>
            <a:ext cx="1585417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Lora"/>
              <a:buNone/>
            </a:pPr>
            <a:r>
              <a:rPr b="1" i="1" lang="en-US" sz="187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token problem: </a:t>
            </a: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there is no scar, no secret — the proof is the transformation itself, explained as Athene's work. Recognition here rests on accepting the gods' hand in things.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990600" y="6606480"/>
            <a:ext cx="68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905000" y="6692205"/>
            <a:ext cx="1585417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Lora"/>
              <a:buNone/>
            </a:pPr>
            <a:r>
              <a:rPr b="1" i="1" lang="en-US" sz="187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release: </a:t>
            </a: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they embrace and wail 'more piercingly than birds of prey whose unfledged young have been stolen' — a reverse simile of parents robbed of chicks: grief inside the joy, for twenty stolen years.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990600" y="9534525"/>
            <a:ext cx="41837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Lesson 22 · Disguise &amp; recognition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" name="Google Shape;195;p8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the disguise does to the poem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990600" y="2121173"/>
            <a:ext cx="8001000" cy="2505075"/>
          </a:xfrm>
          <a:prstGeom prst="roundRect">
            <a:avLst>
              <a:gd fmla="val 6084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1362075" y="2416448"/>
            <a:ext cx="798385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It creates a running dramatic irony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1362075" y="2921273"/>
            <a:ext cx="747579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Lasting eight books: every scene now has two meanings — what the characters see (a beggar) and what we know (the king). Every insult becomes evidence; every kindness, unknowing virtue.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9296400" y="2121173"/>
            <a:ext cx="8001000" cy="2505075"/>
          </a:xfrm>
          <a:prstGeom prst="roundRect">
            <a:avLst>
              <a:gd fmla="val 6084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9667875" y="2416448"/>
            <a:ext cx="798385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It turns identity into a test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9667875" y="2921273"/>
            <a:ext cx="7475792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Administered by Odysseus: he will choose who learns the truth, when, and after what proof — Telemachus now; Eurycleia, Penelope, Laertes each differently (to come).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990600" y="4931048"/>
            <a:ext cx="8001000" cy="2152650"/>
          </a:xfrm>
          <a:prstGeom prst="roundRect">
            <a:avLst>
              <a:gd fmla="val 708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62075" y="5226323"/>
            <a:ext cx="798385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It inverts the social world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1362075" y="5731148"/>
            <a:ext cx="7475792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master of the house at the bottom of it — which lets the poem examine timē, xenia and loyalty from below.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9296400" y="4931048"/>
            <a:ext cx="8001000" cy="2152650"/>
          </a:xfrm>
          <a:prstGeom prst="roundRect">
            <a:avLst>
              <a:gd fmla="val 708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9667875" y="5226323"/>
            <a:ext cx="798385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It fuses the poem's threads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9667875" y="5731148"/>
            <a:ext cx="7475792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Disguise is mētis made permanent, endured daily (tlēmosynē), in obedience to Agamemnon's warning (nostos) — four themes running in one device.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990600" y="9534525"/>
            <a:ext cx="41837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22 · Disguise &amp; recognition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" name="Google Shape;217;p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990600" y="2043113"/>
            <a:ext cx="8029575" cy="2423220"/>
          </a:xfrm>
          <a:prstGeom prst="roundRect">
            <a:avLst>
              <a:gd fmla="val 628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1323975" y="2300288"/>
            <a:ext cx="177765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landing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7514332" y="2371725"/>
            <a:ext cx="1172468" cy="314325"/>
          </a:xfrm>
          <a:prstGeom prst="roundRect">
            <a:avLst>
              <a:gd fmla="val 18182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7628632" y="2419350"/>
            <a:ext cx="102006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1323975" y="2800350"/>
            <a:ext cx="758371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Home asleep; the ship turned to stone (Book 8's prophecy kept); Ithaca hidden in mist.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1323975" y="3463230"/>
            <a:ext cx="736282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1323975" y="3587055"/>
            <a:ext cx="7583710" cy="660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43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He counts his treasure, then lies to the 'shepherd' — caution before joy.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9267825" y="2043113"/>
            <a:ext cx="8029575" cy="2423220"/>
          </a:xfrm>
          <a:prstGeom prst="roundRect">
            <a:avLst>
              <a:gd fmla="val 628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9601200" y="2300288"/>
            <a:ext cx="2088870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Two schemers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15791557" y="2371725"/>
            <a:ext cx="1172468" cy="314325"/>
          </a:xfrm>
          <a:prstGeom prst="roundRect">
            <a:avLst>
              <a:gd fmla="val 18182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15905857" y="2419350"/>
            <a:ext cx="102006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9601200" y="2800350"/>
            <a:ext cx="758371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Athene's delighted reveal: best of mortals in tales, best of gods in cunning — mutual recognition of mētis.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9601200" y="3463230"/>
            <a:ext cx="736282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9601200" y="3587055"/>
            <a:ext cx="7583710" cy="660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43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She praises exactly this: any other man would have run home; you test first.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990600" y="4713982"/>
            <a:ext cx="8029575" cy="2423220"/>
          </a:xfrm>
          <a:prstGeom prst="roundRect">
            <a:avLst>
              <a:gd fmla="val 628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1323975" y="4971157"/>
            <a:ext cx="2510098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beggar made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7514332" y="5042595"/>
            <a:ext cx="1172468" cy="314325"/>
          </a:xfrm>
          <a:prstGeom prst="roundRect">
            <a:avLst>
              <a:gd fmla="val 18182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7628632" y="5090220"/>
            <a:ext cx="1020068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1323975" y="5471220"/>
            <a:ext cx="758371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Withered skin, dimmed eyes, rags, staff — transformation, not costume; king at the bottom of the honour-scale.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323975" y="6445151"/>
            <a:ext cx="736282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1323975" y="6568976"/>
            <a:ext cx="7583710" cy="349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43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Plan: Eumaeus first; Athene fetches Telemachus.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9267825" y="4713982"/>
            <a:ext cx="8029575" cy="2423220"/>
          </a:xfrm>
          <a:prstGeom prst="roundRect">
            <a:avLst>
              <a:gd fmla="val 628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9601200" y="4971157"/>
            <a:ext cx="2206414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Father and son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15790813" y="5042595"/>
            <a:ext cx="1173212" cy="314325"/>
          </a:xfrm>
          <a:prstGeom prst="roundRect">
            <a:avLst>
              <a:gd fmla="val 18182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15905113" y="5090220"/>
            <a:ext cx="102081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16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9601200" y="5471220"/>
            <a:ext cx="758371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Eumaeus's father-simile; the dogs; the restoration; 'I am your father' met with disbelief.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9601200" y="6134100"/>
            <a:ext cx="736282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9601200" y="6257925"/>
            <a:ext cx="7583710" cy="660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43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No token — the proof is divine transformation; then the bird-of-prey simile: grief inside joy.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990600" y="9534525"/>
            <a:ext cx="41837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22 · Disguise &amp; recognition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5" name="Google Shape;255;p1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990600" y="2115071"/>
            <a:ext cx="6134100" cy="3091755"/>
          </a:xfrm>
          <a:prstGeom prst="roundRect">
            <a:avLst>
              <a:gd fmla="val 492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Retell the landing and both transformations in detail.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1758628" y="4003849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Analyse the two recognitions and the irony the disguise creates.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7543800" y="319511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"/>
          <p:cNvSpPr/>
          <p:nvPr/>
        </p:nvSpPr>
        <p:spPr>
          <a:xfrm>
            <a:off x="7543800" y="2357958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RETELL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9544050" y="2296046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Book 13 in six steps, from the sleeping landing to the parting of god and hero.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7543800" y="428468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7543800" y="3447529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9544050" y="3385617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What does the Athene scene establish about Odysseus — and about how the gods see mētis?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7543800" y="5374258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7543800" y="4537100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COMPARE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9544050" y="4475187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recognition of Telemachus with the Sparta recognition (Topic 1) — tokens, doubt, emotion.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7543800" y="5626671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9544050" y="5564758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'The beggar-disguise is the single cleverest decision in the poem's design.'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990600" y="9534525"/>
            <a:ext cx="41837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22 · Disguise &amp; recognition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3" name="Google Shape;283;p1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2"/>
          <p:cNvSpPr/>
          <p:nvPr/>
        </p:nvSpPr>
        <p:spPr>
          <a:xfrm>
            <a:off x="1524000" y="666750"/>
            <a:ext cx="823367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4 · THE HOMECOMING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15543237" y="609600"/>
            <a:ext cx="1342839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23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1524000" y="3001342"/>
            <a:ext cx="1841584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23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3445818" y="3129930"/>
            <a:ext cx="1593205" cy="357188"/>
          </a:xfrm>
          <a:prstGeom prst="roundRect">
            <a:avLst>
              <a:gd fmla="val 16000" name="adj"/>
            </a:avLst>
          </a:prstGeom>
          <a:solidFill>
            <a:srgbClr val="5EC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3598218" y="3187080"/>
            <a:ext cx="136460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NEW IDEA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1524000" y="3582367"/>
            <a:ext cx="16764000" cy="12622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957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50"/>
              <a:buFont typeface="Lora"/>
              <a:buNone/>
            </a:pPr>
            <a:r>
              <a:rPr b="1" i="1" lang="en-US" sz="94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Deception </a:t>
            </a:r>
            <a:r>
              <a:rPr b="0" i="1" lang="en-US" sz="94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&amp; the Cretan lies</a:t>
            </a:r>
            <a:endParaRPr b="0" i="0" sz="9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1524000" y="5416079"/>
            <a:ext cx="14859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1524000" y="576850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1524000" y="6125691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the lying tales as testing, self-protection — and storytelling turned into a weapon.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9334500" y="5768504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9334500" y="6125691"/>
            <a:ext cx="725995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why, and to whom, Odysseus lies; anatomise a Cretan lie; connect the lies to mētis and to the storytelling theme.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2" name="Google Shape;302;p12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990600" y="1233488"/>
            <a:ext cx="7124700" cy="9707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9610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7200"/>
              <a:buFont typeface="Lora"/>
              <a:buNone/>
            </a:pPr>
            <a:r>
              <a:rPr b="1" i="1" lang="en-US" sz="7200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</a:t>
            </a:r>
            <a:r>
              <a:rPr b="1" i="1" lang="en-US" sz="72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he Cretan lies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990600" y="2261369"/>
            <a:ext cx="7124700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2850"/>
              <a:buFont typeface="Lora"/>
              <a:buNone/>
            </a:pPr>
            <a:r>
              <a:rPr b="0" i="1" lang="en-US" sz="285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false lives, told under pressure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990600" y="3009081"/>
            <a:ext cx="667131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From the moment he lands, Odysseus tells almost no one the truth. He improvises false lives for himself — usually claiming to be a Cretan wanderer.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990600" y="4933131"/>
            <a:ext cx="6477000" cy="1983879"/>
          </a:xfrm>
          <a:prstGeom prst="roundRect">
            <a:avLst>
              <a:gd fmla="val 6722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"/>
          <p:cNvSpPr/>
          <p:nvPr/>
        </p:nvSpPr>
        <p:spPr>
          <a:xfrm>
            <a:off x="1314450" y="5180781"/>
            <a:ext cx="641223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 THIS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1314450" y="5509394"/>
            <a:ext cx="6004179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3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'Cretan lies' are Odysseus's false autobiographies — plausible, detailed, part-true tales that protect him and test his listeners.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8324850" y="4542234"/>
            <a:ext cx="8972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8324850" y="3277791"/>
            <a:ext cx="2457450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Crafted, not panicked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10972800" y="3315891"/>
            <a:ext cx="6514338" cy="1073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Long, circumstantial, geographically plausible, emotionally convincing — the master storyteller of Books 9–12 now composing fiction under pressure.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8324850" y="6351984"/>
            <a:ext cx="897255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8324850" y="4742259"/>
            <a:ext cx="26193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Three purposes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10972800" y="4780359"/>
            <a:ext cx="6514338" cy="1419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Concealment (a nameless beggar threatens no one); testing (how do people treat a man with nothing — and how do they speak of Odysseus?); control (he decides exactly what each person knows).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8324850" y="6552009"/>
            <a:ext cx="2619375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script kept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10972800" y="6590109"/>
            <a:ext cx="6514338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They are Agamemnon's advice enacted (Topic 3): land in secret; tell your wife — tell everyone — only part.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990600" y="9534525"/>
            <a:ext cx="476644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23 · Deception &amp; the Cretan lies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5" name="Google Shape;325;p1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first two lies — and how they are built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990600" y="2005013"/>
            <a:ext cx="7981950" cy="2747963"/>
          </a:xfrm>
          <a:prstGeom prst="roundRect">
            <a:avLst>
              <a:gd fmla="val 554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1343025" y="2262188"/>
            <a:ext cx="37128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Lie 1 — to the 'shepherd'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7626623" y="2390775"/>
            <a:ext cx="1069702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/>
          <p:nvPr/>
        </p:nvSpPr>
        <p:spPr>
          <a:xfrm>
            <a:off x="1343025" y="2757488"/>
            <a:ext cx="7495413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is a Cretan on the run: he killed Orsilochus, son of Idomeneus, in an ambush over war-spoils, and paid Phoenician sailors to carry him away; they landed him here by night. A killer's tale, told to explain the treasure and warn off robbery.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9315450" y="2005013"/>
            <a:ext cx="7981950" cy="2747963"/>
          </a:xfrm>
          <a:prstGeom prst="roundRect">
            <a:avLst>
              <a:gd fmla="val 5546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9667875" y="2262188"/>
            <a:ext cx="304510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Lie 2 — to Eumaeus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14084498" y="2390775"/>
            <a:ext cx="3146524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14 · THE LONGEST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9667875" y="2757488"/>
            <a:ext cx="7495413" cy="17764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1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 Cretan noble's bastard son who fought at Troy, raided Egypt (ruined by his greedy crew — hear the echo of the real wanderings), was enslaved, escaped through Phoenicia and Thesprotia — where, he swears, he heard that Odysseus is alive and on his way home, gathering treasure.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990600" y="5924550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990600" y="5162550"/>
            <a:ext cx="25146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CRAFT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/>
          <p:nvPr/>
        </p:nvSpPr>
        <p:spPr>
          <a:xfrm>
            <a:off x="3562350" y="5105400"/>
            <a:ext cx="14147102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Crete is far away and hard to check; real names (Idomeneus) and places anchor the fiction; hardship earns pity; and each tale is tuned to its listener — menace for a possible robber, fellow-suffering for a slave who feeds him.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/>
          <p:nvPr/>
        </p:nvSpPr>
        <p:spPr>
          <a:xfrm>
            <a:off x="990600" y="6557963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990600" y="6134100"/>
            <a:ext cx="25146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TRUE CARGO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3562350" y="6076950"/>
            <a:ext cx="12860558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'Odysseus is alive and near' is the truth, planted inside fiction — he is testing what hope does to people.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990600" y="6767513"/>
            <a:ext cx="251460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THE TEST-RESULT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3562350" y="6710363"/>
            <a:ext cx="14147102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Eumaeus believes the sufferings, rejects the Odysseus news outright — fooled by wanderers' tales before — yet feeds and shelters the beggar anyway. Loyalty without illusion; kindness without reward.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990600" y="9534525"/>
            <a:ext cx="476644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23 · Deception &amp; the Cretan lies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1" name="Google Shape;351;p14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50000">
                <a:srgbClr val="0D1433"/>
              </a:gs>
              <a:gs pos="100000">
                <a:srgbClr val="080C1F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5E9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Lies, mētis and the storytelling theme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990600" y="3067943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990600" y="2139255"/>
            <a:ext cx="68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1905000" y="2224980"/>
            <a:ext cx="1585417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Lora"/>
              <a:buNone/>
            </a:pPr>
            <a:r>
              <a:rPr b="1" i="1" lang="en-US" sz="187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Mētis in its purest social form: </a:t>
            </a: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with no strength and no status, Odysseus controls every room he enters through narrative alone — exactly as with Nausicaa (Topic 2), but now sustained for days.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990600" y="4158555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990600" y="3229868"/>
            <a:ext cx="68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1905000" y="3315593"/>
            <a:ext cx="1585417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Lora"/>
              <a:buNone/>
            </a:pPr>
            <a:r>
              <a:rPr b="1" i="1" lang="en-US" sz="187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storytelling question, at its edge: </a:t>
            </a: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 have just spent four books trusting this man's account of monsters no one else saw. Watching him fabricate whole lives with the same fluency — what does that do to the apologoi?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990600" y="5249168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990600" y="4320480"/>
            <a:ext cx="68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1905000" y="4406205"/>
            <a:ext cx="1585417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1875"/>
              <a:buFont typeface="Lora"/>
              <a:buNone/>
            </a:pPr>
            <a:r>
              <a:rPr b="1" i="1" lang="en-US" sz="187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'He made the many falsehoods of his tale seem like truth' </a:t>
            </a: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— which is, precisely, the poet's own craft. The liar and the bard share a skill; the difference is purpose.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990600" y="5411093"/>
            <a:ext cx="68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iv.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1905000" y="5496818"/>
            <a:ext cx="1585417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Lora"/>
              <a:buNone/>
            </a:pPr>
            <a:r>
              <a:rPr b="1" i="1" lang="en-US" sz="187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gods endorse it: </a:t>
            </a: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Athene's delight (Book 13) frames lying not as a moral failure but as the survival-craft of the very intelligent — though the poem lets us stay a little uneasy about it.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990600" y="8231535"/>
            <a:ext cx="16306800" cy="1093440"/>
          </a:xfrm>
          <a:prstGeom prst="roundRect">
            <a:avLst>
              <a:gd fmla="val 10453" name="adj"/>
            </a:avLst>
          </a:prstGeom>
          <a:solidFill>
            <a:srgbClr val="1A6FFF">
              <a:alpha val="12157"/>
            </a:srgbClr>
          </a:solidFill>
          <a:ln cap="flat" cmpd="sng" w="9525">
            <a:solidFill>
              <a:srgbClr val="1A6FFF">
                <a:alpha val="3490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1323975" y="8493472"/>
            <a:ext cx="164513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EXAM NOTE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3067199" y="8431560"/>
            <a:ext cx="14313731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Keep distinct in essays: lies to protect and test (approved by the poem) versus the suitors' deceits and Clytemnestra's plotting (condemned). Deception is judged by its end.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990600" y="9534525"/>
            <a:ext cx="476644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Lesson 23 · Deception &amp; the Cretan lies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6" name="Google Shape;376;p15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6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6"/>
          <p:cNvSpPr/>
          <p:nvPr/>
        </p:nvSpPr>
        <p:spPr>
          <a:xfrm>
            <a:off x="990600" y="2043113"/>
            <a:ext cx="8029575" cy="2423220"/>
          </a:xfrm>
          <a:prstGeom prst="roundRect">
            <a:avLst>
              <a:gd fmla="val 628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1323975" y="2300288"/>
            <a:ext cx="2542922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the lies are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7005340" y="2371725"/>
            <a:ext cx="1681460" cy="314325"/>
          </a:xfrm>
          <a:prstGeom prst="roundRect">
            <a:avLst>
              <a:gd fmla="val 18182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6"/>
          <p:cNvSpPr/>
          <p:nvPr/>
        </p:nvSpPr>
        <p:spPr>
          <a:xfrm>
            <a:off x="7119640" y="2419350"/>
            <a:ext cx="15290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13–14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1323975" y="2800350"/>
            <a:ext cx="758371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False autobiographies: long, plausible, part-true, tuned to each listener — usually 'a Cretan'.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1323975" y="3463230"/>
            <a:ext cx="736282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6"/>
          <p:cNvSpPr/>
          <p:nvPr/>
        </p:nvSpPr>
        <p:spPr>
          <a:xfrm>
            <a:off x="1323975" y="3587055"/>
            <a:ext cx="7583710" cy="660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43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Purposes: concealment, testing, control of information — Agamemnon's advice enacted.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9267825" y="2043113"/>
            <a:ext cx="8029575" cy="2423220"/>
          </a:xfrm>
          <a:prstGeom prst="roundRect">
            <a:avLst>
              <a:gd fmla="val 628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9601200" y="2300288"/>
            <a:ext cx="1362894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craft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6"/>
          <p:cNvSpPr/>
          <p:nvPr/>
        </p:nvSpPr>
        <p:spPr>
          <a:xfrm>
            <a:off x="15282565" y="2371725"/>
            <a:ext cx="1681460" cy="314325"/>
          </a:xfrm>
          <a:prstGeom prst="roundRect">
            <a:avLst>
              <a:gd fmla="val 18182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6"/>
          <p:cNvSpPr/>
          <p:nvPr/>
        </p:nvSpPr>
        <p:spPr>
          <a:xfrm>
            <a:off x="15396865" y="2419350"/>
            <a:ext cx="15290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13–14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9601200" y="2800350"/>
            <a:ext cx="758371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Real anchors (Idomeneus, Egypt, Thesprotia); distance that resists checking; suffering that earns pity.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9601200" y="3463230"/>
            <a:ext cx="736282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9601200" y="3587055"/>
            <a:ext cx="7583710" cy="660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43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A true cargo inside each: 'Odysseus is alive and near' — hope, planted as a test.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990600" y="4713982"/>
            <a:ext cx="8029575" cy="2423220"/>
          </a:xfrm>
          <a:prstGeom prst="roundRect">
            <a:avLst>
              <a:gd fmla="val 628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6"/>
          <p:cNvSpPr/>
          <p:nvPr/>
        </p:nvSpPr>
        <p:spPr>
          <a:xfrm>
            <a:off x="1323975" y="4971157"/>
            <a:ext cx="2504286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Eumaeus's result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7508751" y="5042595"/>
            <a:ext cx="1178049" cy="314325"/>
          </a:xfrm>
          <a:prstGeom prst="roundRect">
            <a:avLst>
              <a:gd fmla="val 18182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7623051" y="5090220"/>
            <a:ext cx="1025649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1323975" y="5471220"/>
            <a:ext cx="758371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Believes the man's pain, rejects the good news (fooled before) — yet feeds him anyway.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1323975" y="6445151"/>
            <a:ext cx="736282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>
            <a:off x="1323975" y="6568976"/>
            <a:ext cx="7583710" cy="349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43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Loyalty without illusion: the test finds gold.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6"/>
          <p:cNvSpPr/>
          <p:nvPr/>
        </p:nvSpPr>
        <p:spPr>
          <a:xfrm>
            <a:off x="9267825" y="4713982"/>
            <a:ext cx="8029575" cy="2423220"/>
          </a:xfrm>
          <a:prstGeom prst="roundRect">
            <a:avLst>
              <a:gd fmla="val 6289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6"/>
          <p:cNvSpPr/>
          <p:nvPr/>
        </p:nvSpPr>
        <p:spPr>
          <a:xfrm>
            <a:off x="9601200" y="4971157"/>
            <a:ext cx="2222949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Lies &amp; the bard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15282565" y="5042595"/>
            <a:ext cx="1681460" cy="314325"/>
          </a:xfrm>
          <a:prstGeom prst="roundRect">
            <a:avLst>
              <a:gd fmla="val 18182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6"/>
          <p:cNvSpPr/>
          <p:nvPr/>
        </p:nvSpPr>
        <p:spPr>
          <a:xfrm>
            <a:off x="15396865" y="5090220"/>
            <a:ext cx="152906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13–14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6"/>
          <p:cNvSpPr/>
          <p:nvPr/>
        </p:nvSpPr>
        <p:spPr>
          <a:xfrm>
            <a:off x="9601200" y="5471220"/>
            <a:ext cx="7583710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'Falsehoods seeming like truth' — the liar's skill is the poet's; Athene applauds it.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6"/>
          <p:cNvSpPr/>
          <p:nvPr/>
        </p:nvSpPr>
        <p:spPr>
          <a:xfrm>
            <a:off x="9601200" y="6134100"/>
            <a:ext cx="736282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6"/>
          <p:cNvSpPr/>
          <p:nvPr/>
        </p:nvSpPr>
        <p:spPr>
          <a:xfrm>
            <a:off x="9601200" y="6257925"/>
            <a:ext cx="7583710" cy="66020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43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So how far do we trust the apologoi? The poem wants the question asked.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6"/>
          <p:cNvSpPr/>
          <p:nvPr/>
        </p:nvSpPr>
        <p:spPr>
          <a:xfrm>
            <a:off x="990600" y="9534525"/>
            <a:ext cx="476644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23 · Deception &amp; the Cretan lies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4" name="Google Shape;414;p1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7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/>
          <p:nvPr/>
        </p:nvSpPr>
        <p:spPr>
          <a:xfrm>
            <a:off x="990600" y="2115071"/>
            <a:ext cx="6134100" cy="2718867"/>
          </a:xfrm>
          <a:prstGeom prst="roundRect">
            <a:avLst>
              <a:gd fmla="val 5605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7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1390650" y="3507135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1758628" y="3019946"/>
            <a:ext cx="4431573" cy="4109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why and to whom he lies.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/>
          <p:nvPr/>
        </p:nvSpPr>
        <p:spPr>
          <a:xfrm>
            <a:off x="1390650" y="3659535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1758628" y="3630960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Anatomise a Cretan lie and connect the lies to mētis and storytelling.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7543800" y="319511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7543800" y="2357958"/>
            <a:ext cx="20955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ANATOMISE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9734550" y="2296046"/>
            <a:ext cx="7789736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Take the lie to Eumaeus — list its true anchors, its fictions, and what it is tuned to achieve.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7543800" y="428468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7"/>
          <p:cNvSpPr/>
          <p:nvPr/>
        </p:nvSpPr>
        <p:spPr>
          <a:xfrm>
            <a:off x="7543800" y="3447529"/>
            <a:ext cx="20955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9734550" y="3385617"/>
            <a:ext cx="7789736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Why does he plant 'Odysseus is alive' inside the lies? What is being tested?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7543800" y="5374258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7"/>
          <p:cNvSpPr/>
          <p:nvPr/>
        </p:nvSpPr>
        <p:spPr>
          <a:xfrm>
            <a:off x="7543800" y="4537100"/>
            <a:ext cx="20955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DISCUSS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7"/>
          <p:cNvSpPr/>
          <p:nvPr/>
        </p:nvSpPr>
        <p:spPr>
          <a:xfrm>
            <a:off x="9734550" y="4475187"/>
            <a:ext cx="7789736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Does the lying make you trust Books 9–12 less — or is that the wrong way to read them?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7543800" y="5626671"/>
            <a:ext cx="20955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9734550" y="5564758"/>
            <a:ext cx="7789736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'In the Odyssey, lying is a virtue.'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agree, using Books 13–14?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7"/>
          <p:cNvSpPr/>
          <p:nvPr/>
        </p:nvSpPr>
        <p:spPr>
          <a:xfrm>
            <a:off x="990600" y="9534525"/>
            <a:ext cx="476644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23 · Deception &amp; the Cretan lies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2" name="Google Shape;442;p1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9" name="Google Shape;4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8"/>
          <p:cNvSpPr/>
          <p:nvPr/>
        </p:nvSpPr>
        <p:spPr>
          <a:xfrm>
            <a:off x="1524000" y="666750"/>
            <a:ext cx="823367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4 · THE HOMECOMING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15558120" y="609600"/>
            <a:ext cx="1326468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24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1524000" y="3028950"/>
            <a:ext cx="1834708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24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3439567" y="3157538"/>
            <a:ext cx="1593205" cy="357188"/>
          </a:xfrm>
          <a:prstGeom prst="roundRect">
            <a:avLst>
              <a:gd fmla="val 16000" name="adj"/>
            </a:avLst>
          </a:prstGeom>
          <a:solidFill>
            <a:srgbClr val="5EC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8"/>
          <p:cNvSpPr/>
          <p:nvPr/>
        </p:nvSpPr>
        <p:spPr>
          <a:xfrm>
            <a:off x="3591967" y="3214688"/>
            <a:ext cx="136460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NEW IDEA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1524000" y="3609975"/>
            <a:ext cx="16764000" cy="12069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Lora"/>
              <a:buNone/>
            </a:pPr>
            <a:r>
              <a:rPr b="1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Loyalty, betrayal </a:t>
            </a:r>
            <a:r>
              <a:rPr b="0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&amp; slavery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1524000" y="5388471"/>
            <a:ext cx="14859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8"/>
          <p:cNvSpPr/>
          <p:nvPr/>
        </p:nvSpPr>
        <p:spPr>
          <a:xfrm>
            <a:off x="1524000" y="5740896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1524000" y="6098084"/>
            <a:ext cx="725995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how the household is sorted — loyal against faithless — and what the poem shows about enslaved people.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9334500" y="5740896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9334500" y="6098084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Contrast loyal and disloyal servants with evidence; discuss how the poem presents slavery.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1" name="Google Shape;461;p18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9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9"/>
          <p:cNvSpPr/>
          <p:nvPr/>
        </p:nvSpPr>
        <p:spPr>
          <a:xfrm>
            <a:off x="990600" y="1271588"/>
            <a:ext cx="6915150" cy="6640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Sorting the household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990600" y="2202359"/>
            <a:ext cx="6475095" cy="10941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667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150"/>
              <a:buFont typeface="Lora"/>
              <a:buNone/>
            </a:pPr>
            <a:r>
              <a:rPr b="0" i="1" lang="en-US" sz="31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second half of the Odyssey is, among other things, a great audit.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9"/>
          <p:cNvSpPr/>
          <p:nvPr/>
        </p:nvSpPr>
        <p:spPr>
          <a:xfrm>
            <a:off x="990600" y="3506093"/>
            <a:ext cx="6475095" cy="12337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769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Before the reckoning, every member of the household will be sorted — loyal or faithless — and the sorting decides who lives.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9"/>
          <p:cNvSpPr/>
          <p:nvPr/>
        </p:nvSpPr>
        <p:spPr>
          <a:xfrm>
            <a:off x="8039100" y="4553471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9"/>
          <p:cNvSpPr/>
          <p:nvPr/>
        </p:nvSpPr>
        <p:spPr>
          <a:xfrm>
            <a:off x="8039100" y="3292450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TESTER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8039100" y="3625825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disguise: people show their true selves to a beggar precisely because he seems to be nobody. Kindness to the powerless is the one unfakeable virtue.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9"/>
          <p:cNvSpPr/>
          <p:nvPr/>
        </p:nvSpPr>
        <p:spPr>
          <a:xfrm>
            <a:off x="8039100" y="6033567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9"/>
          <p:cNvSpPr/>
          <p:nvPr/>
        </p:nvSpPr>
        <p:spPr>
          <a:xfrm>
            <a:off x="8039100" y="4772546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STAKES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8039100" y="5105921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Twenty years of absence: an oikos without its master decays — the suitors from outside, but also, more painfully, treachery from within.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8039100" y="6252642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THE GOLD STANDARD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8039100" y="6586017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Book 14 gives the audit its measure: Eumaeus the swineherd — an enslaved man who is the most faithful soul on Ithaca.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990600" y="9534525"/>
            <a:ext cx="4653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24 · Loyalty, betrayal &amp; slavery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1" name="Google Shape;481;p1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0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0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Eumaeus — the loyal heart of Ithaca </a:t>
            </a:r>
            <a:r>
              <a:rPr b="0" i="1" lang="en-US" sz="4500" u="none" cap="none" strike="noStrike">
                <a:solidFill>
                  <a:srgbClr val="8A90A8"/>
                </a:solidFill>
                <a:latin typeface="Lora"/>
                <a:ea typeface="Lora"/>
                <a:cs typeface="Lora"/>
                <a:sym typeface="Lora"/>
              </a:rPr>
              <a:t>(Books 14–15)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990600" y="3788420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0"/>
          <p:cNvSpPr/>
          <p:nvPr/>
        </p:nvSpPr>
        <p:spPr>
          <a:xfrm>
            <a:off x="990600" y="2138363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1866900" y="2243138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Found at his post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/>
          <p:nvPr/>
        </p:nvSpPr>
        <p:spPr>
          <a:xfrm>
            <a:off x="1866900" y="2643188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has built pens and walls for the pigs with his own hands, sleeps among them, keeps count — stewardship of an absent master's property as an act of devotion.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0"/>
          <p:cNvSpPr/>
          <p:nvPr/>
        </p:nvSpPr>
        <p:spPr>
          <a:xfrm>
            <a:off x="9525000" y="3788420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9525000" y="2138363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0"/>
          <p:cNvSpPr/>
          <p:nvPr/>
        </p:nvSpPr>
        <p:spPr>
          <a:xfrm>
            <a:off x="10401300" y="2243138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Constant grief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0"/>
          <p:cNvSpPr/>
          <p:nvPr/>
        </p:nvSpPr>
        <p:spPr>
          <a:xfrm>
            <a:off x="10401300" y="2643188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will not even say 'Odysseus' lightly, calling him 'that dear name' — he longs for his lost lord more, he says, than for his own parents and homeland.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0"/>
          <p:cNvSpPr/>
          <p:nvPr/>
        </p:nvSpPr>
        <p:spPr>
          <a:xfrm>
            <a:off x="990600" y="5944046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0"/>
          <p:cNvSpPr/>
          <p:nvPr/>
        </p:nvSpPr>
        <p:spPr>
          <a:xfrm>
            <a:off x="990600" y="3969395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1866900" y="4074170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Precise hatred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0"/>
          <p:cNvSpPr/>
          <p:nvPr/>
        </p:nvSpPr>
        <p:spPr>
          <a:xfrm>
            <a:off x="1866900" y="4474220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counts what the suitors devour — the fat hogs he must send daily while he and his men keep the lean — waste itemised by the man who raised every animal.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9525000" y="5944046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0"/>
          <p:cNvSpPr/>
          <p:nvPr/>
        </p:nvSpPr>
        <p:spPr>
          <a:xfrm>
            <a:off x="9525000" y="3969395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iv.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0"/>
          <p:cNvSpPr/>
          <p:nvPr/>
        </p:nvSpPr>
        <p:spPr>
          <a:xfrm>
            <a:off x="10401300" y="4074170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'slave' is a prince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0"/>
          <p:cNvSpPr/>
          <p:nvPr/>
        </p:nvSpPr>
        <p:spPr>
          <a:xfrm>
            <a:off x="10401300" y="4474220"/>
            <a:ext cx="7102983" cy="13364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His own story (Book 15) reframes everything: born a king's son, kidnapped as a child by his Phoenician nurse and sold; Laertes bought him, and Anticleia raised him almost as family. Nobility is character, not status.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0"/>
          <p:cNvSpPr/>
          <p:nvPr/>
        </p:nvSpPr>
        <p:spPr>
          <a:xfrm>
            <a:off x="990600" y="6125021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v.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0"/>
          <p:cNvSpPr/>
          <p:nvPr/>
        </p:nvSpPr>
        <p:spPr>
          <a:xfrm>
            <a:off x="1866900" y="6229796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poet's intimacy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1866900" y="6629846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Homer addresses him directly — 'then you answered him, swineherd Eumaeus' — an intimacy the poet grants to almost no one else.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0"/>
          <p:cNvSpPr/>
          <p:nvPr/>
        </p:nvSpPr>
        <p:spPr>
          <a:xfrm>
            <a:off x="990600" y="9534525"/>
            <a:ext cx="4653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24 · Loyalty, betrayal &amp; slavery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0" name="Google Shape;510;p20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50000">
                <a:srgbClr val="0D1433"/>
              </a:gs>
              <a:gs pos="100000">
                <a:srgbClr val="080C1F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1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5E9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1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Slavery in the poem — and the coming contrast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990600" y="4073947"/>
            <a:ext cx="7063740" cy="19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Lora"/>
              <a:buNone/>
            </a:pPr>
            <a:r>
              <a:rPr b="1" i="1" lang="en-US" sz="39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'Zeus takes away half a man's worth on the day slavery seizes him.'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990600" y="6185297"/>
            <a:ext cx="7543800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EUMAEUS · BOOK 17, JUST AHEAD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1"/>
          <p:cNvSpPr/>
          <p:nvPr/>
        </p:nvSpPr>
        <p:spPr>
          <a:xfrm>
            <a:off x="990600" y="6599634"/>
            <a:ext cx="7063740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poem's sharpest line on slavery — spoken by the enslaved man who has kept all of his aretē.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1"/>
          <p:cNvSpPr/>
          <p:nvPr/>
        </p:nvSpPr>
        <p:spPr>
          <a:xfrm>
            <a:off x="8515350" y="4308128"/>
            <a:ext cx="878205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1"/>
          <p:cNvSpPr/>
          <p:nvPr/>
        </p:nvSpPr>
        <p:spPr>
          <a:xfrm>
            <a:off x="8515350" y="2772221"/>
            <a:ext cx="966025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THE INSTITUTION, ASSUMED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8515350" y="3091309"/>
            <a:ext cx="9045512" cy="1073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Enslaved people are property, taken by war, piracy or kidnap — Eumaeus's own history is a matter-of-fact horror story. The poem never questions slavery itself.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1"/>
          <p:cNvSpPr/>
          <p:nvPr/>
        </p:nvSpPr>
        <p:spPr>
          <a:xfrm>
            <a:off x="8515350" y="5689253"/>
            <a:ext cx="878205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1"/>
          <p:cNvSpPr/>
          <p:nvPr/>
        </p:nvSpPr>
        <p:spPr>
          <a:xfrm>
            <a:off x="8515350" y="4498628"/>
            <a:ext cx="966025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BUT FULL MORAL AGENTS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8515350" y="4817715"/>
            <a:ext cx="904551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Within the household they hold responsibility and trust, and their choices — loyalty or betrayal — carry the same weight as anyone's.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1"/>
          <p:cNvSpPr/>
          <p:nvPr/>
        </p:nvSpPr>
        <p:spPr>
          <a:xfrm>
            <a:off x="8515350" y="7415659"/>
            <a:ext cx="878205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1"/>
          <p:cNvSpPr/>
          <p:nvPr/>
        </p:nvSpPr>
        <p:spPr>
          <a:xfrm>
            <a:off x="8515350" y="5879753"/>
            <a:ext cx="966025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THE FOILS TO COME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1"/>
          <p:cNvSpPr/>
          <p:nvPr/>
        </p:nvSpPr>
        <p:spPr>
          <a:xfrm>
            <a:off x="8515350" y="6198840"/>
            <a:ext cx="9045512" cy="1073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Melanthius the goatherd, who kicks the beggar and toadies to the suitors, and Melantho the maid, who shames Penelope's trust (Books 17–19) — same rank, opposite choices.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1"/>
          <p:cNvSpPr/>
          <p:nvPr/>
        </p:nvSpPr>
        <p:spPr>
          <a:xfrm>
            <a:off x="8515350" y="7606159"/>
            <a:ext cx="966025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THE AUDIT'S RULE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1"/>
          <p:cNvSpPr/>
          <p:nvPr/>
        </p:nvSpPr>
        <p:spPr>
          <a:xfrm>
            <a:off x="8515350" y="7925246"/>
            <a:ext cx="904551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Your worth is what you do when the master seems gone forever — and the reckoning will apply it without mercy (Book 22, to come).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1"/>
          <p:cNvSpPr/>
          <p:nvPr/>
        </p:nvSpPr>
        <p:spPr>
          <a:xfrm>
            <a:off x="990600" y="9534525"/>
            <a:ext cx="4653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Lesson 24 · Loyalty, betrayal &amp; slavery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5" name="Google Shape;535;p21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2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2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2"/>
          <p:cNvSpPr/>
          <p:nvPr/>
        </p:nvSpPr>
        <p:spPr>
          <a:xfrm>
            <a:off x="990600" y="2100263"/>
            <a:ext cx="5232350" cy="3870350"/>
          </a:xfrm>
          <a:prstGeom prst="roundRect">
            <a:avLst>
              <a:gd fmla="val 393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2"/>
          <p:cNvSpPr/>
          <p:nvPr/>
        </p:nvSpPr>
        <p:spPr>
          <a:xfrm>
            <a:off x="1343025" y="2414588"/>
            <a:ext cx="1790923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2"/>
          <p:cNvSpPr/>
          <p:nvPr/>
        </p:nvSpPr>
        <p:spPr>
          <a:xfrm>
            <a:off x="1476375" y="2471738"/>
            <a:ext cx="160042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13–16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2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audit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2"/>
          <p:cNvSpPr/>
          <p:nvPr/>
        </p:nvSpPr>
        <p:spPr>
          <a:xfrm>
            <a:off x="1343025" y="3428479"/>
            <a:ext cx="4663325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disguise sorts the household: people show their truth to a nobody.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1343025" y="4500042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2"/>
          <p:cNvSpPr/>
          <p:nvPr/>
        </p:nvSpPr>
        <p:spPr>
          <a:xfrm>
            <a:off x="1343025" y="4661967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Kindness to the powerless — the unfakeable virtue — decides who survives the reckoning.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2"/>
          <p:cNvSpPr/>
          <p:nvPr/>
        </p:nvSpPr>
        <p:spPr>
          <a:xfrm>
            <a:off x="6527750" y="2100263"/>
            <a:ext cx="5232425" cy="3870350"/>
          </a:xfrm>
          <a:prstGeom prst="roundRect">
            <a:avLst>
              <a:gd fmla="val 393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2"/>
          <p:cNvSpPr/>
          <p:nvPr/>
        </p:nvSpPr>
        <p:spPr>
          <a:xfrm>
            <a:off x="6880175" y="2414588"/>
            <a:ext cx="1791593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2"/>
          <p:cNvSpPr/>
          <p:nvPr/>
        </p:nvSpPr>
        <p:spPr>
          <a:xfrm>
            <a:off x="7013525" y="2471738"/>
            <a:ext cx="1601093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14–15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2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Eumaeus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2"/>
          <p:cNvSpPr/>
          <p:nvPr/>
        </p:nvSpPr>
        <p:spPr>
          <a:xfrm>
            <a:off x="6880175" y="3428479"/>
            <a:ext cx="466340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Stewardship as devotion (the pens, the counting); grief that avoids the dear name; the suitors' waste itemised.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2"/>
          <p:cNvSpPr/>
          <p:nvPr/>
        </p:nvSpPr>
        <p:spPr>
          <a:xfrm>
            <a:off x="6880175" y="4500042"/>
            <a:ext cx="452757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22"/>
          <p:cNvSpPr/>
          <p:nvPr/>
        </p:nvSpPr>
        <p:spPr>
          <a:xfrm>
            <a:off x="6880175" y="4661967"/>
            <a:ext cx="4663402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Born a prince, kidnapped and sold; raised by Anticleia — nobility is character, not status; Homer addresses him 'you'.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2"/>
          <p:cNvSpPr/>
          <p:nvPr/>
        </p:nvSpPr>
        <p:spPr>
          <a:xfrm>
            <a:off x="12064975" y="2100263"/>
            <a:ext cx="5232350" cy="3870350"/>
          </a:xfrm>
          <a:prstGeom prst="roundRect">
            <a:avLst>
              <a:gd fmla="val 393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2"/>
          <p:cNvSpPr/>
          <p:nvPr/>
        </p:nvSpPr>
        <p:spPr>
          <a:xfrm>
            <a:off x="12417400" y="2414588"/>
            <a:ext cx="1925464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2"/>
          <p:cNvSpPr/>
          <p:nvPr/>
        </p:nvSpPr>
        <p:spPr>
          <a:xfrm>
            <a:off x="12550750" y="2471738"/>
            <a:ext cx="1734964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15, 17–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2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Slavery &amp; the foils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2"/>
          <p:cNvSpPr/>
          <p:nvPr/>
        </p:nvSpPr>
        <p:spPr>
          <a:xfrm>
            <a:off x="12417400" y="3428479"/>
            <a:ext cx="4663325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Slavery assumed, never questioned — but the enslaved are full moral agents.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2"/>
          <p:cNvSpPr/>
          <p:nvPr/>
        </p:nvSpPr>
        <p:spPr>
          <a:xfrm>
            <a:off x="12417400" y="4500042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2"/>
          <p:cNvSpPr/>
          <p:nvPr/>
        </p:nvSpPr>
        <p:spPr>
          <a:xfrm>
            <a:off x="12417400" y="4661967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'Zeus takes half a man's worth…' (Bk 17); Melanthius and Melantho ahead as the faithless mirror.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2"/>
          <p:cNvSpPr/>
          <p:nvPr/>
        </p:nvSpPr>
        <p:spPr>
          <a:xfrm>
            <a:off x="990600" y="9534525"/>
            <a:ext cx="4653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24 · Loyalty, betrayal &amp; slavery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6" name="Google Shape;566;p2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23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3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3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3"/>
          <p:cNvSpPr/>
          <p:nvPr/>
        </p:nvSpPr>
        <p:spPr>
          <a:xfrm>
            <a:off x="990600" y="2115071"/>
            <a:ext cx="6134100" cy="3091755"/>
          </a:xfrm>
          <a:prstGeom prst="roundRect">
            <a:avLst>
              <a:gd fmla="val 492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3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3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Contrast loyal and disloyal servants with evidence.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3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3"/>
          <p:cNvSpPr/>
          <p:nvPr/>
        </p:nvSpPr>
        <p:spPr>
          <a:xfrm>
            <a:off x="1758628" y="4003849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Discuss the poem's presentation of enslaved people.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3"/>
          <p:cNvSpPr/>
          <p:nvPr/>
        </p:nvSpPr>
        <p:spPr>
          <a:xfrm>
            <a:off x="7543800" y="319511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3"/>
          <p:cNvSpPr/>
          <p:nvPr/>
        </p:nvSpPr>
        <p:spPr>
          <a:xfrm>
            <a:off x="7543800" y="2357958"/>
            <a:ext cx="23050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CHARACTERISE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/>
          <p:nvPr/>
        </p:nvSpPr>
        <p:spPr>
          <a:xfrm>
            <a:off x="9925050" y="2296046"/>
            <a:ext cx="7593521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Eumaeus in three qualities, each with a concrete detail from Books 14–15.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3"/>
          <p:cNvSpPr/>
          <p:nvPr/>
        </p:nvSpPr>
        <p:spPr>
          <a:xfrm>
            <a:off x="7543800" y="3925639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3"/>
          <p:cNvSpPr/>
          <p:nvPr/>
        </p:nvSpPr>
        <p:spPr>
          <a:xfrm>
            <a:off x="7543800" y="3447529"/>
            <a:ext cx="23050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EXPLAIN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3"/>
          <p:cNvSpPr/>
          <p:nvPr/>
        </p:nvSpPr>
        <p:spPr>
          <a:xfrm>
            <a:off x="9925050" y="3385617"/>
            <a:ext cx="8072832" cy="39714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does his royal backstory change how we read his loyalty?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7543800" y="5015210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3"/>
          <p:cNvSpPr/>
          <p:nvPr/>
        </p:nvSpPr>
        <p:spPr>
          <a:xfrm>
            <a:off x="7543800" y="4178052"/>
            <a:ext cx="23050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DISCUSS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3"/>
          <p:cNvSpPr/>
          <p:nvPr/>
        </p:nvSpPr>
        <p:spPr>
          <a:xfrm>
            <a:off x="9925050" y="4116139"/>
            <a:ext cx="7593521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poem never questions slavery, yet makes an enslaved man its moral centre — how do you square that?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3"/>
          <p:cNvSpPr/>
          <p:nvPr/>
        </p:nvSpPr>
        <p:spPr>
          <a:xfrm>
            <a:off x="7543800" y="5267623"/>
            <a:ext cx="23050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3"/>
          <p:cNvSpPr/>
          <p:nvPr/>
        </p:nvSpPr>
        <p:spPr>
          <a:xfrm>
            <a:off x="9925050" y="5205710"/>
            <a:ext cx="7593521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'In the Odyssey, the low characters are the true measure of worth.'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3"/>
          <p:cNvSpPr/>
          <p:nvPr/>
        </p:nvSpPr>
        <p:spPr>
          <a:xfrm>
            <a:off x="990600" y="9534525"/>
            <a:ext cx="4653402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24 · Loyalty, betrayal &amp; slavery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4" name="Google Shape;594;p2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1" name="Google Shape;60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24"/>
          <p:cNvSpPr/>
          <p:nvPr/>
        </p:nvSpPr>
        <p:spPr>
          <a:xfrm>
            <a:off x="1524000" y="666750"/>
            <a:ext cx="823367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4 · THE HOMECOMING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4"/>
          <p:cNvSpPr/>
          <p:nvPr/>
        </p:nvSpPr>
        <p:spPr>
          <a:xfrm>
            <a:off x="15562659" y="609600"/>
            <a:ext cx="1321475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25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4"/>
          <p:cNvSpPr/>
          <p:nvPr/>
        </p:nvSpPr>
        <p:spPr>
          <a:xfrm>
            <a:off x="1524000" y="2637830"/>
            <a:ext cx="183307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25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4"/>
          <p:cNvSpPr/>
          <p:nvPr/>
        </p:nvSpPr>
        <p:spPr>
          <a:xfrm>
            <a:off x="3438079" y="2766417"/>
            <a:ext cx="1335881" cy="357188"/>
          </a:xfrm>
          <a:prstGeom prst="roundRect">
            <a:avLst>
              <a:gd fmla="val 16000" name="adj"/>
            </a:avLst>
          </a:prstGeom>
          <a:solidFill>
            <a:srgbClr val="F5C8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24"/>
          <p:cNvSpPr/>
          <p:nvPr/>
        </p:nvSpPr>
        <p:spPr>
          <a:xfrm>
            <a:off x="3590479" y="2823567"/>
            <a:ext cx="1107281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REVISIT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4"/>
          <p:cNvSpPr/>
          <p:nvPr/>
        </p:nvSpPr>
        <p:spPr>
          <a:xfrm>
            <a:off x="1524000" y="3218855"/>
            <a:ext cx="15697200" cy="2375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Lora"/>
              <a:buNone/>
            </a:pPr>
            <a:r>
              <a:rPr b="1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Xenia revisited: </a:t>
            </a:r>
            <a:r>
              <a:rPr b="0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hospitality from below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4"/>
          <p:cNvSpPr/>
          <p:nvPr/>
        </p:nvSpPr>
        <p:spPr>
          <a:xfrm>
            <a:off x="1524000" y="6166247"/>
            <a:ext cx="14859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4"/>
          <p:cNvSpPr/>
          <p:nvPr/>
        </p:nvSpPr>
        <p:spPr>
          <a:xfrm>
            <a:off x="1524000" y="6518672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4"/>
          <p:cNvSpPr/>
          <p:nvPr/>
        </p:nvSpPr>
        <p:spPr>
          <a:xfrm>
            <a:off x="1524000" y="6875859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Revisit xenia through Eumaeus — the poor but perfect host — against the Phaeacians and the Cyclops.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4"/>
          <p:cNvSpPr/>
          <p:nvPr/>
        </p:nvSpPr>
        <p:spPr>
          <a:xfrm>
            <a:off x="9334500" y="6518672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4"/>
          <p:cNvSpPr/>
          <p:nvPr/>
        </p:nvSpPr>
        <p:spPr>
          <a:xfrm>
            <a:off x="9334500" y="6875859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Apply the xenia checklist to Eumaeus's hut; explain what hospitality from poverty adds to the theme.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3" name="Google Shape;613;p24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25"/>
          <p:cNvSpPr/>
          <p:nvPr/>
        </p:nvSpPr>
        <p:spPr>
          <a:xfrm>
            <a:off x="990600" y="666750"/>
            <a:ext cx="122254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REVISIT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5"/>
          <p:cNvSpPr/>
          <p:nvPr/>
        </p:nvSpPr>
        <p:spPr>
          <a:xfrm>
            <a:off x="230839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5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xenia scale so far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5"/>
          <p:cNvSpPr/>
          <p:nvPr/>
        </p:nvSpPr>
        <p:spPr>
          <a:xfrm>
            <a:off x="990600" y="1910655"/>
            <a:ext cx="17937480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4A5070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4A5070"/>
                </a:solidFill>
                <a:latin typeface="Inter"/>
                <a:ea typeface="Inter"/>
                <a:cs typeface="Inter"/>
                <a:sym typeface="Inter"/>
              </a:rPr>
              <a:t>The theme has now run the full scale of wealth and virtue — one position is left.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5"/>
          <p:cNvSpPr/>
          <p:nvPr/>
        </p:nvSpPr>
        <p:spPr>
          <a:xfrm>
            <a:off x="990600" y="2620268"/>
            <a:ext cx="3078435" cy="2596381"/>
          </a:xfrm>
          <a:prstGeom prst="roundRect">
            <a:avLst>
              <a:gd fmla="val 587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5"/>
          <p:cNvSpPr/>
          <p:nvPr/>
        </p:nvSpPr>
        <p:spPr>
          <a:xfrm>
            <a:off x="1266825" y="2877443"/>
            <a:ext cx="277858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TOPIC 3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5"/>
          <p:cNvSpPr/>
          <p:nvPr/>
        </p:nvSpPr>
        <p:spPr>
          <a:xfrm>
            <a:off x="1266825" y="3210818"/>
            <a:ext cx="2778584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Cyclops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1266825" y="3663255"/>
            <a:ext cx="2602185" cy="958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monstrous inversion — the host who eats his guests.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5"/>
          <p:cNvSpPr/>
          <p:nvPr/>
        </p:nvSpPr>
        <p:spPr>
          <a:xfrm>
            <a:off x="4297635" y="2620268"/>
            <a:ext cx="3078510" cy="2596381"/>
          </a:xfrm>
          <a:prstGeom prst="roundRect">
            <a:avLst>
              <a:gd fmla="val 587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5"/>
          <p:cNvSpPr/>
          <p:nvPr/>
        </p:nvSpPr>
        <p:spPr>
          <a:xfrm>
            <a:off x="4573860" y="2877443"/>
            <a:ext cx="277866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TOPIC 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5"/>
          <p:cNvSpPr/>
          <p:nvPr/>
        </p:nvSpPr>
        <p:spPr>
          <a:xfrm>
            <a:off x="4573860" y="3210818"/>
            <a:ext cx="2778666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suitors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5"/>
          <p:cNvSpPr/>
          <p:nvPr/>
        </p:nvSpPr>
        <p:spPr>
          <a:xfrm>
            <a:off x="4573860" y="3663255"/>
            <a:ext cx="2602260" cy="651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Rich abusers — guests who devour the house.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5"/>
          <p:cNvSpPr/>
          <p:nvPr/>
        </p:nvSpPr>
        <p:spPr>
          <a:xfrm>
            <a:off x="7604745" y="2620268"/>
            <a:ext cx="3078435" cy="2596381"/>
          </a:xfrm>
          <a:prstGeom prst="roundRect">
            <a:avLst>
              <a:gd fmla="val 587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5"/>
          <p:cNvSpPr/>
          <p:nvPr/>
        </p:nvSpPr>
        <p:spPr>
          <a:xfrm>
            <a:off x="7880970" y="2877443"/>
            <a:ext cx="277858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TOPIC 1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5"/>
          <p:cNvSpPr/>
          <p:nvPr/>
        </p:nvSpPr>
        <p:spPr>
          <a:xfrm>
            <a:off x="7880970" y="3210818"/>
            <a:ext cx="2602185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Nestor &amp; Menelaus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5"/>
          <p:cNvSpPr/>
          <p:nvPr/>
        </p:nvSpPr>
        <p:spPr>
          <a:xfrm>
            <a:off x="7880970" y="4039493"/>
            <a:ext cx="2602185" cy="958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royal models — correctness from wealth.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25"/>
          <p:cNvSpPr/>
          <p:nvPr/>
        </p:nvSpPr>
        <p:spPr>
          <a:xfrm>
            <a:off x="10911780" y="2620268"/>
            <a:ext cx="3078510" cy="2596381"/>
          </a:xfrm>
          <a:prstGeom prst="roundRect">
            <a:avLst>
              <a:gd fmla="val 5870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5"/>
          <p:cNvSpPr/>
          <p:nvPr/>
        </p:nvSpPr>
        <p:spPr>
          <a:xfrm>
            <a:off x="11188005" y="2877443"/>
            <a:ext cx="2778666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TOPIC 2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5"/>
          <p:cNvSpPr/>
          <p:nvPr/>
        </p:nvSpPr>
        <p:spPr>
          <a:xfrm>
            <a:off x="11188005" y="3210818"/>
            <a:ext cx="2778666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Phaeacians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5"/>
          <p:cNvSpPr/>
          <p:nvPr/>
        </p:nvSpPr>
        <p:spPr>
          <a:xfrm>
            <a:off x="11188005" y="3663255"/>
            <a:ext cx="2602260" cy="958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splendid ideal — cauldrons of gold from limitless wealth.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5"/>
          <p:cNvSpPr/>
          <p:nvPr/>
        </p:nvSpPr>
        <p:spPr>
          <a:xfrm>
            <a:off x="14218890" y="2620268"/>
            <a:ext cx="3078510" cy="2596381"/>
          </a:xfrm>
          <a:prstGeom prst="roundRect">
            <a:avLst>
              <a:gd fmla="val 5870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5"/>
          <p:cNvSpPr/>
          <p:nvPr/>
        </p:nvSpPr>
        <p:spPr>
          <a:xfrm>
            <a:off x="14485590" y="2867918"/>
            <a:ext cx="279962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425"/>
              <a:buFont typeface="Inter"/>
              <a:buNone/>
            </a:pPr>
            <a:r>
              <a:rPr b="1" i="0" lang="en-US" sz="142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NOW · BOOK 14</a:t>
            </a:r>
            <a:endParaRPr b="0" i="0" sz="14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5"/>
          <p:cNvSpPr/>
          <p:nvPr/>
        </p:nvSpPr>
        <p:spPr>
          <a:xfrm>
            <a:off x="14485590" y="3201293"/>
            <a:ext cx="2799621" cy="4143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Lora"/>
              <a:buNone/>
            </a:pPr>
            <a:r>
              <a:rPr b="1" i="1" lang="en-US" sz="232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A swineherd's hut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5"/>
          <p:cNvSpPr/>
          <p:nvPr/>
        </p:nvSpPr>
        <p:spPr>
          <a:xfrm>
            <a:off x="14485590" y="3653730"/>
            <a:ext cx="2621463" cy="9580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0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bottom of the scale — hospitality with almost nothing to give.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5"/>
          <p:cNvSpPr/>
          <p:nvPr/>
        </p:nvSpPr>
        <p:spPr>
          <a:xfrm>
            <a:off x="990600" y="8629650"/>
            <a:ext cx="16306800" cy="695325"/>
          </a:xfrm>
          <a:prstGeom prst="roundRect">
            <a:avLst>
              <a:gd fmla="val 16438" name="adj"/>
            </a:avLst>
          </a:prstGeom>
          <a:solidFill>
            <a:srgbClr val="1A6FFF">
              <a:alpha val="7059"/>
            </a:srgbClr>
          </a:solidFill>
          <a:ln cap="flat" cmpd="sng" w="9525">
            <a:solidFill>
              <a:srgbClr val="1A6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5"/>
          <p:cNvSpPr/>
          <p:nvPr/>
        </p:nvSpPr>
        <p:spPr>
          <a:xfrm>
            <a:off x="1323975" y="8877300"/>
            <a:ext cx="255037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TEST AS YOU READ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5"/>
          <p:cNvSpPr/>
          <p:nvPr/>
        </p:nvSpPr>
        <p:spPr>
          <a:xfrm>
            <a:off x="3890144" y="8810625"/>
            <a:ext cx="13456466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Run the checklist — welcome, feed first, ask later, bed, protection — and watch every step kept, in miniature.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5"/>
          <p:cNvSpPr/>
          <p:nvPr/>
        </p:nvSpPr>
        <p:spPr>
          <a:xfrm>
            <a:off x="990600" y="9534525"/>
            <a:ext cx="32431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25 · Xenia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7" name="Google Shape;647;p2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6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6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6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humble feast (Book 14), step by step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6"/>
          <p:cNvSpPr/>
          <p:nvPr/>
        </p:nvSpPr>
        <p:spPr>
          <a:xfrm>
            <a:off x="990600" y="3788420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6"/>
          <p:cNvSpPr/>
          <p:nvPr/>
        </p:nvSpPr>
        <p:spPr>
          <a:xfrm>
            <a:off x="990600" y="2138363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6"/>
          <p:cNvSpPr/>
          <p:nvPr/>
        </p:nvSpPr>
        <p:spPr>
          <a:xfrm>
            <a:off x="1866900" y="2243138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 welcome that rescues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6"/>
          <p:cNvSpPr/>
          <p:nvPr/>
        </p:nvSpPr>
        <p:spPr>
          <a:xfrm>
            <a:off x="1866900" y="2643188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farm dogs fly at the ragged stranger, and Eumaeus scrambles to drive them off — the host's first duty, protection, performed at a run.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6"/>
          <p:cNvSpPr/>
          <p:nvPr/>
        </p:nvSpPr>
        <p:spPr>
          <a:xfrm>
            <a:off x="9525000" y="3788420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6"/>
          <p:cNvSpPr/>
          <p:nvPr/>
        </p:nvSpPr>
        <p:spPr>
          <a:xfrm>
            <a:off x="9525000" y="2138363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10401300" y="2243138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creed from below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6"/>
          <p:cNvSpPr/>
          <p:nvPr/>
        </p:nvSpPr>
        <p:spPr>
          <a:xfrm>
            <a:off x="10401300" y="2643188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It is not right to slight a stranger, 'for strangers and beggars come from Zeus, and a gift, though small, is dear' — the poor man's creed of xenia, quoting Zeus Xenios himself.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6"/>
          <p:cNvSpPr/>
          <p:nvPr/>
        </p:nvSpPr>
        <p:spPr>
          <a:xfrm>
            <a:off x="990600" y="5619452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6"/>
          <p:cNvSpPr/>
          <p:nvPr/>
        </p:nvSpPr>
        <p:spPr>
          <a:xfrm>
            <a:off x="990600" y="3969395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6"/>
          <p:cNvSpPr/>
          <p:nvPr/>
        </p:nvSpPr>
        <p:spPr>
          <a:xfrm>
            <a:off x="1866900" y="4074170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best he has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6"/>
          <p:cNvSpPr/>
          <p:nvPr/>
        </p:nvSpPr>
        <p:spPr>
          <a:xfrm>
            <a:off x="1866900" y="4474220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He seats his guest on brushwood spread with his own thick goatskin bedding, and serves suckling pig, apologising that the fatted hogs go to the suitors: even the menu is an accusation.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6"/>
          <p:cNvSpPr/>
          <p:nvPr/>
        </p:nvSpPr>
        <p:spPr>
          <a:xfrm>
            <a:off x="9525000" y="5619452"/>
            <a:ext cx="77724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6"/>
          <p:cNvSpPr/>
          <p:nvPr/>
        </p:nvSpPr>
        <p:spPr>
          <a:xfrm>
            <a:off x="9525000" y="3969395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iv.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6"/>
          <p:cNvSpPr/>
          <p:nvPr/>
        </p:nvSpPr>
        <p:spPr>
          <a:xfrm>
            <a:off x="10401300" y="4074170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Feed first, ask later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6"/>
          <p:cNvSpPr/>
          <p:nvPr/>
        </p:nvSpPr>
        <p:spPr>
          <a:xfrm>
            <a:off x="10401300" y="4474220"/>
            <a:ext cx="7102983" cy="10118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Kept exactly: only after food and wine does he ask who the stranger is — the beggar receives the same protocol as a king at Pylos.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6"/>
          <p:cNvSpPr/>
          <p:nvPr/>
        </p:nvSpPr>
        <p:spPr>
          <a:xfrm>
            <a:off x="990600" y="5800427"/>
            <a:ext cx="6858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C6D4"/>
              </a:buClr>
              <a:buSzPts val="3000"/>
              <a:buFont typeface="Lora"/>
              <a:buNone/>
            </a:pPr>
            <a:r>
              <a:rPr b="1" i="1" lang="en-US" sz="3000" u="none" cap="none" strike="noStrike">
                <a:solidFill>
                  <a:srgbClr val="C2C6D4"/>
                </a:solidFill>
                <a:latin typeface="Lora"/>
                <a:ea typeface="Lora"/>
                <a:cs typeface="Lora"/>
                <a:sym typeface="Lora"/>
              </a:rPr>
              <a:t>v.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6"/>
          <p:cNvSpPr/>
          <p:nvPr/>
        </p:nvSpPr>
        <p:spPr>
          <a:xfrm>
            <a:off x="1866900" y="5905202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175"/>
              <a:buFont typeface="Lora"/>
              <a:buNone/>
            </a:pPr>
            <a:r>
              <a:rPr b="1" i="1" lang="en-US" sz="21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night seals it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6"/>
          <p:cNvSpPr/>
          <p:nvPr/>
        </p:nvSpPr>
        <p:spPr>
          <a:xfrm>
            <a:off x="1866900" y="6305252"/>
            <a:ext cx="7102983" cy="133647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552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When a storm blows in, Eumaeus lends the beggar his own spare cloak — teased out of him by Odysseus's sly story of a cloak-trick at Troy — then goes out himself to sleep in the cold, on guard beside his master's pigs.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6"/>
          <p:cNvSpPr/>
          <p:nvPr/>
        </p:nvSpPr>
        <p:spPr>
          <a:xfrm>
            <a:off x="990600" y="9534525"/>
            <a:ext cx="32431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25 · Xenia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6" name="Google Shape;676;p2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7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7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7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hospitality from poverty proves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27"/>
          <p:cNvSpPr/>
          <p:nvPr/>
        </p:nvSpPr>
        <p:spPr>
          <a:xfrm>
            <a:off x="990600" y="3085951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7"/>
          <p:cNvSpPr/>
          <p:nvPr/>
        </p:nvSpPr>
        <p:spPr>
          <a:xfrm>
            <a:off x="990600" y="2167830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Proportion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7"/>
          <p:cNvSpPr/>
          <p:nvPr/>
        </p:nvSpPr>
        <p:spPr>
          <a:xfrm>
            <a:off x="4000500" y="2186880"/>
            <a:ext cx="1369580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Phaeacians gave cauldrons of gold from limitless wealth; Eumaeus gives his bedding, his best pig and his own cloak — a far greater fraction of everything he has. Measured by cost, the hut outgives the palace.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7"/>
          <p:cNvSpPr/>
          <p:nvPr/>
        </p:nvSpPr>
        <p:spPr>
          <a:xfrm>
            <a:off x="990600" y="4194572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7"/>
          <p:cNvSpPr/>
          <p:nvPr/>
        </p:nvSpPr>
        <p:spPr>
          <a:xfrm>
            <a:off x="990600" y="3276451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Detachment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27"/>
          <p:cNvSpPr/>
          <p:nvPr/>
        </p:nvSpPr>
        <p:spPr>
          <a:xfrm>
            <a:off x="4000500" y="3295501"/>
            <a:ext cx="1369580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Xenia is detached from wealth and status once and for all: the code is a disposition of the heart, available to a slave in a hut and refused by princes in a palace.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7"/>
          <p:cNvSpPr/>
          <p:nvPr/>
        </p:nvSpPr>
        <p:spPr>
          <a:xfrm>
            <a:off x="990600" y="5303193"/>
            <a:ext cx="163068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7"/>
          <p:cNvSpPr/>
          <p:nvPr/>
        </p:nvSpPr>
        <p:spPr>
          <a:xfrm>
            <a:off x="990600" y="4385072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Irony doubled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7"/>
          <p:cNvSpPr/>
          <p:nvPr/>
        </p:nvSpPr>
        <p:spPr>
          <a:xfrm>
            <a:off x="4000500" y="4404122"/>
            <a:ext cx="1369580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Eumaeus hosts, unknowing, the very master whose goods he guards — theoxeny made real. The beggar really is more than he seems, and the kindness really will be repaid (Book 21 onwards, to come).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7"/>
          <p:cNvSpPr/>
          <p:nvPr/>
        </p:nvSpPr>
        <p:spPr>
          <a:xfrm>
            <a:off x="990600" y="5493693"/>
            <a:ext cx="2933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map complete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7"/>
          <p:cNvSpPr/>
          <p:nvPr/>
        </p:nvSpPr>
        <p:spPr>
          <a:xfrm>
            <a:off x="4000500" y="5512743"/>
            <a:ext cx="13695807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Cyclops (inversion) – suitors (abuse) – Nestor/Menelaus (royal correctness) – Phaeacians (splendid excess) – Eumaeus (perfect essence). Every register of the poem's central value has now been shown.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7"/>
          <p:cNvSpPr/>
          <p:nvPr/>
        </p:nvSpPr>
        <p:spPr>
          <a:xfrm>
            <a:off x="990600" y="8121104"/>
            <a:ext cx="16306800" cy="1203871"/>
          </a:xfrm>
          <a:prstGeom prst="roundRect">
            <a:avLst>
              <a:gd fmla="val 11077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27"/>
          <p:cNvSpPr/>
          <p:nvPr/>
        </p:nvSpPr>
        <p:spPr>
          <a:xfrm>
            <a:off x="1371600" y="8435429"/>
            <a:ext cx="1792389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ESSAY GOLD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7"/>
          <p:cNvSpPr/>
          <p:nvPr/>
        </p:nvSpPr>
        <p:spPr>
          <a:xfrm>
            <a:off x="3305845" y="8349704"/>
            <a:ext cx="14018872" cy="7847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04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best host in the Odyssey is an enslaved swineherd; the worst are noblemen feasting in a palace. What is Homer saying about worth?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7"/>
          <p:cNvSpPr/>
          <p:nvPr/>
        </p:nvSpPr>
        <p:spPr>
          <a:xfrm>
            <a:off x="990600" y="9534525"/>
            <a:ext cx="32431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25 · Xenia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0" name="Google Shape;700;p27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8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8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8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8"/>
          <p:cNvSpPr/>
          <p:nvPr/>
        </p:nvSpPr>
        <p:spPr>
          <a:xfrm>
            <a:off x="990600" y="2100263"/>
            <a:ext cx="5232350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8"/>
          <p:cNvSpPr/>
          <p:nvPr/>
        </p:nvSpPr>
        <p:spPr>
          <a:xfrm>
            <a:off x="1343025" y="2414588"/>
            <a:ext cx="1266155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8"/>
          <p:cNvSpPr/>
          <p:nvPr/>
        </p:nvSpPr>
        <p:spPr>
          <a:xfrm>
            <a:off x="1476375" y="2471738"/>
            <a:ext cx="107565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8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welcome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8"/>
          <p:cNvSpPr/>
          <p:nvPr/>
        </p:nvSpPr>
        <p:spPr>
          <a:xfrm>
            <a:off x="1343025" y="3428479"/>
            <a:ext cx="4663325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Drives off his own dogs — protection first; seats the beggar on his own goatskin bedding.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8"/>
          <p:cNvSpPr/>
          <p:nvPr/>
        </p:nvSpPr>
        <p:spPr>
          <a:xfrm>
            <a:off x="1343025" y="485722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8"/>
          <p:cNvSpPr/>
          <p:nvPr/>
        </p:nvSpPr>
        <p:spPr>
          <a:xfrm>
            <a:off x="1343025" y="5019154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'Strangers and beggars come from Zeus; a gift, though small, is dear' — the creed from below.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8"/>
          <p:cNvSpPr/>
          <p:nvPr/>
        </p:nvSpPr>
        <p:spPr>
          <a:xfrm>
            <a:off x="6527750" y="2100263"/>
            <a:ext cx="5232425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8"/>
          <p:cNvSpPr/>
          <p:nvPr/>
        </p:nvSpPr>
        <p:spPr>
          <a:xfrm>
            <a:off x="6880175" y="2414588"/>
            <a:ext cx="1266155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8"/>
          <p:cNvSpPr/>
          <p:nvPr/>
        </p:nvSpPr>
        <p:spPr>
          <a:xfrm>
            <a:off x="7013525" y="2471738"/>
            <a:ext cx="107565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8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feast &amp; the cloak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8"/>
          <p:cNvSpPr/>
          <p:nvPr/>
        </p:nvSpPr>
        <p:spPr>
          <a:xfrm>
            <a:off x="6880175" y="3428479"/>
            <a:ext cx="4663402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Suckling pig, with an apology — the fat hogs go to the suitors: the menu as accusation; feed first, ask later kept exactly.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8"/>
          <p:cNvSpPr/>
          <p:nvPr/>
        </p:nvSpPr>
        <p:spPr>
          <a:xfrm>
            <a:off x="6880175" y="4857229"/>
            <a:ext cx="452757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8"/>
          <p:cNvSpPr/>
          <p:nvPr/>
        </p:nvSpPr>
        <p:spPr>
          <a:xfrm>
            <a:off x="6880175" y="5019154"/>
            <a:ext cx="4663402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The storm-night: his own spare cloak lent, and he sleeps out on guard — giving that costs.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8"/>
          <p:cNvSpPr/>
          <p:nvPr/>
        </p:nvSpPr>
        <p:spPr>
          <a:xfrm>
            <a:off x="12064975" y="2100263"/>
            <a:ext cx="5232350" cy="4227537"/>
          </a:xfrm>
          <a:prstGeom prst="roundRect">
            <a:avLst>
              <a:gd fmla="val 3605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8"/>
          <p:cNvSpPr/>
          <p:nvPr/>
        </p:nvSpPr>
        <p:spPr>
          <a:xfrm>
            <a:off x="12417400" y="2414588"/>
            <a:ext cx="1266155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8"/>
          <p:cNvSpPr/>
          <p:nvPr/>
        </p:nvSpPr>
        <p:spPr>
          <a:xfrm>
            <a:off x="12550750" y="2471738"/>
            <a:ext cx="1075655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8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it proves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8"/>
          <p:cNvSpPr/>
          <p:nvPr/>
        </p:nvSpPr>
        <p:spPr>
          <a:xfrm>
            <a:off x="12417400" y="3428479"/>
            <a:ext cx="4663325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Measured by proportion, the hut outgives the palace — xenia is a disposition, not a budget.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8"/>
          <p:cNvSpPr/>
          <p:nvPr/>
        </p:nvSpPr>
        <p:spPr>
          <a:xfrm>
            <a:off x="12417400" y="4525789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8"/>
          <p:cNvSpPr/>
          <p:nvPr/>
        </p:nvSpPr>
        <p:spPr>
          <a:xfrm>
            <a:off x="12417400" y="4687714"/>
            <a:ext cx="4663325" cy="1363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Theoxeny made real: he hosts his own master unknowing. The scale is complete: Cyclops – suitors – kings – Phaeacians – Eumaeus.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8"/>
          <p:cNvSpPr/>
          <p:nvPr/>
        </p:nvSpPr>
        <p:spPr>
          <a:xfrm>
            <a:off x="990600" y="9534525"/>
            <a:ext cx="32431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25 · Xenia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1" name="Google Shape;731;p28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29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9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9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9"/>
          <p:cNvSpPr/>
          <p:nvPr/>
        </p:nvSpPr>
        <p:spPr>
          <a:xfrm>
            <a:off x="990600" y="2115071"/>
            <a:ext cx="6134100" cy="3091755"/>
          </a:xfrm>
          <a:prstGeom prst="roundRect">
            <a:avLst>
              <a:gd fmla="val 492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9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9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29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9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Apply the checklist to Eumaeus's hut with evidence.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9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9"/>
          <p:cNvSpPr/>
          <p:nvPr/>
        </p:nvSpPr>
        <p:spPr>
          <a:xfrm>
            <a:off x="1758628" y="4003849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Explain what hospitality from poverty adds to the theme.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9"/>
          <p:cNvSpPr/>
          <p:nvPr/>
        </p:nvSpPr>
        <p:spPr>
          <a:xfrm>
            <a:off x="7543800" y="319511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9"/>
          <p:cNvSpPr/>
          <p:nvPr/>
        </p:nvSpPr>
        <p:spPr>
          <a:xfrm>
            <a:off x="7543800" y="2357958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APPLY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9"/>
          <p:cNvSpPr/>
          <p:nvPr/>
        </p:nvSpPr>
        <p:spPr>
          <a:xfrm>
            <a:off x="9544050" y="2296046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Run the xenia checklist on Book 14 — cite the moment that satisfies each step.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9"/>
          <p:cNvSpPr/>
          <p:nvPr/>
        </p:nvSpPr>
        <p:spPr>
          <a:xfrm>
            <a:off x="7543800" y="428468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9"/>
          <p:cNvSpPr/>
          <p:nvPr/>
        </p:nvSpPr>
        <p:spPr>
          <a:xfrm>
            <a:off x="7543800" y="3447529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COMPARE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9"/>
          <p:cNvSpPr/>
          <p:nvPr/>
        </p:nvSpPr>
        <p:spPr>
          <a:xfrm>
            <a:off x="9544050" y="3385617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Eumaeus and Alcinous as hosts — argue which gives more, and by what measure.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9"/>
          <p:cNvSpPr/>
          <p:nvPr/>
        </p:nvSpPr>
        <p:spPr>
          <a:xfrm>
            <a:off x="7543800" y="5374258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9"/>
          <p:cNvSpPr/>
          <p:nvPr/>
        </p:nvSpPr>
        <p:spPr>
          <a:xfrm>
            <a:off x="7543800" y="4537100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9"/>
          <p:cNvSpPr/>
          <p:nvPr/>
        </p:nvSpPr>
        <p:spPr>
          <a:xfrm>
            <a:off x="9544050" y="4475187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does dramatic irony (host and unknown master) intensify the scene?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9"/>
          <p:cNvSpPr/>
          <p:nvPr/>
        </p:nvSpPr>
        <p:spPr>
          <a:xfrm>
            <a:off x="7543800" y="5626671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9"/>
          <p:cNvSpPr/>
          <p:nvPr/>
        </p:nvSpPr>
        <p:spPr>
          <a:xfrm>
            <a:off x="9544050" y="5564758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'By Book 14, the Odyssey has shown that xenia has nothing to do with wealth.'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9"/>
          <p:cNvSpPr/>
          <p:nvPr/>
        </p:nvSpPr>
        <p:spPr>
          <a:xfrm>
            <a:off x="990600" y="9534525"/>
            <a:ext cx="3243114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25 · Xenia revisited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9" name="Google Shape;759;p29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45000">
                <a:srgbClr val="0D1433"/>
              </a:gs>
              <a:gs pos="100000">
                <a:srgbClr val="080C1F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6" name="Google Shape;76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30"/>
          <p:cNvSpPr/>
          <p:nvPr/>
        </p:nvSpPr>
        <p:spPr>
          <a:xfrm>
            <a:off x="1524000" y="666750"/>
            <a:ext cx="823367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Inter"/>
              <a:buNone/>
            </a:pPr>
            <a:r>
              <a:rPr b="1" i="0" lang="en-US" sz="17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HOMER'S ODYSSEY · TOPIC 4 · THE HOMECOMING</a:t>
            </a:r>
            <a:endParaRPr b="0" i="0" sz="17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0"/>
          <p:cNvSpPr/>
          <p:nvPr/>
        </p:nvSpPr>
        <p:spPr>
          <a:xfrm>
            <a:off x="15527238" y="609600"/>
            <a:ext cx="1360438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7817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Lora"/>
              <a:buNone/>
            </a:pPr>
            <a:r>
              <a:rPr b="1" i="1" lang="en-US" sz="90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26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0"/>
          <p:cNvSpPr/>
          <p:nvPr/>
        </p:nvSpPr>
        <p:spPr>
          <a:xfrm>
            <a:off x="1524000" y="3028950"/>
            <a:ext cx="184600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3000"/>
              <a:buFont typeface="Lora"/>
              <a:buNone/>
            </a:pPr>
            <a:r>
              <a:rPr b="0" i="1" lang="en-US" sz="3000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Lesson 26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0"/>
          <p:cNvSpPr/>
          <p:nvPr/>
        </p:nvSpPr>
        <p:spPr>
          <a:xfrm>
            <a:off x="3449836" y="3157538"/>
            <a:ext cx="1593205" cy="357188"/>
          </a:xfrm>
          <a:prstGeom prst="roundRect">
            <a:avLst>
              <a:gd fmla="val 16000" name="adj"/>
            </a:avLst>
          </a:prstGeom>
          <a:solidFill>
            <a:srgbClr val="5ECB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0"/>
          <p:cNvSpPr/>
          <p:nvPr/>
        </p:nvSpPr>
        <p:spPr>
          <a:xfrm>
            <a:off x="3602236" y="3214688"/>
            <a:ext cx="1364605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0D1433"/>
                </a:solidFill>
                <a:latin typeface="Inter"/>
                <a:ea typeface="Inter"/>
                <a:cs typeface="Inter"/>
                <a:sym typeface="Inter"/>
              </a:rPr>
              <a:t>NEW IDEA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0"/>
          <p:cNvSpPr/>
          <p:nvPr/>
        </p:nvSpPr>
        <p:spPr>
          <a:xfrm>
            <a:off x="1524000" y="3609975"/>
            <a:ext cx="16764000" cy="12069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0"/>
              <a:buFont typeface="Lora"/>
              <a:buNone/>
            </a:pPr>
            <a:r>
              <a:rPr b="1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Fathers &amp; sons: </a:t>
            </a:r>
            <a:r>
              <a:rPr b="0" i="1" lang="en-US" sz="88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generations</a:t>
            </a:r>
            <a:endParaRPr b="0" i="0" sz="8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0"/>
          <p:cNvSpPr/>
          <p:nvPr/>
        </p:nvSpPr>
        <p:spPr>
          <a:xfrm>
            <a:off x="1524000" y="5388471"/>
            <a:ext cx="148590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30"/>
          <p:cNvSpPr/>
          <p:nvPr/>
        </p:nvSpPr>
        <p:spPr>
          <a:xfrm>
            <a:off x="1524000" y="5740896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LEARNING INTENTION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0"/>
          <p:cNvSpPr/>
          <p:nvPr/>
        </p:nvSpPr>
        <p:spPr>
          <a:xfrm>
            <a:off x="1524000" y="6098084"/>
            <a:ext cx="7259955" cy="81141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 the father–son bonds that structure the poem, through the reunion of Book 16.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0"/>
          <p:cNvSpPr/>
          <p:nvPr/>
        </p:nvSpPr>
        <p:spPr>
          <a:xfrm>
            <a:off x="9334500" y="5740896"/>
            <a:ext cx="7753350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75"/>
              <a:buFont typeface="Inter"/>
              <a:buNone/>
            </a:pPr>
            <a:r>
              <a:rPr b="1" i="0" lang="en-US" sz="1575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SUCCESS CRITERIA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0"/>
          <p:cNvSpPr/>
          <p:nvPr/>
        </p:nvSpPr>
        <p:spPr>
          <a:xfrm>
            <a:off x="9334500" y="6098084"/>
            <a:ext cx="7259955" cy="11980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4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Inter"/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Trace Odysseus–Telemachus in detail; set the bond in the poem's wider web of fathers and sons; explain Telemachus as ally.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78" name="Google Shape;778;p30"/>
          <p:cNvPicPr preferRelativeResize="0"/>
          <p:nvPr/>
        </p:nvPicPr>
        <p:blipFill rotWithShape="1">
          <a:blip r:embed="rId4">
            <a:alphaModFix amt="80000"/>
          </a:blip>
          <a:srcRect b="0" l="0" r="0" t="0"/>
          <a:stretch/>
        </p:blipFill>
        <p:spPr>
          <a:xfrm>
            <a:off x="1524000" y="9429750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1"/>
          <p:cNvSpPr/>
          <p:nvPr/>
        </p:nvSpPr>
        <p:spPr>
          <a:xfrm>
            <a:off x="990600" y="666750"/>
            <a:ext cx="2123108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31"/>
          <p:cNvSpPr/>
          <p:nvPr/>
        </p:nvSpPr>
        <p:spPr>
          <a:xfrm>
            <a:off x="3208958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31"/>
          <p:cNvSpPr/>
          <p:nvPr/>
        </p:nvSpPr>
        <p:spPr>
          <a:xfrm>
            <a:off x="990600" y="1271588"/>
            <a:ext cx="6475095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 poem of fathers and sons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1"/>
          <p:cNvSpPr/>
          <p:nvPr/>
        </p:nvSpPr>
        <p:spPr>
          <a:xfrm>
            <a:off x="990600" y="2828330"/>
            <a:ext cx="6475095" cy="16222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2667"/>
              </a:lnSpc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3150"/>
              <a:buFont typeface="Lora"/>
              <a:buNone/>
            </a:pPr>
            <a:r>
              <a:rPr b="0" i="1" lang="en-US" sz="31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Beneath the adventure, the Odyssey is a study of the male line.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31"/>
          <p:cNvSpPr/>
          <p:nvPr/>
        </p:nvSpPr>
        <p:spPr>
          <a:xfrm>
            <a:off x="990600" y="4660106"/>
            <a:ext cx="6475095" cy="12337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8769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What a father owes a son, what a son must become, and what twenty years' absence does to both.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1"/>
          <p:cNvSpPr/>
          <p:nvPr/>
        </p:nvSpPr>
        <p:spPr>
          <a:xfrm>
            <a:off x="8039100" y="4213473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31"/>
          <p:cNvSpPr/>
          <p:nvPr/>
        </p:nvSpPr>
        <p:spPr>
          <a:xfrm>
            <a:off x="8039100" y="2971502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THE FIRST MOVEMENT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1"/>
          <p:cNvSpPr/>
          <p:nvPr/>
        </p:nvSpPr>
        <p:spPr>
          <a:xfrm>
            <a:off x="8039100" y="3304877"/>
            <a:ext cx="9536049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 son in search of a father (the Telemachy, Topic 1): Telemachus setting out precisely because he had never known his.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1"/>
          <p:cNvSpPr/>
          <p:nvPr/>
        </p:nvSpPr>
        <p:spPr>
          <a:xfrm>
            <a:off x="8039100" y="6014517"/>
            <a:ext cx="9258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31"/>
          <p:cNvSpPr/>
          <p:nvPr/>
        </p:nvSpPr>
        <p:spPr>
          <a:xfrm>
            <a:off x="8039100" y="4413498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THREE GENERATIONS ON ITHACA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1"/>
          <p:cNvSpPr/>
          <p:nvPr/>
        </p:nvSpPr>
        <p:spPr>
          <a:xfrm>
            <a:off x="8039100" y="4746873"/>
            <a:ext cx="9536049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Laertes, the father withdrawn to the countryside in grief (we heard it from Anticleia in Hades); Odysseus; and Telemachus, who must grow from boy to ally.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1"/>
          <p:cNvSpPr/>
          <p:nvPr/>
        </p:nvSpPr>
        <p:spPr>
          <a:xfrm>
            <a:off x="8039100" y="6214542"/>
            <a:ext cx="1018413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THE WIDER WEB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1"/>
          <p:cNvSpPr/>
          <p:nvPr/>
        </p:nvSpPr>
        <p:spPr>
          <a:xfrm>
            <a:off x="8039100" y="6547917"/>
            <a:ext cx="9536049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Nestor flanked by Peisistratus; Menelaus without a legitimate heir; Achilles in Hades exulting only in news of Neoptolemus — even Poseidon's whole vendetta is a father avenging his son, Polyphemus.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1"/>
          <p:cNvSpPr/>
          <p:nvPr/>
        </p:nvSpPr>
        <p:spPr>
          <a:xfrm>
            <a:off x="990600" y="9534525"/>
            <a:ext cx="31858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26 · Fathers &amp; sons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8" name="Google Shape;798;p31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3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F1738"/>
              </a:gs>
              <a:gs pos="50000">
                <a:srgbClr val="0D1433"/>
              </a:gs>
              <a:gs pos="100000">
                <a:srgbClr val="080C1F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32"/>
          <p:cNvSpPr/>
          <p:nvPr/>
        </p:nvSpPr>
        <p:spPr>
          <a:xfrm>
            <a:off x="990600" y="666750"/>
            <a:ext cx="2554635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CLOSE ANALYSIS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2"/>
          <p:cNvSpPr/>
          <p:nvPr/>
        </p:nvSpPr>
        <p:spPr>
          <a:xfrm>
            <a:off x="3640485" y="797719"/>
            <a:ext cx="666750" cy="19050"/>
          </a:xfrm>
          <a:prstGeom prst="rect">
            <a:avLst/>
          </a:prstGeom>
          <a:solidFill>
            <a:srgbClr val="5E9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32"/>
          <p:cNvSpPr/>
          <p:nvPr/>
        </p:nvSpPr>
        <p:spPr>
          <a:xfrm>
            <a:off x="990600" y="1138238"/>
            <a:ext cx="17937480" cy="6581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8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Book 16: the reunion, in full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32"/>
          <p:cNvSpPr/>
          <p:nvPr/>
        </p:nvSpPr>
        <p:spPr>
          <a:xfrm>
            <a:off x="990600" y="3432274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32"/>
          <p:cNvSpPr/>
          <p:nvPr/>
        </p:nvSpPr>
        <p:spPr>
          <a:xfrm>
            <a:off x="990600" y="2158305"/>
            <a:ext cx="68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2"/>
          <p:cNvSpPr/>
          <p:nvPr/>
        </p:nvSpPr>
        <p:spPr>
          <a:xfrm>
            <a:off x="1905000" y="2244030"/>
            <a:ext cx="15854172" cy="1073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Lora"/>
              <a:buNone/>
            </a:pPr>
            <a:r>
              <a:rPr b="1" i="1" lang="en-US" sz="187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First, a surrogate father: </a:t>
            </a: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Eumaeus kisses Telemachus and weeps over him 'as a father greets his own son come back in the tenth year from a far country' — Homer plants the father-simile on the wrong man, one scene before the right one, and Telemachus calls him 'atta', papa.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2"/>
          <p:cNvSpPr/>
          <p:nvPr/>
        </p:nvSpPr>
        <p:spPr>
          <a:xfrm>
            <a:off x="990600" y="4522887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32"/>
          <p:cNvSpPr/>
          <p:nvPr/>
        </p:nvSpPr>
        <p:spPr>
          <a:xfrm>
            <a:off x="990600" y="3594199"/>
            <a:ext cx="68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ii.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2"/>
          <p:cNvSpPr/>
          <p:nvPr/>
        </p:nvSpPr>
        <p:spPr>
          <a:xfrm>
            <a:off x="1905000" y="3679924"/>
            <a:ext cx="1585417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Lora"/>
              <a:buNone/>
            </a:pPr>
            <a:r>
              <a:rPr b="1" i="1" lang="en-US" sz="187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Strangers' courtesies: </a:t>
            </a: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beggar rises to give the young master his seat; Telemachus courteously refuses — the true father and son exchanging politenesses as strangers: dramatic irony at its most tender.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2"/>
          <p:cNvSpPr/>
          <p:nvPr/>
        </p:nvSpPr>
        <p:spPr>
          <a:xfrm>
            <a:off x="990600" y="5613499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2"/>
          <p:cNvSpPr/>
          <p:nvPr/>
        </p:nvSpPr>
        <p:spPr>
          <a:xfrm>
            <a:off x="990600" y="4684812"/>
            <a:ext cx="68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iii.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2"/>
          <p:cNvSpPr/>
          <p:nvPr/>
        </p:nvSpPr>
        <p:spPr>
          <a:xfrm>
            <a:off x="1905000" y="4770537"/>
            <a:ext cx="1585417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1875"/>
              <a:buFont typeface="Lora"/>
              <a:buNone/>
            </a:pPr>
            <a:r>
              <a:rPr b="1" i="1" lang="en-US" sz="1875" u="none" cap="none" strike="noStrike">
                <a:solidFill>
                  <a:srgbClr val="5E9FFF"/>
                </a:solidFill>
                <a:latin typeface="Lora"/>
                <a:ea typeface="Lora"/>
                <a:cs typeface="Lora"/>
                <a:sym typeface="Lora"/>
              </a:rPr>
              <a:t>'No god am I — I am your father, </a:t>
            </a: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 whose sake you have grieved and suffered and endured the violence of men.' Eumaeus dispatched, Athene restores Odysseus; Telemachus takes the transformation for a god's epiphany and prays to it.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2"/>
          <p:cNvSpPr/>
          <p:nvPr/>
        </p:nvSpPr>
        <p:spPr>
          <a:xfrm>
            <a:off x="990600" y="7049393"/>
            <a:ext cx="163068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32"/>
          <p:cNvSpPr/>
          <p:nvPr/>
        </p:nvSpPr>
        <p:spPr>
          <a:xfrm>
            <a:off x="990600" y="5775424"/>
            <a:ext cx="68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iv.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2"/>
          <p:cNvSpPr/>
          <p:nvPr/>
        </p:nvSpPr>
        <p:spPr>
          <a:xfrm>
            <a:off x="1905000" y="5861149"/>
            <a:ext cx="15854172" cy="1073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Lora"/>
              <a:buNone/>
            </a:pPr>
            <a:r>
              <a:rPr b="1" i="1" lang="en-US" sz="187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Disbelief, then release: </a:t>
            </a: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mortal changes like that — only Odysseus's explanation (this is Athene's doing) unlocks him. Then twenty years break at once: they cling and wail 'more piercingly than sea-eagles robbed of their unfledged young' — the grief of parents inside the joy of reunion.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2"/>
          <p:cNvSpPr/>
          <p:nvPr/>
        </p:nvSpPr>
        <p:spPr>
          <a:xfrm>
            <a:off x="990600" y="7211318"/>
            <a:ext cx="685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Lora"/>
              <a:buNone/>
            </a:pPr>
            <a:r>
              <a:rPr b="1" i="1" lang="en-US" sz="27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2"/>
          <p:cNvSpPr/>
          <p:nvPr/>
        </p:nvSpPr>
        <p:spPr>
          <a:xfrm>
            <a:off x="1905000" y="7297043"/>
            <a:ext cx="15854172" cy="728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75"/>
              <a:buFont typeface="Lora"/>
              <a:buNone/>
            </a:pPr>
            <a:r>
              <a:rPr b="1" i="1" lang="en-US" sz="1875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Turned to business: </a:t>
            </a:r>
            <a:r>
              <a:rPr b="0" i="0" lang="en-US" sz="187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nightfall would have found them still weeping, Homer says, had Telemachus not asked the practical question — what ship brought you? The poem itself turns them from tears to work.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2"/>
          <p:cNvSpPr/>
          <p:nvPr/>
        </p:nvSpPr>
        <p:spPr>
          <a:xfrm>
            <a:off x="990600" y="9534525"/>
            <a:ext cx="31858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Lesson 26 · Fathers &amp; sons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3" name="Google Shape;823;p32"/>
          <p:cNvPicPr preferRelativeResize="0"/>
          <p:nvPr/>
        </p:nvPicPr>
        <p:blipFill rotWithShape="1">
          <a:blip r:embed="rId3">
            <a:alphaModFix amt="80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3"/>
          <p:cNvSpPr/>
          <p:nvPr/>
        </p:nvSpPr>
        <p:spPr>
          <a:xfrm>
            <a:off x="990600" y="666750"/>
            <a:ext cx="1498327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IN DETAIL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2584177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33"/>
          <p:cNvSpPr/>
          <p:nvPr/>
        </p:nvSpPr>
        <p:spPr>
          <a:xfrm>
            <a:off x="990600" y="1233488"/>
            <a:ext cx="6082665" cy="12900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266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650"/>
              <a:buFont typeface="Lora"/>
              <a:buNone/>
            </a:pPr>
            <a:r>
              <a:rPr b="1" i="1" lang="en-US" sz="465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From son to ally — the plotting</a:t>
            </a:r>
            <a:endParaRPr b="0" i="0" sz="4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3"/>
          <p:cNvSpPr/>
          <p:nvPr/>
        </p:nvSpPr>
        <p:spPr>
          <a:xfrm>
            <a:off x="990600" y="2771180"/>
            <a:ext cx="6082665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4615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council of two is the reunion's real payoff: father and son move straight from embrace to strategy — the bond expressed not in words but in shared work.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3"/>
          <p:cNvSpPr/>
          <p:nvPr/>
        </p:nvSpPr>
        <p:spPr>
          <a:xfrm>
            <a:off x="990600" y="4638080"/>
            <a:ext cx="5905500" cy="2370534"/>
          </a:xfrm>
          <a:prstGeom prst="roundRect">
            <a:avLst>
              <a:gd fmla="val 5625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33"/>
          <p:cNvSpPr/>
          <p:nvPr/>
        </p:nvSpPr>
        <p:spPr>
          <a:xfrm>
            <a:off x="1314450" y="4885730"/>
            <a:ext cx="5783580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MARK THIS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3"/>
          <p:cNvSpPr/>
          <p:nvPr/>
        </p:nvSpPr>
        <p:spPr>
          <a:xfrm>
            <a:off x="1314450" y="5214342"/>
            <a:ext cx="5415534" cy="15847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43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Lora"/>
              <a:buNone/>
            </a:pPr>
            <a:r>
              <a:rPr b="0" i="1" lang="en-US" sz="2100" u="none" cap="none" strike="noStrike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The boy of Book 1 who sat helpless among the suitors is now a co-conspirator, trusted with the plan's hardest part — doing nothing, convincingly.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3"/>
          <p:cNvSpPr/>
          <p:nvPr/>
        </p:nvSpPr>
        <p:spPr>
          <a:xfrm>
            <a:off x="7658100" y="4556522"/>
            <a:ext cx="9639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33"/>
          <p:cNvSpPr/>
          <p:nvPr/>
        </p:nvSpPr>
        <p:spPr>
          <a:xfrm>
            <a:off x="7658100" y="2620566"/>
            <a:ext cx="2619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numbers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3"/>
          <p:cNvSpPr/>
          <p:nvPr/>
        </p:nvSpPr>
        <p:spPr>
          <a:xfrm>
            <a:off x="10306050" y="2649141"/>
            <a:ext cx="7201091" cy="17645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Telemachus talks like a realist: the suitors are not ten or twenty but, counted band by band, well over a hundred men — how can two fight them? Odysseus's answer: will Athene and father Zeus be allies enough, or shall we think of another? The theology of the whole poem in one reply.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3"/>
          <p:cNvSpPr/>
          <p:nvPr/>
        </p:nvSpPr>
        <p:spPr>
          <a:xfrm>
            <a:off x="7658100" y="6682978"/>
            <a:ext cx="96393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3"/>
          <p:cNvSpPr/>
          <p:nvPr/>
        </p:nvSpPr>
        <p:spPr>
          <a:xfrm>
            <a:off x="7658100" y="4747022"/>
            <a:ext cx="2619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Mētis, delegated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33"/>
          <p:cNvSpPr/>
          <p:nvPr/>
        </p:nvSpPr>
        <p:spPr>
          <a:xfrm>
            <a:off x="10306050" y="4775597"/>
            <a:ext cx="7201091" cy="176450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Telemachus will return to the palace and endure whatever he sees (endurance now taught father to son); the arms will be removed from the hall on a pretext — smoke has spoiled them, and men in drink might wound each other — keeping weapons for just the two of them.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3"/>
          <p:cNvSpPr/>
          <p:nvPr/>
        </p:nvSpPr>
        <p:spPr>
          <a:xfrm>
            <a:off x="7658100" y="6873478"/>
            <a:ext cx="2619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2250"/>
              <a:buFont typeface="Lora"/>
              <a:buNone/>
            </a:pPr>
            <a:r>
              <a:rPr b="1" i="1" lang="en-US" sz="2250" u="none" cap="none" strike="noStrike">
                <a:solidFill>
                  <a:srgbClr val="C0392B"/>
                </a:solidFill>
                <a:latin typeface="Lora"/>
                <a:ea typeface="Lora"/>
                <a:cs typeface="Lora"/>
                <a:sym typeface="Lora"/>
              </a:rPr>
              <a:t>Secrecy absolute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3"/>
          <p:cNvSpPr/>
          <p:nvPr/>
        </p:nvSpPr>
        <p:spPr>
          <a:xfrm>
            <a:off x="10306050" y="6902053"/>
            <a:ext cx="7201091" cy="10739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No one is to know — not Laertes, not Eumaeus, not even Penelope. Agamemnon's advice governs even the reunion: the circle of trust is exactly two.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3"/>
          <p:cNvSpPr/>
          <p:nvPr/>
        </p:nvSpPr>
        <p:spPr>
          <a:xfrm>
            <a:off x="990600" y="9534525"/>
            <a:ext cx="31858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26 · Fathers &amp; sons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5" name="Google Shape;845;p33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4"/>
          <p:cNvSpPr/>
          <p:nvPr/>
        </p:nvSpPr>
        <p:spPr>
          <a:xfrm>
            <a:off x="990600" y="666750"/>
            <a:ext cx="2206972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GOING DEEPER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4"/>
          <p:cNvSpPr/>
          <p:nvPr/>
        </p:nvSpPr>
        <p:spPr>
          <a:xfrm>
            <a:off x="3292822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34"/>
          <p:cNvSpPr/>
          <p:nvPr/>
        </p:nvSpPr>
        <p:spPr>
          <a:xfrm>
            <a:off x="990600" y="1138238"/>
            <a:ext cx="17937480" cy="6781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95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What the generations mean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4"/>
          <p:cNvSpPr/>
          <p:nvPr/>
        </p:nvSpPr>
        <p:spPr>
          <a:xfrm>
            <a:off x="990600" y="2121173"/>
            <a:ext cx="8001000" cy="2505075"/>
          </a:xfrm>
          <a:prstGeom prst="roundRect">
            <a:avLst>
              <a:gd fmla="val 6084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34"/>
          <p:cNvSpPr/>
          <p:nvPr/>
        </p:nvSpPr>
        <p:spPr>
          <a:xfrm>
            <a:off x="1362075" y="2416448"/>
            <a:ext cx="798385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Identity is patrilineal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4"/>
          <p:cNvSpPr/>
          <p:nvPr/>
        </p:nvSpPr>
        <p:spPr>
          <a:xfrm>
            <a:off x="1362075" y="2921273"/>
            <a:ext cx="747579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Odysseus introduced himself to the Phaeacians as 'son of Laertes', and the taunt that stung Telemachus in Book 1 was that he might not be his father's son. The reunion repairs a lineage, not just a family.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4"/>
          <p:cNvSpPr/>
          <p:nvPr/>
        </p:nvSpPr>
        <p:spPr>
          <a:xfrm>
            <a:off x="9296400" y="2121173"/>
            <a:ext cx="8001000" cy="2505075"/>
          </a:xfrm>
          <a:prstGeom prst="roundRect">
            <a:avLst>
              <a:gd fmla="val 6084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4"/>
          <p:cNvSpPr/>
          <p:nvPr/>
        </p:nvSpPr>
        <p:spPr>
          <a:xfrm>
            <a:off x="9667875" y="2416448"/>
            <a:ext cx="798385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The nostos is generational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4"/>
          <p:cNvSpPr/>
          <p:nvPr/>
        </p:nvSpPr>
        <p:spPr>
          <a:xfrm>
            <a:off x="9667875" y="2921273"/>
            <a:ext cx="7475792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Odysseus is not fully home until all three generations stand together — which is why the poem will end with Laertes (Book 24, to come): grandfather, father and son in arms, side by side.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4"/>
          <p:cNvSpPr/>
          <p:nvPr/>
        </p:nvSpPr>
        <p:spPr>
          <a:xfrm>
            <a:off x="990600" y="4931048"/>
            <a:ext cx="8001000" cy="2505075"/>
          </a:xfrm>
          <a:prstGeom prst="roundRect">
            <a:avLst>
              <a:gd fmla="val 6084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34"/>
          <p:cNvSpPr/>
          <p:nvPr/>
        </p:nvSpPr>
        <p:spPr>
          <a:xfrm>
            <a:off x="1362075" y="5226323"/>
            <a:ext cx="798385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Beyond Orestes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34"/>
          <p:cNvSpPr/>
          <p:nvPr/>
        </p:nvSpPr>
        <p:spPr>
          <a:xfrm>
            <a:off x="1362075" y="5731148"/>
            <a:ext cx="747579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Since Book 1, Telemachus has been told to be like Orestes — the son who acted. But Homer betters the model: Orestes avenged a dead father; Telemachus gets what Orestes never had — to fight beside a living one.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34"/>
          <p:cNvSpPr/>
          <p:nvPr/>
        </p:nvSpPr>
        <p:spPr>
          <a:xfrm>
            <a:off x="9296400" y="4931048"/>
            <a:ext cx="8001000" cy="2505075"/>
          </a:xfrm>
          <a:prstGeom prst="roundRect">
            <a:avLst>
              <a:gd fmla="val 6084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34"/>
          <p:cNvSpPr/>
          <p:nvPr/>
        </p:nvSpPr>
        <p:spPr>
          <a:xfrm>
            <a:off x="9667875" y="5226323"/>
            <a:ext cx="798385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2400"/>
              <a:buFont typeface="Lora"/>
              <a:buNone/>
            </a:pPr>
            <a:r>
              <a:rPr b="1" i="1" lang="en-US" sz="2400" u="none" cap="none" strike="noStrike">
                <a:solidFill>
                  <a:srgbClr val="1A6FFF"/>
                </a:solidFill>
                <a:latin typeface="Lora"/>
                <a:ea typeface="Lora"/>
                <a:cs typeface="Lora"/>
                <a:sym typeface="Lora"/>
              </a:rPr>
              <a:t>Against the Iliad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34"/>
          <p:cNvSpPr/>
          <p:nvPr/>
        </p:nvSpPr>
        <p:spPr>
          <a:xfrm>
            <a:off x="9667875" y="5731148"/>
            <a:ext cx="7475792" cy="1095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Achilles won glory and never saw his son; Odysseus's reward for choosing home over immortality is precisely this — the recovered son. Fatherhood is what nostos is for.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4"/>
          <p:cNvSpPr/>
          <p:nvPr/>
        </p:nvSpPr>
        <p:spPr>
          <a:xfrm>
            <a:off x="990600" y="9534525"/>
            <a:ext cx="31858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26 · Fathers &amp; sons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67" name="Google Shape;867;p34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5"/>
          <p:cNvSpPr/>
          <p:nvPr/>
        </p:nvSpPr>
        <p:spPr>
          <a:xfrm>
            <a:off x="990600" y="666750"/>
            <a:ext cx="2463329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CONSOLIDATION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5"/>
          <p:cNvSpPr/>
          <p:nvPr/>
        </p:nvSpPr>
        <p:spPr>
          <a:xfrm>
            <a:off x="3549179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35"/>
          <p:cNvSpPr/>
          <p:nvPr/>
        </p:nvSpPr>
        <p:spPr>
          <a:xfrm>
            <a:off x="990600" y="1138238"/>
            <a:ext cx="1793748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818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500"/>
              <a:buFont typeface="Lora"/>
              <a:buNone/>
            </a:pPr>
            <a:r>
              <a:rPr b="1" i="1" lang="en-US" sz="45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After annotating — notes for your booklet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5"/>
          <p:cNvSpPr/>
          <p:nvPr/>
        </p:nvSpPr>
        <p:spPr>
          <a:xfrm>
            <a:off x="990600" y="2100263"/>
            <a:ext cx="5232350" cy="3870350"/>
          </a:xfrm>
          <a:prstGeom prst="roundRect">
            <a:avLst>
              <a:gd fmla="val 393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35"/>
          <p:cNvSpPr/>
          <p:nvPr/>
        </p:nvSpPr>
        <p:spPr>
          <a:xfrm>
            <a:off x="1343025" y="2414588"/>
            <a:ext cx="1261021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35"/>
          <p:cNvSpPr/>
          <p:nvPr/>
        </p:nvSpPr>
        <p:spPr>
          <a:xfrm>
            <a:off x="1476375" y="2471738"/>
            <a:ext cx="107052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5"/>
          <p:cNvSpPr/>
          <p:nvPr/>
        </p:nvSpPr>
        <p:spPr>
          <a:xfrm>
            <a:off x="1343025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reunion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5"/>
          <p:cNvSpPr/>
          <p:nvPr/>
        </p:nvSpPr>
        <p:spPr>
          <a:xfrm>
            <a:off x="1343025" y="3428479"/>
            <a:ext cx="4663325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Eumaeus's father-simile and 'atta' — the surrogate before the real; beggar and master trade courtesies unknowing.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5"/>
          <p:cNvSpPr/>
          <p:nvPr/>
        </p:nvSpPr>
        <p:spPr>
          <a:xfrm>
            <a:off x="1343025" y="4500042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5"/>
          <p:cNvSpPr/>
          <p:nvPr/>
        </p:nvSpPr>
        <p:spPr>
          <a:xfrm>
            <a:off x="1343025" y="4661967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'No god — your father'; disbelief until Athene's work is explained; the sea-eagle simile: grief inside joy.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5"/>
          <p:cNvSpPr/>
          <p:nvPr/>
        </p:nvSpPr>
        <p:spPr>
          <a:xfrm>
            <a:off x="6527750" y="2100263"/>
            <a:ext cx="5232425" cy="3870350"/>
          </a:xfrm>
          <a:prstGeom prst="roundRect">
            <a:avLst>
              <a:gd fmla="val 393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35"/>
          <p:cNvSpPr/>
          <p:nvPr/>
        </p:nvSpPr>
        <p:spPr>
          <a:xfrm>
            <a:off x="6880175" y="2414588"/>
            <a:ext cx="1261021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35"/>
          <p:cNvSpPr/>
          <p:nvPr/>
        </p:nvSpPr>
        <p:spPr>
          <a:xfrm>
            <a:off x="7013525" y="2471738"/>
            <a:ext cx="1070521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 16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5"/>
          <p:cNvSpPr/>
          <p:nvPr/>
        </p:nvSpPr>
        <p:spPr>
          <a:xfrm>
            <a:off x="6880175" y="2933700"/>
            <a:ext cx="4980332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council of two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5"/>
          <p:cNvSpPr/>
          <p:nvPr/>
        </p:nvSpPr>
        <p:spPr>
          <a:xfrm>
            <a:off x="6880175" y="3428479"/>
            <a:ext cx="4663402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Over a hundred suitors counted; 'will Athene and Zeus suffice?'; arms removed on the smoke pretext.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5"/>
          <p:cNvSpPr/>
          <p:nvPr/>
        </p:nvSpPr>
        <p:spPr>
          <a:xfrm>
            <a:off x="6880175" y="4500042"/>
            <a:ext cx="4527575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5"/>
          <p:cNvSpPr/>
          <p:nvPr/>
        </p:nvSpPr>
        <p:spPr>
          <a:xfrm>
            <a:off x="6880175" y="4661967"/>
            <a:ext cx="4663402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Secrecy absolute — not Laertes, not Eumaeus, not Penelope. Telemachus's task: endure and pretend.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5"/>
          <p:cNvSpPr/>
          <p:nvPr/>
        </p:nvSpPr>
        <p:spPr>
          <a:xfrm>
            <a:off x="12064975" y="2100263"/>
            <a:ext cx="5232350" cy="3870350"/>
          </a:xfrm>
          <a:prstGeom prst="roundRect">
            <a:avLst>
              <a:gd fmla="val 3938" name="adj"/>
            </a:avLst>
          </a:prstGeom>
          <a:solidFill>
            <a:srgbClr val="FFFFFF"/>
          </a:solidFill>
          <a:ln cap="flat" cmpd="sng" w="9525">
            <a:solidFill>
              <a:srgbClr val="0D1433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5"/>
          <p:cNvSpPr/>
          <p:nvPr/>
        </p:nvSpPr>
        <p:spPr>
          <a:xfrm>
            <a:off x="12417400" y="2414588"/>
            <a:ext cx="2049587" cy="347663"/>
          </a:xfrm>
          <a:prstGeom prst="roundRect">
            <a:avLst>
              <a:gd fmla="val 16438" name="adj"/>
            </a:avLst>
          </a:prstGeom>
          <a:solidFill>
            <a:srgbClr val="1A6F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35"/>
          <p:cNvSpPr/>
          <p:nvPr/>
        </p:nvSpPr>
        <p:spPr>
          <a:xfrm>
            <a:off x="12550750" y="2471738"/>
            <a:ext cx="1859087" cy="2714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BOOKS 1, 11, 16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5"/>
          <p:cNvSpPr/>
          <p:nvPr/>
        </p:nvSpPr>
        <p:spPr>
          <a:xfrm>
            <a:off x="12417400" y="2933700"/>
            <a:ext cx="4980250" cy="399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0357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2475"/>
              <a:buFont typeface="Lora"/>
              <a:buNone/>
            </a:pPr>
            <a:r>
              <a:rPr b="1" i="1" lang="en-US" sz="2475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The generations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5"/>
          <p:cNvSpPr/>
          <p:nvPr/>
        </p:nvSpPr>
        <p:spPr>
          <a:xfrm>
            <a:off x="12417400" y="3428479"/>
            <a:ext cx="4663325" cy="1109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875"/>
              <a:buFont typeface="Inter"/>
              <a:buNone/>
            </a:pPr>
            <a:r>
              <a:rPr b="0" i="0" lang="en-US" sz="1875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Identity is patrilineal — 'son of Laertes'; the reunion repairs the line; Laertes completes it (Bk 24, to come).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5"/>
          <p:cNvSpPr/>
          <p:nvPr/>
        </p:nvSpPr>
        <p:spPr>
          <a:xfrm>
            <a:off x="12417400" y="4500042"/>
            <a:ext cx="4527500" cy="9525"/>
          </a:xfrm>
          <a:prstGeom prst="rect">
            <a:avLst/>
          </a:prstGeom>
          <a:solidFill>
            <a:srgbClr val="0D1433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5"/>
          <p:cNvSpPr/>
          <p:nvPr/>
        </p:nvSpPr>
        <p:spPr>
          <a:xfrm>
            <a:off x="12417400" y="4661967"/>
            <a:ext cx="4663325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7966"/>
              </a:lnSpc>
              <a:spcBef>
                <a:spcPts val="0"/>
              </a:spcBef>
              <a:spcAft>
                <a:spcPts val="0"/>
              </a:spcAft>
              <a:buClr>
                <a:srgbClr val="6A7090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6A7090"/>
                </a:solidFill>
                <a:latin typeface="Inter"/>
                <a:ea typeface="Inter"/>
                <a:cs typeface="Inter"/>
                <a:sym typeface="Inter"/>
              </a:rPr>
              <a:t>Beyond Orestes: a living father to fight beside. Against Achilles: the son is what nostos is for.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5"/>
          <p:cNvSpPr/>
          <p:nvPr/>
        </p:nvSpPr>
        <p:spPr>
          <a:xfrm>
            <a:off x="990600" y="9534525"/>
            <a:ext cx="31858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26 · Fathers &amp; sons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8" name="Google Shape;898;p35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8F2"/>
        </a:solidFill>
      </p:bgPr>
    </p:bg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6"/>
          <p:cNvSpPr/>
          <p:nvPr/>
        </p:nvSpPr>
        <p:spPr>
          <a:xfrm>
            <a:off x="990600" y="666750"/>
            <a:ext cx="2035746" cy="319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A8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8A90A8"/>
                </a:solidFill>
                <a:latin typeface="Inter"/>
                <a:ea typeface="Inter"/>
                <a:cs typeface="Inter"/>
                <a:sym typeface="Inter"/>
              </a:rPr>
              <a:t>OVER TO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6"/>
          <p:cNvSpPr/>
          <p:nvPr/>
        </p:nvSpPr>
        <p:spPr>
          <a:xfrm>
            <a:off x="3121596" y="797719"/>
            <a:ext cx="666750" cy="19050"/>
          </a:xfrm>
          <a:prstGeom prst="rect">
            <a:avLst/>
          </a:prstGeom>
          <a:solidFill>
            <a:srgbClr val="1A6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6"/>
          <p:cNvSpPr/>
          <p:nvPr/>
        </p:nvSpPr>
        <p:spPr>
          <a:xfrm>
            <a:off x="990600" y="1138238"/>
            <a:ext cx="17937480" cy="6720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81171"/>
              </a:lnSpc>
              <a:spcBef>
                <a:spcPts val="0"/>
              </a:spcBef>
              <a:spcAft>
                <a:spcPts val="0"/>
              </a:spcAft>
              <a:buClr>
                <a:srgbClr val="0D1433"/>
              </a:buClr>
              <a:buSzPts val="4800"/>
              <a:buFont typeface="Lora"/>
              <a:buNone/>
            </a:pPr>
            <a:r>
              <a:rPr b="1" i="1" lang="en-US" sz="4800" u="none" cap="none" strike="noStrike">
                <a:solidFill>
                  <a:srgbClr val="0D1433"/>
                </a:solidFill>
                <a:latin typeface="Lora"/>
                <a:ea typeface="Lora"/>
                <a:cs typeface="Lora"/>
                <a:sym typeface="Lora"/>
              </a:rPr>
              <a:t>Check &amp; task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6"/>
          <p:cNvSpPr/>
          <p:nvPr/>
        </p:nvSpPr>
        <p:spPr>
          <a:xfrm>
            <a:off x="990600" y="2115071"/>
            <a:ext cx="6134100" cy="3091755"/>
          </a:xfrm>
          <a:prstGeom prst="roundRect">
            <a:avLst>
              <a:gd fmla="val 4929" name="adj"/>
            </a:avLst>
          </a:prstGeom>
          <a:solidFill>
            <a:srgbClr val="0D14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36"/>
          <p:cNvSpPr/>
          <p:nvPr/>
        </p:nvSpPr>
        <p:spPr>
          <a:xfrm>
            <a:off x="1390650" y="2457971"/>
            <a:ext cx="58674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A0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6BA0FF"/>
                </a:solidFill>
                <a:latin typeface="Inter"/>
                <a:ea typeface="Inter"/>
                <a:cs typeface="Inter"/>
                <a:sym typeface="Inter"/>
              </a:rPr>
              <a:t>YOU CAN NOW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6"/>
          <p:cNvSpPr/>
          <p:nvPr/>
        </p:nvSpPr>
        <p:spPr>
          <a:xfrm>
            <a:off x="1390650" y="3880024"/>
            <a:ext cx="5334000" cy="9525"/>
          </a:xfrm>
          <a:prstGeom prst="rect">
            <a:avLst/>
          </a:pr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6"/>
          <p:cNvSpPr/>
          <p:nvPr/>
        </p:nvSpPr>
        <p:spPr>
          <a:xfrm>
            <a:off x="1390650" y="3048521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6"/>
          <p:cNvSpPr/>
          <p:nvPr/>
        </p:nvSpPr>
        <p:spPr>
          <a:xfrm>
            <a:off x="1758628" y="3019946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Trace the reunion and the plotting in detail.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36"/>
          <p:cNvSpPr/>
          <p:nvPr/>
        </p:nvSpPr>
        <p:spPr>
          <a:xfrm>
            <a:off x="1390650" y="4032424"/>
            <a:ext cx="272728" cy="3476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9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5E9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6"/>
          <p:cNvSpPr/>
          <p:nvPr/>
        </p:nvSpPr>
        <p:spPr>
          <a:xfrm>
            <a:off x="1758628" y="4003849"/>
            <a:ext cx="5115003" cy="7838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4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25"/>
              <a:buFont typeface="Inter"/>
              <a:buNone/>
            </a:pPr>
            <a:r>
              <a:rPr b="0" i="0" lang="en-US" sz="20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Set the bond in the poem's wider web of fathers and sons.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6"/>
          <p:cNvSpPr/>
          <p:nvPr/>
        </p:nvSpPr>
        <p:spPr>
          <a:xfrm>
            <a:off x="7543800" y="319511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36"/>
          <p:cNvSpPr/>
          <p:nvPr/>
        </p:nvSpPr>
        <p:spPr>
          <a:xfrm>
            <a:off x="7543800" y="2357958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RETELL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6"/>
          <p:cNvSpPr/>
          <p:nvPr/>
        </p:nvSpPr>
        <p:spPr>
          <a:xfrm>
            <a:off x="9544050" y="2296046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reunion in five beats, keeping both similes (Eumaeus's greeting; the sea-eagles).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6"/>
          <p:cNvSpPr/>
          <p:nvPr/>
        </p:nvSpPr>
        <p:spPr>
          <a:xfrm>
            <a:off x="7543800" y="4284687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36"/>
          <p:cNvSpPr/>
          <p:nvPr/>
        </p:nvSpPr>
        <p:spPr>
          <a:xfrm>
            <a:off x="7543800" y="3447529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ANALYSE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6"/>
          <p:cNvSpPr/>
          <p:nvPr/>
        </p:nvSpPr>
        <p:spPr>
          <a:xfrm>
            <a:off x="9544050" y="3385617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What does the immediate turn from weeping to plotting tell us about this father and son?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6"/>
          <p:cNvSpPr/>
          <p:nvPr/>
        </p:nvSpPr>
        <p:spPr>
          <a:xfrm>
            <a:off x="7543800" y="5733306"/>
            <a:ext cx="9753600" cy="9525"/>
          </a:xfrm>
          <a:prstGeom prst="rect">
            <a:avLst/>
          </a:prstGeom>
          <a:solidFill>
            <a:srgbClr val="0D1433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36"/>
          <p:cNvSpPr/>
          <p:nvPr/>
        </p:nvSpPr>
        <p:spPr>
          <a:xfrm>
            <a:off x="7543800" y="4537100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6FFF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A6FFF"/>
                </a:solidFill>
                <a:latin typeface="Inter"/>
                <a:ea typeface="Inter"/>
                <a:cs typeface="Inter"/>
                <a:sym typeface="Inter"/>
              </a:rPr>
              <a:t>MAP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6"/>
          <p:cNvSpPr/>
          <p:nvPr/>
        </p:nvSpPr>
        <p:spPr>
          <a:xfrm>
            <a:off x="9544050" y="4475187"/>
            <a:ext cx="7985950" cy="1115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Inter"/>
              <a:buNone/>
            </a:pP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The poem's father–son web (Laertes–Odysseus–Telemachus; Nestor, Achilles, Poseidon–Polyphemus) — one line on what each adds.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6"/>
          <p:cNvSpPr/>
          <p:nvPr/>
        </p:nvSpPr>
        <p:spPr>
          <a:xfrm>
            <a:off x="7543800" y="5985718"/>
            <a:ext cx="188595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C0392B"/>
                </a:solidFill>
                <a:latin typeface="Inter"/>
                <a:ea typeface="Inter"/>
                <a:cs typeface="Inter"/>
                <a:sym typeface="Inter"/>
              </a:rPr>
              <a:t>EVALUATE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6"/>
          <p:cNvSpPr/>
          <p:nvPr/>
        </p:nvSpPr>
        <p:spPr>
          <a:xfrm>
            <a:off x="9544050" y="5923806"/>
            <a:ext cx="7985950" cy="75619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9683"/>
              </a:lnSpc>
              <a:spcBef>
                <a:spcPts val="0"/>
              </a:spcBef>
              <a:spcAft>
                <a:spcPts val="0"/>
              </a:spcAft>
              <a:buClr>
                <a:srgbClr val="3A4266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3A4266"/>
                </a:solidFill>
                <a:latin typeface="Lora"/>
                <a:ea typeface="Lora"/>
                <a:cs typeface="Lora"/>
                <a:sym typeface="Lora"/>
              </a:rPr>
              <a:t>'The Odyssey is a poem about fatherhood before it is a poem about adventure.' </a:t>
            </a:r>
            <a:r>
              <a:rPr b="0" i="0" lang="en-US" sz="1950" u="none" cap="none" strike="noStrike">
                <a:solidFill>
                  <a:srgbClr val="3A4266"/>
                </a:solidFill>
                <a:latin typeface="Inter"/>
                <a:ea typeface="Inter"/>
                <a:cs typeface="Inter"/>
                <a:sym typeface="Inter"/>
              </a:rPr>
              <a:t>How far do you agree?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6"/>
          <p:cNvSpPr/>
          <p:nvPr/>
        </p:nvSpPr>
        <p:spPr>
          <a:xfrm>
            <a:off x="990600" y="9534525"/>
            <a:ext cx="318589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A4B8"/>
              </a:buClr>
              <a:buSzPts val="1950"/>
              <a:buFont typeface="Lora"/>
              <a:buNone/>
            </a:pPr>
            <a:r>
              <a:rPr b="0" i="1" lang="en-US" sz="1950" u="none" cap="none" strike="noStrike">
                <a:solidFill>
                  <a:srgbClr val="A0A4B8"/>
                </a:solidFill>
                <a:latin typeface="Lora"/>
                <a:ea typeface="Lora"/>
                <a:cs typeface="Lora"/>
                <a:sym typeface="Lora"/>
              </a:rPr>
              <a:t>Lesson 26 · Fathers &amp; sons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6" name="Google Shape;926;p36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15481250" y="9548813"/>
            <a:ext cx="18161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2026-07-16T21:31:45Z</dcterms:created>
  <dc:creator>PptxGenJS</dc:creator>
</cp:coreProperties>
</file>