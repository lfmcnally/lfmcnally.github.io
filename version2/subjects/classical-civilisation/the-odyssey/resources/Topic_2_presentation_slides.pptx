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10287000" cx="18288000"/>
  <p:notesSz cx="10287000" cy="18288000"/>
  <p:embeddedFontLst>
    <p:embeddedFont>
      <p:font typeface="Inter"/>
      <p:regular r:id="rId55"/>
      <p:bold r:id="rId56"/>
      <p:italic r:id="rId57"/>
      <p:boldItalic r:id="rId58"/>
    </p:embeddedFont>
    <p:embeddedFont>
      <p:font typeface="Lora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2AYUZ64c1rGiiUdAjgpBZjAV1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Lora-boldItalic.fntdata"/><Relationship Id="rId61" Type="http://schemas.openxmlformats.org/officeDocument/2006/relationships/font" Target="fonts/Lora-italic.fntdata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Lora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Inter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Inter-italic.fntdata"/><Relationship Id="rId12" Type="http://schemas.openxmlformats.org/officeDocument/2006/relationships/slide" Target="slides/slide8.xml"/><Relationship Id="rId56" Type="http://schemas.openxmlformats.org/officeDocument/2006/relationships/font" Target="fonts/Inter-bold.fntdata"/><Relationship Id="rId15" Type="http://schemas.openxmlformats.org/officeDocument/2006/relationships/slide" Target="slides/slide11.xml"/><Relationship Id="rId59" Type="http://schemas.openxmlformats.org/officeDocument/2006/relationships/font" Target="fonts/Lora-regular.fntdata"/><Relationship Id="rId14" Type="http://schemas.openxmlformats.org/officeDocument/2006/relationships/slide" Target="slides/slide10.xml"/><Relationship Id="rId58" Type="http://schemas.openxmlformats.org/officeDocument/2006/relationships/font" Target="fonts/Inter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OCR A Level Classical Civilisation, Component 11: The World of the Hero. Topic 2 covers Books 5–8, the Phaeacians, across lessons 9–14.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 1 set the scene on Ithaca and established the big ideas. Now, in Books 5–8, the poem turns at last to Odysseus himself.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New: endurance, the supernatural and Phaeacia, suppliancy. Revisited: xenia, women, kleos. The spiral is deliberate — each idea deepens each time it returns.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9, a new idea: endurance (tlēmosynē) as the central Odyssean virtue — defined, contrasted with Iliadic heroism, and traced through the Book 5 similes.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Tlēmosynē: bearing hardship without breaking. Two faces — outward endurance and inward self-control. The epithets polytlas and polymētis carry it; the debates with his thumos dramatise it.</a:t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Achilles: biē and mēnis, a short blazing life, public violent heroism, unmastered passion. Odysseus: mētis and tlēmosynē, homecoming, patient hidden heroism, self-command. The Odyssey redefines heroism.</a:t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steps: the raft, seventeen days and the storm, rock bottom, Ino's veil weighed by reason, two days in the water and the river-mouth, and the final deliberation over where to sleep. Reason to the very end.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similes to know: the octopus (the sea's violence on his body), the buried ember (the last spark of himself), the father's recovery (relief through family love). Learn one closely: image, comparison, effect.</a:t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endurance not force; the deliberations with his thumos; the three similes — learn one in full.</a:t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define–analyse–evaluate task ladder on Book 5.</a:t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10, a new idea: the fabulous world of the poem, and what Phaeacia is and does.</a:t>
            </a:r>
            <a:endParaRPr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real world of Ithaca, Pylos and Sparta against the fabulous realm of gods, monsters and magic. The rule of thumb: the further from home, the more fabulous.</a:t>
            </a:r>
            <a:endParaRPr/>
          </a:p>
        </p:txBody>
      </p:sp>
      <p:sp>
        <p:nvSpPr>
          <p:cNvPr id="300" name="Google Shape;3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forms: the Olympians intervening directly; lesser divinities and nymphs like Calypso, Circe and Ino; and monsters, magic and marvellous places — including Scheria itself.</a:t>
            </a:r>
            <a:endParaRPr/>
          </a:p>
        </p:txBody>
      </p:sp>
      <p:sp>
        <p:nvSpPr>
          <p:cNvPr id="321" name="Google Shape;32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Marks of each world side by side. The hard case is Phaeacia, which carries marks of both at once — the key to the lesson.</a:t>
            </a:r>
            <a:endParaRPr/>
          </a:p>
        </p:txBody>
      </p:sp>
      <p:sp>
        <p:nvSpPr>
          <p:cNvPr id="343" name="Google Shape;3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Calypso offers immortality; Odysseus, weeping on the shore each day, refuses. One of the poem's central statements about being human — and the name Calypso echoes kaluptō, to conceal.</a:t>
            </a:r>
            <a:endParaRPr/>
          </a:p>
        </p:txBody>
      </p:sp>
      <p:sp>
        <p:nvSpPr>
          <p:cNvPr id="382" name="Google Shape;38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Scheria: Alcinous and Arete, a seafaring people descended from Poseidon, remote and god-favoured — with magic ships, a superhuman palace, and a perpetual orchard.</a:t>
            </a:r>
            <a:endParaRPr/>
          </a:p>
        </p:txBody>
      </p:sp>
      <p:sp>
        <p:nvSpPr>
          <p:cNvPr id="410" name="Google Shape;41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flaws in the utopia: xenophobia, softness, complacent piety. Spotting them turns description into A Level analysis.</a:t>
            </a:r>
            <a:endParaRPr/>
          </a:p>
        </p:txBody>
      </p:sp>
      <p:sp>
        <p:nvSpPr>
          <p:cNvPr id="440" name="Google Shape;44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functions: narrative frame, means of return, halfway house, renewed wealth, model of civilisation against the Cyclopes, and the point of Athene's return.</a:t>
            </a:r>
            <a:endParaRPr/>
          </a:p>
        </p:txBody>
      </p:sp>
      <p:sp>
        <p:nvSpPr>
          <p:cNvPr id="460" name="Google Shape;46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Phaeacia is liminal: it faces fantasy (divine descent, magic ships, paradise) and reality (kings, marriage, assemblies, games) at once. The airlock between the fabulous world and the real one.</a:t>
            </a:r>
            <a:endParaRPr/>
          </a:p>
        </p:txBody>
      </p:sp>
      <p:sp>
        <p:nvSpPr>
          <p:cNvPr id="494" name="Google Shape;49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two worlds and the taxonomy; Calypso and the choice; what Phaeacia is; its functions and the threshold.</a:t>
            </a:r>
            <a:endParaRPr/>
          </a:p>
        </p:txBody>
      </p:sp>
      <p:sp>
        <p:nvSpPr>
          <p:cNvPr id="512" name="Google Shape;5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sort, explain, analyse and evaluate using Books 5–8.</a:t>
            </a:r>
            <a:endParaRPr/>
          </a:p>
        </p:txBody>
      </p:sp>
      <p:sp>
        <p:nvSpPr>
          <p:cNvPr id="538" name="Google Shape;53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11, revisiting xenia: the Phaeacians are the poem's ideal hosts. Apply the checklist with evidence, and explain what the ideal adds to Topic 1.</a:t>
            </a:r>
            <a:endParaRPr/>
          </a:p>
        </p:txBody>
      </p:sp>
      <p:sp>
        <p:nvSpPr>
          <p:cNvPr id="566" name="Google Shape;56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Recap: xenia is the sacred, reciprocal code of hospitality, protected by Zeus Xenios. Topic 1 gave us the code broken and kept; at Scheria we watch it performed to excess — and one step nearly missed.</a:t>
            </a:r>
            <a:endParaRPr/>
          </a:p>
        </p:txBody>
      </p:sp>
      <p:sp>
        <p:nvSpPr>
          <p:cNvPr id="585" name="Google Shape;58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Nausicaa opens the code at the washing-pool; at the palace the hesitation, Echeneus's reproof, the silver chair, food and libation before questions; then assembly, feast, games — and the offer of Nausicaa's hand.</a:t>
            </a:r>
            <a:endParaRPr/>
          </a:p>
        </p:txBody>
      </p:sp>
      <p:sp>
        <p:nvSpPr>
          <p:cNvPr id="619" name="Google Shape;61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Thirteen kings give cloaks, tunics and gold; Euryalus's sword repairs his insult. Xenia as an economy of honour — and the treasure that lets Odysseus land home rich.</a:t>
            </a:r>
            <a:endParaRPr/>
          </a:p>
        </p:txBody>
      </p:sp>
      <p:sp>
        <p:nvSpPr>
          <p:cNvPr id="651" name="Google Shape;65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Against the suitors, the opposite extreme; against the Cyclops, civilisation vs savagery; a perfection that verges on the unreal; and xenia becoming the vehicle of nostos itself.</a:t>
            </a:r>
            <a:endParaRPr/>
          </a:p>
        </p:txBody>
      </p:sp>
      <p:sp>
        <p:nvSpPr>
          <p:cNvPr id="673" name="Google Shape;6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hesitation and Echeneus; the step-by-step code exceeded; the gifts; and what the ideal adds.</a:t>
            </a:r>
            <a:endParaRPr/>
          </a:p>
        </p:txBody>
      </p:sp>
      <p:sp>
        <p:nvSpPr>
          <p:cNvPr id="695" name="Google Shape;69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Apply the checklist, analyse the Echeneus moment, compare Alcinous with the suitors, and evaluate hospitality as the measure of civilisation.</a:t>
            </a:r>
            <a:endParaRPr/>
          </a:p>
        </p:txBody>
      </p:sp>
      <p:sp>
        <p:nvSpPr>
          <p:cNvPr id="721" name="Google Shape;7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12, a new idea: supplication, and how Odysseus uses persuasive speech to win protection — the speech to Nausicaa as a masterclass.</a:t>
            </a:r>
            <a:endParaRPr/>
          </a:p>
        </p:txBody>
      </p:sp>
      <p:sp>
        <p:nvSpPr>
          <p:cNvPr id="749" name="Google Shape;74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Hiketeia: the ritual plea of a helpless person for protection, guarded by Zeus Hikesios. Its physical language makes the suppliant low; to reject one is impious, not merely unkind.</a:t>
            </a:r>
            <a:endParaRPr/>
          </a:p>
        </p:txBody>
      </p:sp>
      <p:sp>
        <p:nvSpPr>
          <p:cNvPr id="768" name="Google Shape;76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Twin protections of the stranger; a moral test like hospitality; speech as the suppliant's one weapon; supplication as a showcase for mētis.</a:t>
            </a:r>
            <a:endParaRPr/>
          </a:p>
        </p:txBody>
      </p:sp>
      <p:sp>
        <p:nvSpPr>
          <p:cNvPr id="791" name="Google Shape;79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Naked and monstrous-looking, he decides not to clasp Nausicaa's knees — it would terrify and insult her — and supplicates from afar, with words alone. Tact and cunning before a word is spoken.</a:t>
            </a:r>
            <a:endParaRPr/>
          </a:p>
        </p:txBody>
      </p:sp>
      <p:sp>
        <p:nvSpPr>
          <p:cNvPr id="816" name="Google Shape;81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moves: flattery (Artemis, the blessed family, the luckiest husband), credentials (the Delos palm, the army), sympathy (nineteen days), the gods trouble only significant men, and humility closing on homophrosynē — the very things she dreams of.</a:t>
            </a:r>
            <a:endParaRPr/>
          </a:p>
        </p:txBody>
      </p:sp>
      <p:sp>
        <p:nvSpPr>
          <p:cNvPr id="838" name="Google Shape;83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Applied psychology; a deliberate sequence; homophrosynē pointing at the poem's ideal of marriage; mētis in speech; and the immediate verdict — 'no fool and no bad man'.</a:t>
            </a:r>
            <a:endParaRPr/>
          </a:p>
        </p:txBody>
      </p:sp>
      <p:sp>
        <p:nvSpPr>
          <p:cNvPr id="868" name="Google Shape;86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decision to supplicate from afar; the architecture of the speech; the result and the theme — homophrosynē, and the classic ritual form at the palace.</a:t>
            </a:r>
            <a:endParaRPr/>
          </a:p>
        </p:txBody>
      </p:sp>
      <p:sp>
        <p:nvSpPr>
          <p:cNvPr id="899" name="Google Shape;89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supplication, analyse the speech's five moves, explain homophrosynē, and evaluate whether Odysseus's greatest weapon is his tongue.</a:t>
            </a:r>
            <a:endParaRPr/>
          </a:p>
        </p:txBody>
      </p:sp>
      <p:sp>
        <p:nvSpPr>
          <p:cNvPr id="930" name="Google Shape;93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13, revisiting women: Calypso, Nausicaa and Arete in detail, with Helen as foil — the range and limits of female power.</a:t>
            </a:r>
            <a:endParaRPr/>
          </a:p>
        </p:txBody>
      </p:sp>
      <p:sp>
        <p:nvSpPr>
          <p:cNvPr id="958" name="Google Shape;95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6" name="Google Shape;97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 1 gave us Helen and a glimpse of Penelope, and established that the poem draws women as complex individuals with real power. Books 5–7 add a goddess, a girl, and a queen.</a:t>
            </a:r>
            <a:endParaRPr/>
          </a:p>
        </p:txBody>
      </p:sp>
      <p:sp>
        <p:nvSpPr>
          <p:cNvPr id="977" name="Google Shape;97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Calypso: paradise island, seven years, the offer of immortality — and a power that cannot compel love. Her double-standard protest, then grace in yielding.</a:t>
            </a:r>
            <a:endParaRPr/>
          </a:p>
        </p:txBody>
      </p:sp>
      <p:sp>
        <p:nvSpPr>
          <p:cNvPr id="996" name="Google Shape;99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Nausicaa: youth and quiet boldness, kindness with reputation-awareness. Arete: honoured like no other woman, settling men's disputes, the key to the palace — and the sharp question about the clothes.</a:t>
            </a:r>
            <a:endParaRPr/>
          </a:p>
        </p:txBody>
      </p:sp>
      <p:sp>
        <p:nvSpPr>
          <p:cNvPr id="1020" name="Google Shape;102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9" name="Google Shape;104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three map the range of female power — divine, social, political — each bounded. Against Helen's ambiguity; building towards Penelope. Essay note: women control the hero's fate at key moments.</a:t>
            </a:r>
            <a:endParaRPr/>
          </a:p>
        </p:txBody>
      </p:sp>
      <p:sp>
        <p:nvSpPr>
          <p:cNvPr id="1050" name="Google Shape;105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Calypso, Nausicaa, Arete — and the range, limits and Helen as foil.</a:t>
            </a:r>
            <a:endParaRPr/>
          </a:p>
        </p:txBody>
      </p:sp>
      <p:sp>
        <p:nvSpPr>
          <p:cNvPr id="1077" name="Google Shape;107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Characterise each woman, analyse Arete's question, compare their power, and evaluate whether the poem gives women real power within limits.</a:t>
            </a:r>
            <a:endParaRPr/>
          </a:p>
        </p:txBody>
      </p:sp>
      <p:sp>
        <p:nvSpPr>
          <p:cNvPr id="1103" name="Google Shape;1103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14, revisiting kleos through Book 8: the hero, unrecognised, hears his own story sung. Demodocus's three songs and the widow simile.</a:t>
            </a:r>
            <a:endParaRPr/>
          </a:p>
        </p:txBody>
      </p:sp>
      <p:sp>
        <p:nvSpPr>
          <p:cNvPr id="1131" name="Google Shape;1131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 1 defined kleos and timē and showed a society run on reputation; at Sparta his Trojan fame was recited by eyewitnesses. Book 8 pushes the theme to its most powerful form yet.</a:t>
            </a:r>
            <a:endParaRPr/>
          </a:p>
        </p:txBody>
      </p:sp>
      <p:sp>
        <p:nvSpPr>
          <p:cNvPr id="1150" name="Google Shape;115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Muse's double gift: song given, sight taken. Song 1, the quarrel — he weeps; Song 2, Ares and Aphrodite — comic relief; Song 3, the Wooden Horse, requested by Odysseus himself — he weeps again.</a:t>
            </a:r>
            <a:endParaRPr/>
          </a:p>
        </p:txBody>
      </p:sp>
      <p:sp>
        <p:nvSpPr>
          <p:cNvPr id="1169" name="Google Shape;116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0" name="Google Shape;120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 weeps like a woman flinging herself on her husband's body as the spears prod her into slavery. A reverse simile crossing gender and side: the sacker of Troy weeps like Troy's own widows. Image, reversal, effect.</a:t>
            </a:r>
            <a:endParaRPr/>
          </a:p>
        </p:txBody>
      </p:sp>
      <p:sp>
        <p:nvSpPr>
          <p:cNvPr id="1201" name="Google Shape;120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1" name="Google Shape;122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Kleos independent of the man; fame that is painful; grief that unmasks him and launches his own narration; and a bard performing epic inside the epic.</a:t>
            </a:r>
            <a:endParaRPr/>
          </a:p>
        </p:txBody>
      </p:sp>
      <p:sp>
        <p:nvSpPr>
          <p:cNvPr id="1222" name="Google Shape;122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Demodocus and the three songs; the widow simile; fame and identity — the question that launches his own narration.</a:t>
            </a:r>
            <a:endParaRPr/>
          </a:p>
        </p:txBody>
      </p:sp>
      <p:sp>
        <p:nvSpPr>
          <p:cNvPr id="1251" name="Google Shape;125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three songs, analyse the widow simile, connect Book 8 to Topic 1's kleos, and evaluate whether Odysseus's fame is also his burden. Next: Books 9–12, Odysseus tells his own story.</a:t>
            </a:r>
            <a:endParaRPr/>
          </a:p>
        </p:txBody>
      </p:sp>
      <p:sp>
        <p:nvSpPr>
          <p:cNvPr id="1282" name="Google Shape;128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Relationship Id="rId4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 amt="92000"/>
          </a:blip>
          <a:srcRect b="0" l="0" r="0" t="0"/>
          <a:stretch/>
        </p:blipFill>
        <p:spPr>
          <a:xfrm>
            <a:off x="7812174" y="666750"/>
            <a:ext cx="266365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905688" y="3266405"/>
            <a:ext cx="14476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 A LEVEL CLASSICAL CIVILISATION · COMPONENT 11 · THE WORLD OF THE HERO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11801" y="3890293"/>
            <a:ext cx="566439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Lora"/>
              <a:buNone/>
            </a:pPr>
            <a:r>
              <a:rPr b="0" i="1" lang="en-US" sz="3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Homer's Odyssey · Topic 2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9397" y="4585618"/>
            <a:ext cx="11869207" cy="1606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65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0"/>
              <a:buFont typeface="Lora"/>
              <a:buNone/>
            </a:pPr>
            <a:r>
              <a:rPr b="1" i="1" lang="en-US" sz="12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</a:t>
            </a:r>
            <a:r>
              <a:rPr b="1" i="1" lang="en-US" sz="126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Phaeacians</a:t>
            </a:r>
            <a:endParaRPr b="0" i="0" sz="12600" u="none" cap="none" strike="noStrike">
              <a:solidFill>
                <a:srgbClr val="1A6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15592" y="6534745"/>
            <a:ext cx="1625674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Inter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 last, Odysseus himself — endurance, a fabulous kingdom, and the hosts who carry him home.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-914400" y="9320213"/>
            <a:ext cx="201168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BOOKS 5–8 · LESSONS 9–14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990600" y="666750"/>
            <a:ext cx="10297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11559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90600" y="1271588"/>
            <a:ext cx="6915150" cy="6640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story so far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90600" y="2240459"/>
            <a:ext cx="6475095" cy="16976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796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300"/>
              <a:buFont typeface="Lora"/>
              <a:buNone/>
            </a:pPr>
            <a:r>
              <a:rPr b="0" i="1" lang="en-US" sz="33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Now, in Books 5–8, the poem turns at last to Odysseus himself.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90600" y="4166741"/>
            <a:ext cx="647509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Four books of waiting are over. The hero the whole poem has talked about finally steps on stage.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905750" y="3501471"/>
            <a:ext cx="9258300" cy="9600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905750" y="2240450"/>
            <a:ext cx="10184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WHERE TOPIC 1 LEFT US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905750" y="2573825"/>
            <a:ext cx="95361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Ithaca in crisis, the suitors devouring the house, and Telemachus's journey to Pylos and Sparta for news of his father.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905750" y="4981567"/>
            <a:ext cx="9258300" cy="9600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905750" y="3720546"/>
            <a:ext cx="10184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BIG IDEAS ESTABLISHED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905750" y="4053921"/>
            <a:ext cx="95361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Xenia, nostos, kleos &amp; timē, the gods and fate, mētis, disguise, storytelling, and women.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05750" y="5200642"/>
            <a:ext cx="10184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WHERE BOOKS 5–8 TAKE US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905750" y="5534017"/>
            <a:ext cx="95361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Freed from Calypso and wrecked by Poseidon, Odysseus is washed up among the Phaeacians — the people who will hear his story and carry him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90600" y="9534525"/>
            <a:ext cx="285601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Recap · The story so far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990600" y="666750"/>
            <a:ext cx="10297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11559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New ideas, and ideas we revisit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990600" y="2140223"/>
            <a:ext cx="7962900" cy="4089946"/>
          </a:xfrm>
          <a:prstGeom prst="roundRect">
            <a:avLst>
              <a:gd fmla="val 372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400175" y="2473598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NEW THIS TOPIC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400175" y="3900413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400175" y="3045098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Endurance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276725" y="3073673"/>
            <a:ext cx="439521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central Odyssean virtue — Book 5.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400175" y="4898603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400175" y="4043288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supernatural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276725" y="4071863"/>
            <a:ext cx="439521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And the world of Phaeacia — Books 5–8.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400175" y="5041478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Suppliancy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276725" y="5070053"/>
            <a:ext cx="439521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outsider's plea, and persuasion — Books 6–7.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334500" y="2140223"/>
            <a:ext cx="7962900" cy="4089946"/>
          </a:xfrm>
          <a:prstGeom prst="roundRect">
            <a:avLst>
              <a:gd fmla="val 372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9744075" y="2473598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REVISITED FROM TOPIC 1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744075" y="3900413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744075" y="3045098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Xenia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2620625" y="3073673"/>
            <a:ext cx="439521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Phaeacian ideal — against the suitors.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744075" y="4898603"/>
            <a:ext cx="71437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744075" y="4043288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Women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2620625" y="4071863"/>
            <a:ext cx="439521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Calypso, Nausicaa, Arete — against Helen.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744075" y="5041478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Kleos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2620625" y="5070053"/>
            <a:ext cx="4657331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hears his own fame sung.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90600" y="6496869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371600" y="6811194"/>
            <a:ext cx="167476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SPIRAL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198912" y="6725469"/>
            <a:ext cx="14129013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Revisiting means bringing the earlier scene back for contrast — the Phaeacians against the suitors, the new women against Helen. Each idea deepens a little every time it returns.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90600" y="9534525"/>
            <a:ext cx="3622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Recap · The shape of the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1524000" y="666750"/>
            <a:ext cx="8064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2 · THE PHAEACIANS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6122774" y="609600"/>
            <a:ext cx="717426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9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524000" y="3175248"/>
            <a:ext cx="162597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249811" y="3303836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402211" y="3360986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524000" y="3756273"/>
            <a:ext cx="16764000" cy="13010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4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0"/>
              <a:buFont typeface="Lora"/>
              <a:buNone/>
            </a:pPr>
            <a:r>
              <a:rPr b="1" i="1" lang="en-US" sz="97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Endurance</a:t>
            </a:r>
            <a:r>
              <a:rPr b="1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-US" sz="97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self-control</a:t>
            </a:r>
            <a:endParaRPr b="0" i="0" sz="9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524000" y="5628829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5240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5240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endurance (tlēmosynē) as the central Odyssean virtue.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334500" y="598125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334500" y="633844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it and give examples of self-mastery; contrast it with Iliadic heroism; analyse the Book 5 similes.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90600" y="1233488"/>
            <a:ext cx="71247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292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8250"/>
              <a:buFont typeface="Lora"/>
              <a:buNone/>
            </a:pPr>
            <a:r>
              <a:rPr b="1" i="1" lang="en-US" sz="8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tlēmosynē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90600" y="2357438"/>
            <a:ext cx="7124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τλημοσύνη · endurance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990600" y="3167063"/>
            <a:ext cx="667131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capacity to bear hardship, pain and delay over a long time without breaking.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990600" y="4357688"/>
            <a:ext cx="6477000" cy="1983879"/>
          </a:xfrm>
          <a:prstGeom prst="roundRect">
            <a:avLst>
              <a:gd fmla="val 6722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314450" y="4605338"/>
            <a:ext cx="64122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314450" y="4933950"/>
            <a:ext cx="6004179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Endurance = bearing hardship and mastering yourself. Odysseus is polytlas — 'much-enduring'.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324850" y="3730600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8324850" y="2764854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Outward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782300" y="2802954"/>
            <a:ext cx="671055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Surviving what is done to you — storm, shipwreck, exile, humiliation.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8324850" y="4915421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8324850" y="3949675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Inward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0782300" y="3987775"/>
            <a:ext cx="671055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Mastering what rises inside you — panic, despair, anger, longing.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324850" y="6459289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324850" y="5134496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epithets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782300" y="5172596"/>
            <a:ext cx="6710553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Polytlas dios Odysseus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('much-enduring godlike') marks his suffering;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polymētis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('of many wiles') marks the cunning that partners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324850" y="6678364"/>
            <a:ext cx="2409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thumos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0782300" y="6716464"/>
            <a:ext cx="6710553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moments of crisis Odysseus debates with his own thumos (heart/spirit) — the poem's way of dramatising self-mastery.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90600" y="9534525"/>
            <a:ext cx="2602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9 · Endurance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kinds of hero: Achilles and Odysseus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990600" y="2096021"/>
            <a:ext cx="7962900" cy="4959548"/>
          </a:xfrm>
          <a:prstGeom prst="roundRect">
            <a:avLst>
              <a:gd fmla="val 307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381125" y="2391296"/>
            <a:ext cx="134324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Achilles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339905" y="2538933"/>
            <a:ext cx="1345376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ILIAD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381125" y="3908599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381125" y="3086621"/>
            <a:ext cx="7397306" cy="7362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Defined by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biē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overwhelming force — and by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mēnis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rage: the Iliad's first word is his anger.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381125" y="485916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381125" y="4041949"/>
            <a:ext cx="739730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Chooses a short, blazing life with undying kleos over a long obscure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381125" y="5809729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381125" y="4992514"/>
            <a:ext cx="739730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Heroism is active, violent and public: the battlefield, the duel, the shining moment.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381125" y="5943079"/>
            <a:ext cx="739730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Cannot master his passions — his anger drives the poem's tragedy.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334500" y="2096021"/>
            <a:ext cx="7962900" cy="4959548"/>
          </a:xfrm>
          <a:prstGeom prst="roundRect">
            <a:avLst>
              <a:gd fmla="val 307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9725025" y="2391296"/>
            <a:ext cx="16193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Odysseus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5181138" y="2538933"/>
            <a:ext cx="189831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ODYSSEY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725025" y="356190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725025" y="3086621"/>
            <a:ext cx="7397306" cy="389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Defined by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mētis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cunning — and </a:t>
            </a: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tlēmosynē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endurance.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725025" y="4512469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9725025" y="3695254"/>
            <a:ext cx="739730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Wants a long life and a homecoming; his glory lies in surviving and returning.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725025" y="546303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9725025" y="4645819"/>
            <a:ext cx="739730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Heroism is patient and often hidden: waiting, bearing, biding his time.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725025" y="5596384"/>
            <a:ext cx="739730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Masters his impulses — self-command is precisely his strength.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90600" y="7322269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371600" y="7636594"/>
            <a:ext cx="154199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POINT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078212" y="7550869"/>
            <a:ext cx="14253334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Odyssey redefines heroism: the greatest hero is the one who can endure and wait, not only the one who can fight.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90600" y="9534525"/>
            <a:ext cx="2602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9 · Endurance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Book 5: the ordeal, step by step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90600" y="3903613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990600" y="223450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866900" y="233928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raft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866900" y="2739330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builds his own vessel with Calypso's tools — twenty trees felled, planked, jointed, rigged. The self-reliant craftsman-hero: no magic, just skill and graft.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9525000" y="3903613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9525000" y="223450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401300" y="233928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Seventeen days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401300" y="2739330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sails alone, steering by the stars — until Poseidon, returning from the Ethiopians, spots him and raises a storm from every quarter at once.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90600" y="5772745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990600" y="4103638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866900" y="4208413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Rock bottom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866900" y="4608463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As the raft breaks up he wishes he had died at Troy — where he would have won burial and kleos, not a nameless drowning. Even his despair is measured against fame.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525000" y="5772745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9525000" y="4103638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0401300" y="4208413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Recovery through reason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0401300" y="4608463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Ino/Leucothea offers her magic veil; he is wary (is it a trick?) and decides to trust the raft while it lasts — caution even in catastrophe.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990600" y="5972770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866900" y="607754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days in the water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866900" y="6477595"/>
            <a:ext cx="7102983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the coast he reasons again — rocks here, a river-mouth there — and prays to the river-god, who calms the current.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525000" y="5972770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401300" y="607754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One last deliberation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401300" y="6477595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Sleep exposed by the cold river, or in the thicket where beasts may prowl? He weighs it, chooses the thicket, and buries himself in leaves. Reason to the very end.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90600" y="9534525"/>
            <a:ext cx="2602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9 · Endurance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990600" y="666750"/>
            <a:ext cx="255463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40485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Book 5 similes — know these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90600" y="2101155"/>
            <a:ext cx="5245075" cy="3887986"/>
          </a:xfrm>
          <a:prstGeom prst="roundRect">
            <a:avLst>
              <a:gd fmla="val 3920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333500" y="2405955"/>
            <a:ext cx="949598" cy="347663"/>
          </a:xfrm>
          <a:prstGeom prst="roundRect">
            <a:avLst>
              <a:gd fmla="val 16438" name="adj"/>
            </a:avLst>
          </a:prstGeom>
          <a:solidFill>
            <a:srgbClr val="5E9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466850" y="2463105"/>
            <a:ext cx="75909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5.432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333500" y="2925068"/>
            <a:ext cx="5015203" cy="410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8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octopus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333500" y="3430786"/>
            <a:ext cx="4696053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Torn from the rock he clings to, skin strips from his hands — like the pebbles that stick in the suckers of an octopus dragged from its lair.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333500" y="4859536"/>
            <a:ext cx="4559275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333500" y="5021461"/>
            <a:ext cx="469605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Grotesque and exact: we feel the sea's violence on his body.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521425" y="2101155"/>
            <a:ext cx="5245075" cy="3887986"/>
          </a:xfrm>
          <a:prstGeom prst="roundRect">
            <a:avLst>
              <a:gd fmla="val 3920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864325" y="2405955"/>
            <a:ext cx="954732" cy="347663"/>
          </a:xfrm>
          <a:prstGeom prst="roundRect">
            <a:avLst>
              <a:gd fmla="val 16438" name="adj"/>
            </a:avLst>
          </a:prstGeom>
          <a:solidFill>
            <a:srgbClr val="5E9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997675" y="2463105"/>
            <a:ext cx="764232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5.488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864325" y="2925068"/>
            <a:ext cx="5015203" cy="410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8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buried ember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864325" y="3430786"/>
            <a:ext cx="4696053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Burrowing under the leaves, he is like a man on a lonely farm who buries a glowing brand under ash to keep the seed of fire alive.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864325" y="4859536"/>
            <a:ext cx="4559275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864325" y="5021461"/>
            <a:ext cx="469605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 has become the last spark of himself — life guarded against extinction.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2052250" y="2101155"/>
            <a:ext cx="5245150" cy="3887986"/>
          </a:xfrm>
          <a:prstGeom prst="roundRect">
            <a:avLst>
              <a:gd fmla="val 3920" name="adj"/>
            </a:avLst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2395150" y="2405955"/>
            <a:ext cx="949003" cy="347663"/>
          </a:xfrm>
          <a:prstGeom prst="roundRect">
            <a:avLst>
              <a:gd fmla="val 16438" name="adj"/>
            </a:avLst>
          </a:prstGeom>
          <a:solidFill>
            <a:srgbClr val="5E9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2528500" y="2463105"/>
            <a:ext cx="75850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5.394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2395150" y="2925068"/>
            <a:ext cx="5015285" cy="4104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8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father's recovery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2395150" y="3430786"/>
            <a:ext cx="4696130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Land, glimpsed at last, is as welcome as a father's recovery from long illness is to his children.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2395150" y="4859536"/>
            <a:ext cx="455935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12395150" y="5021461"/>
            <a:ext cx="469613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Relief rendered through family love — the very thing he is swimming towards.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990600" y="8231535"/>
            <a:ext cx="16306800" cy="1093440"/>
          </a:xfrm>
          <a:prstGeom prst="roundRect">
            <a:avLst>
              <a:gd fmla="val 10453" name="adj"/>
            </a:avLst>
          </a:prstGeom>
          <a:solidFill>
            <a:srgbClr val="1A6FFF">
              <a:alpha val="12156"/>
            </a:srgbClr>
          </a:solidFill>
          <a:ln cap="flat" cmpd="sng" w="9525">
            <a:solidFill>
              <a:srgbClr val="1A6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1323975" y="8493472"/>
            <a:ext cx="164513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EXAM NOTE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067199" y="8431560"/>
            <a:ext cx="14313731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Homeric similes reach into ordinary life — fishing, the hearth, the family — to make a fabulous ordeal humanly real. Learn one closely: image, point of comparison, effect.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90600" y="9534525"/>
            <a:ext cx="2602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9 · Endurance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8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990600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1343025" y="2414588"/>
            <a:ext cx="1146944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476375" y="2471738"/>
            <a:ext cx="9564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Endurance, not force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343025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survives by holding on, reasoning, and accepting help — never by fighting the sea.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343025" y="450004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1343025" y="4661967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Two faces: outward endurance of hardship; inward mastery of panic and despair.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527750" y="2100263"/>
            <a:ext cx="5232425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880175" y="2414588"/>
            <a:ext cx="1146944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013525" y="2471738"/>
            <a:ext cx="9564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deliberations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Veil or raft; rocks or river; open shore or thicket — he debates each with his thumos and chooses by reason.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880175" y="4831482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880175" y="4993407"/>
            <a:ext cx="466340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Even the wish he had died at Troy is framed by kleos — then he rallies.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2064975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2417400" y="2414588"/>
            <a:ext cx="1146944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2550750" y="2471738"/>
            <a:ext cx="95644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similes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Octopus (violence made physical), buried ember (life preserved), father's recovery (relief through family).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2417400" y="483148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2417400" y="4993407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Ordinary life illuminating extraordinary suffering — learn one in full.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990600" y="9534525"/>
            <a:ext cx="2602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9 · Endurance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endurance, inward and outward, and contrast it with Iliadic heroism.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758628" y="4003849"/>
            <a:ext cx="4360686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Analyse a Book 5 simile in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7543800" y="327994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7543800" y="23960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DEFINE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9544050" y="2324621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Tlēmosynē and biē, and explain the two faces of Odysseus's endurance with an example of each.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7543800" y="4081463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7543800" y="3570461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9544050" y="3499024"/>
            <a:ext cx="6413212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One Book 5 simile — image, comparison, effect.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7543800" y="43719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9544050" y="4300538"/>
            <a:ext cx="798595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'Odysseus is a greater hero for what he endures than for what he does.'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 5?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90600" y="9534525"/>
            <a:ext cx="260243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9 · Endurance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1524000" y="666750"/>
            <a:ext cx="8064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2 · THE PHAEACIANS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5595848" y="609600"/>
            <a:ext cx="1244352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10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524000" y="2444502"/>
            <a:ext cx="180188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416777" y="2527839"/>
            <a:ext cx="1593300" cy="357300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531027" y="2565877"/>
            <a:ext cx="1364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524000" y="3025527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supernatural,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fabulous &amp; Phaeacia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524000" y="5972919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15240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524000" y="6682532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the fabulous world of the poem, and what Phaeacia is and does.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334500" y="632534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9334500" y="6682532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Separate the fabulous from the real; explain the functions of Phaeacia and its place between the two worlds.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1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two worlds of the Odyssey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990600" y="2828330"/>
            <a:ext cx="6475095" cy="1233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6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Odyssey is built on a contrast between two worlds — and telling them apart is exactly what the success criteria ask of you.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90600" y="4233565"/>
            <a:ext cx="6475095" cy="16323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6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two are not sealed off: the gods cross constantly into the human world, usually in disguise. But whole regions belong wholly to the fabulous.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039100" y="2568401"/>
            <a:ext cx="9258300" cy="2057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8429625" y="2863676"/>
            <a:ext cx="93249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REAL WORLD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429625" y="3216101"/>
            <a:ext cx="8731568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human, everyday Greece of Ithaca, Pylos and Sparta — ordinary mortals, recognisable geography, and the business of households, kingship, farming and war.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039100" y="4873451"/>
            <a:ext cx="9258300" cy="20574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8429625" y="5168726"/>
            <a:ext cx="93249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FABULOUS WORLD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8429625" y="5521151"/>
            <a:ext cx="8731568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realm of gods, monsters and magic beyond the edge of the map — Calypso's isle, the Cyclopes, Circe's Aiaia, the Underworld — where Odysseus spends most of his ten years of wandering.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990600" y="8494440"/>
            <a:ext cx="16306800" cy="830535"/>
          </a:xfrm>
          <a:prstGeom prst="roundRect">
            <a:avLst>
              <a:gd fmla="val 1605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1371600" y="8808765"/>
            <a:ext cx="2304313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RULE OF THUMB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3771230" y="8723040"/>
            <a:ext cx="12953137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further Odysseus is from home, the more fabulous the world; the nearer Ithaca, the more real.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7" name="Google Shape;317;p1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/>
          <p:nvPr/>
        </p:nvSpPr>
        <p:spPr>
          <a:xfrm>
            <a:off x="990600" y="666750"/>
            <a:ext cx="234129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CORE CONTENT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427140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taxonomy of the supernatural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990600" y="1949723"/>
            <a:ext cx="1793748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The supernatural in the Odyssey takes several distinct forms — be able to name and illustrate each.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990600" y="400422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990600" y="2849835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190750" y="2968898"/>
            <a:ext cx="1151370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Olympian gods, intervening directly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190750" y="3416573"/>
            <a:ext cx="11513708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Athene, Zeus, Poseidon and Hermes shape events, reward and punish, and steer the plot.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990600" y="539673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990600" y="4242346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2190750" y="4361408"/>
            <a:ext cx="137585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Lesser divinities and nymphs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190750" y="4809083"/>
            <a:ext cx="1375859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Calypso and Circe (goddesses who detain him); Ino/Leucothea, the sea-goddess who saves him in Book 5.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90600" y="5634856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190750" y="5753919"/>
            <a:ext cx="16617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Monsters, magic and marvellous places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2190750" y="6201594"/>
            <a:ext cx="155598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Monsters: the Cyclops, Scylla and Charybdis, the Sirens (to come, Books 9–12). Magic: Circe's drugs and the herb moly, the bag of winds, the self-steering ships. Places outside ordinary geography: Ogygia, Aiaia, the land of the dead — and Scheria itself.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990600" y="666750"/>
            <a:ext cx="155852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SKILL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264437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Telling the fabulous from the real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990600" y="2096021"/>
            <a:ext cx="7962900" cy="3667051"/>
          </a:xfrm>
          <a:prstGeom prst="roundRect">
            <a:avLst>
              <a:gd fmla="val 415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1381125" y="2391296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MARKS OF THE REAL WORLD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381125" y="336664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381125" y="290564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914525" y="2905646"/>
            <a:ext cx="4513511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Ordinary mortals, who age and die.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381125" y="395146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1381125" y="349046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914525" y="3490466"/>
            <a:ext cx="6130975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Known geography: Ithaca, Pylos, Sparta, Egypt.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381125" y="453628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1381125" y="407528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914525" y="4075286"/>
            <a:ext cx="7265573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Human institutions — kingship, assembly, marriage, war.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381125" y="466010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914525" y="4660106"/>
            <a:ext cx="5513539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Cause and effect work normally; no magic.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9334500" y="2096021"/>
            <a:ext cx="7962900" cy="3667051"/>
          </a:xfrm>
          <a:prstGeom prst="roundRect">
            <a:avLst>
              <a:gd fmla="val 415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9725025" y="2391296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MARKS OF THE FABULOUS WORLD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9725025" y="336664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9725025" y="290564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0258425" y="2905646"/>
            <a:ext cx="6579215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Gods, nymphs and monsters are present in person.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9725025" y="395146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9725025" y="349046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0258425" y="3490466"/>
            <a:ext cx="7092776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Places beyond the map, unreachable by normal sailing.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9725025" y="453628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9725025" y="4075286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0258425" y="4075286"/>
            <a:ext cx="7150566" cy="3847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Magic overrides nature; the marvellous and the perfect.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725025" y="4660106"/>
            <a:ext cx="400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0239375" y="4660106"/>
            <a:ext cx="686752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Time behaves strangely — seven years with Calypso slip by.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990600" y="6029771"/>
            <a:ext cx="16306800" cy="830535"/>
          </a:xfrm>
          <a:prstGeom prst="roundRect">
            <a:avLst>
              <a:gd fmla="val 1605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1371600" y="6344096"/>
            <a:ext cx="229138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HARD CASE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759473" y="6258371"/>
            <a:ext cx="1226907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Phaeacia carries marks of both worlds at once — hold that thought; it is the key to the lesson.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"/>
          <p:cNvSpPr/>
          <p:nvPr/>
        </p:nvSpPr>
        <p:spPr>
          <a:xfrm>
            <a:off x="990600" y="666750"/>
            <a:ext cx="333925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 &amp;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40404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990600" y="1138238"/>
            <a:ext cx="17937480" cy="6522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0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Calypso and the great refusal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5)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990600" y="2057177"/>
            <a:ext cx="7962900" cy="7267798"/>
          </a:xfrm>
          <a:prstGeom prst="roundRect">
            <a:avLst>
              <a:gd fmla="val 2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1381125" y="2352452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REFUSAL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381125" y="39955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1381125" y="2866802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Calypso, an immortal nymph, has held Odysseus on Ogygia for seven years, and loves him. Zeus sends Hermes to order his release; she protests the gods' double standard, then obeys.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1381125" y="49099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1381125" y="41193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Her offer is the ultimate temptation: to make him </a:t>
            </a:r>
            <a:r>
              <a:rPr b="0" i="1" lang="en-US" sz="187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athanatos kai agēraos </a:t>
            </a: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'deathless and ageless' — if he stays.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1381125" y="58243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1381125" y="50337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Homer shows him on the shore each day, weeping, gazing over the barren sea, sick for home.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381125" y="59481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refuses immortality itself: mortal Penelope and rocky Ithaca over eternal life with a goddess.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9334500" y="2057177"/>
            <a:ext cx="7962900" cy="7267798"/>
          </a:xfrm>
          <a:prstGeom prst="roundRect">
            <a:avLst>
              <a:gd fmla="val 2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9725025" y="2352452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9725025" y="39955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9725025" y="2866802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One of the poem's central statements about what it is to be human: mortality over divinity, home over paradise, a real life over an endless unreal one.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9725025" y="49099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9725025" y="41193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defines his heroism: accepting the human condition — love, home, and a death that gives life meaning.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9725025" y="58243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9725025" y="50337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drives the plot: all that follows flows from this refusal to stop being a mortal man going home.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9725025" y="59481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Calypso's name echoes </a:t>
            </a:r>
            <a:r>
              <a:rPr b="0" i="1" lang="en-US" sz="187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kaluptō </a:t>
            </a: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'to conceal': to stay would be a living death, hiding him from men and erasing his kleos.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1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is Phaeacia?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990600" y="2076971"/>
            <a:ext cx="7962900" cy="7248004"/>
          </a:xfrm>
          <a:prstGeom prst="roundRect">
            <a:avLst>
              <a:gd fmla="val 210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1381125" y="2372246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PEOPLE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1381125" y="365812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1381125" y="287707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island of Scheria, ruled by Alcinous and Queen Arete (also his niece).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1381125" y="455347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1381125" y="377242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seafaring people — their names pun on the Greek for ship ( </a:t>
            </a:r>
            <a:r>
              <a:rPr b="0" i="1" lang="en-US" sz="187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naus</a:t>
            </a: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): Nausithous, Nausicaa.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1381125" y="544882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1381125" y="466777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Descended from Poseidon: their founder Nausithous was his son — key for the Cyclops contrast.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1381125" y="634417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1381125" y="556312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Remote and isolated, 'far from men who toil'; few visitors, and wary of outsiders.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1381125" y="645847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gods' favourites, living without war; they excel in seafaring, feasting, dancing, hot baths and fine clothes.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9334500" y="2076971"/>
            <a:ext cx="7962900" cy="7248004"/>
          </a:xfrm>
          <a:prstGeom prst="roundRect">
            <a:avLst>
              <a:gd fmla="val 210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9725025" y="2372246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MARVELS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9725025" y="365812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9725025" y="287707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Magic ships: no pilots, they know men's thoughts and cross the sea at impossible speed, hidden in mist.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9725025" y="455347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9725025" y="377242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superhuman palace: bronze walls, blue frieze, golden doors, silver posts — and gold and silver dogs made by Hephaestus.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9725025" y="5448821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9725025" y="466777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An orchard bearing fruit all year — pears, pomegranates, apples, figs, olives, grapes — in perpetual growth.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9725025" y="5563121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Wealth beyond any real king: Telemachus marvelled at Menelaus's Sparta, but it is nothing beside this.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6" name="Google Shape;436;p1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Utopia with cracks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990600" y="1949723"/>
            <a:ext cx="1422558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Phaeacia looks like a utopia — but Homer lets us see its flaws, and spotting them is what turns description into A Level analysis.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990600" y="418229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/>
          <p:nvPr/>
        </p:nvSpPr>
        <p:spPr>
          <a:xfrm>
            <a:off x="990600" y="3197498"/>
            <a:ext cx="3562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Xenophobia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4572000" y="3254648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Their isolation breeds suspicion of strangers; Nausicaa will not be seen walking into town beside Odysseus, for fear of the people's gossip.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990600" y="538616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990600" y="4401369"/>
            <a:ext cx="3562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Softness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4572000" y="4458519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 no wars and every comfort, they are a people of play, not endurance — the very opposite of the battle-hardened hero now among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990600" y="5605239"/>
            <a:ext cx="3562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Complacent piety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4572000" y="5662389"/>
            <a:ext cx="13107162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Alcinous claims the gods appear to them openly, undisguised — richly ironic, since Athene moves among them in three disguises during Odysseus's stay.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990600" y="6894835"/>
            <a:ext cx="14225588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26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So Phaeacia is idealised, yet gently criticised: a fantasy of ease that a real hero must, in the end, leave behind.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1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8"/>
          <p:cNvSpPr/>
          <p:nvPr/>
        </p:nvSpPr>
        <p:spPr>
          <a:xfrm>
            <a:off x="990600" y="666750"/>
            <a:ext cx="234129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CORE CONTENT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3427140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six functions of Phaeacia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990600" y="2082105"/>
            <a:ext cx="5270450" cy="2435423"/>
          </a:xfrm>
          <a:prstGeom prst="roundRect">
            <a:avLst>
              <a:gd fmla="val 625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1323975" y="2358330"/>
            <a:ext cx="219968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1620143" y="2434530"/>
            <a:ext cx="25888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 narrative frame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1323975" y="2915543"/>
            <a:ext cx="4741811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Alcinous's court is where Odysseus narrates his wanderings (Books 9–12) in flashback, filling in the 'missing' voyage between Troy and Calypso.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6508700" y="2082105"/>
            <a:ext cx="5270525" cy="2435423"/>
          </a:xfrm>
          <a:prstGeom prst="roundRect">
            <a:avLst>
              <a:gd fmla="val 625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"/>
          <p:cNvSpPr/>
          <p:nvPr/>
        </p:nvSpPr>
        <p:spPr>
          <a:xfrm>
            <a:off x="6842075" y="2358330"/>
            <a:ext cx="265212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7183487" y="2434530"/>
            <a:ext cx="29248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means of return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6842075" y="2915543"/>
            <a:ext cx="4741888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Only the magic ships can carry him home past Poseidon's enmity — though it costs them: Poseidon turns the returning ship to stone (Book 13, to come).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12026875" y="2082105"/>
            <a:ext cx="5270450" cy="2435423"/>
          </a:xfrm>
          <a:prstGeom prst="roundRect">
            <a:avLst>
              <a:gd fmla="val 625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12360250" y="2358330"/>
            <a:ext cx="273844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2710294" y="2434530"/>
            <a:ext cx="23512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 halfway house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2360250" y="2915543"/>
            <a:ext cx="4741811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After ten years away, seven alone with a goddess, a few days among civilised company ease him back towards normal life.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990600" y="4765179"/>
            <a:ext cx="5270450" cy="2766864"/>
          </a:xfrm>
          <a:prstGeom prst="roundRect">
            <a:avLst>
              <a:gd fmla="val 550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1323975" y="5041404"/>
            <a:ext cx="269156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1669331" y="5117604"/>
            <a:ext cx="232575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Renewed wealth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1323975" y="5598616"/>
            <a:ext cx="4741811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lavish guest-gifts replace the Trojan booty lost with his ships; arriving home rich wins him greater welcome and respect (Book 11).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508700" y="4765179"/>
            <a:ext cx="5270525" cy="2766864"/>
          </a:xfrm>
          <a:prstGeom prst="roundRect">
            <a:avLst>
              <a:gd fmla="val 550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6842075" y="5041404"/>
            <a:ext cx="267742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7186017" y="5117604"/>
            <a:ext cx="321806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 model of civilisation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6842075" y="5598616"/>
            <a:ext cx="4741888" cy="16953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exact opposite of the barbaric Cyclopes — and pointedly both descend from Poseidon. The Cyclopes have no xenia, assembly or law; the Phaeacians have all three.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12026875" y="4765179"/>
            <a:ext cx="5270450" cy="2766864"/>
          </a:xfrm>
          <a:prstGeom prst="roundRect">
            <a:avLst>
              <a:gd fmla="val 550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8"/>
          <p:cNvSpPr/>
          <p:nvPr/>
        </p:nvSpPr>
        <p:spPr>
          <a:xfrm>
            <a:off x="12360250" y="5041404"/>
            <a:ext cx="278904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2850"/>
              <a:buFont typeface="Lora"/>
              <a:buNone/>
            </a:pPr>
            <a:r>
              <a:rPr b="1" i="1" lang="en-US" sz="28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12715354" y="5117604"/>
            <a:ext cx="22150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Athene's return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12360250" y="5598616"/>
            <a:ext cx="4741811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resumes direct support here, in three disguises: a girl with a pitcher, a herald calling the assembly, and a bystander at the games.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p1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9"/>
          <p:cNvSpPr/>
          <p:nvPr/>
        </p:nvSpPr>
        <p:spPr>
          <a:xfrm>
            <a:off x="1714500" y="1821805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4016722" y="1952774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1714500" y="2426643"/>
            <a:ext cx="14716125" cy="18485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44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Lora"/>
              <a:buNone/>
            </a:pPr>
            <a:r>
              <a:rPr b="1" i="1" lang="en-US" sz="6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Phaeacia is the </a:t>
            </a:r>
            <a:r>
              <a:rPr b="1" i="1" lang="en-US" sz="66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threshold </a:t>
            </a:r>
            <a:r>
              <a:rPr b="1" i="1" lang="en-US" sz="6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between the two worlds.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1714500" y="4770537"/>
            <a:ext cx="714375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1714500" y="5046762"/>
            <a:ext cx="7858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FACING FANTASY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1714500" y="5403949"/>
            <a:ext cx="7358063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Divine descent, magic ships, a paradise landscape, wealth beyond any real court. He arrives from pure fantasy — Calypso.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9429750" y="4770537"/>
            <a:ext cx="714375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9429750" y="5046762"/>
            <a:ext cx="7858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FACING REALITY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9429750" y="5403949"/>
            <a:ext cx="7358063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Kings and queens, marriage, assemblies, games, feasts and honour — recognisable aristocratic life. He departs for pure reality — Ithaca.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1714500" y="7056537"/>
            <a:ext cx="13735050" cy="14467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ora"/>
              <a:buNone/>
            </a:pPr>
            <a:r>
              <a:rPr b="0" i="1" lang="en-US" sz="25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Structurally it is the pivot of the whole poem: the wonders are narrated here and left behind. Phaeacia is the airlock between the worlds — which is why it feels at once magical and almost ordinary.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8" name="Google Shape;508;p19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7145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990600" y="2062163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1343025" y="2338388"/>
            <a:ext cx="517449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two worlds &amp; the supernatural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7831485" y="2457450"/>
            <a:ext cx="9124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1343025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Real (Ithaca, Pylos, Sparta) vs fabulous (gods, monsters, magic, marvellous places). Types: Olympians; nymphs (Calypso, Circe, Ino); monsters; magic; marvellous places.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9267825" y="2062163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9620250" y="2338388"/>
            <a:ext cx="3389389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Calypso and the choice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16108710" y="2457450"/>
            <a:ext cx="9124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9620250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Immortality (athanatos kai agēraos) offered and refused — home and mortality chosen. He weeps on the shore; Calypso ('the concealer') would hide him from the world of men.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990600" y="4367659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1343025" y="4643884"/>
            <a:ext cx="2603659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Phaeacia is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7430467" y="4762946"/>
            <a:ext cx="13610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5–8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1343025" y="5134421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Poseidon's line; magic ships; paradise palace and orchard — but xenophobic, soft, complacent. A utopia with cracks: idealised, and gently criticised.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9267825" y="4367659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9620250" y="4643884"/>
            <a:ext cx="381708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Functions &amp; the threshold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15702632" y="4762946"/>
            <a:ext cx="13665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6–8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9620250" y="5134421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Frame; means of return; halfway house; wealth; civilisation; Athene's return. Above all the airlock between the fabulous world and the real 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4" name="Google Shape;534;p2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1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990600" y="2115071"/>
            <a:ext cx="6134100" cy="3464644"/>
          </a:xfrm>
          <a:prstGeom prst="roundRect">
            <a:avLst>
              <a:gd fmla="val 439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Separate the fabulous world from the real, with criteria and examples.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1758628" y="4003849"/>
            <a:ext cx="5115003" cy="11567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what Phaeacia is, its six functions, and its place between the two worlds.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1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SORT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List five features of Books 5–8 and label each 'real' or 'fabulous', with a reason.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Set out the six functions of Phaeacia in your own words, with one piece of evidence each.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7543800" y="531710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9544050" y="442756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Give two pieces of evidence that Phaeacia belongs to fantasy, and two that it belongs to reality.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7543800" y="555999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9544050" y="5498083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'Phaeacia is a utopia the poem invites us to admire.'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5–8?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990600" y="9534525"/>
            <a:ext cx="351012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10 · The supernatural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2" name="Google Shape;562;p2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2"/>
          <p:cNvSpPr/>
          <p:nvPr/>
        </p:nvSpPr>
        <p:spPr>
          <a:xfrm>
            <a:off x="1524000" y="666750"/>
            <a:ext cx="8064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2 · THE PHAEACIANS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15856446" y="609600"/>
            <a:ext cx="983754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1524000" y="2637830"/>
            <a:ext cx="170218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3319090" y="2766417"/>
            <a:ext cx="1335881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3471490" y="2823567"/>
            <a:ext cx="110728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1524000" y="3218855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Xenia revisited: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Phaeacian ideal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1524000" y="6166247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2"/>
          <p:cNvSpPr/>
          <p:nvPr/>
        </p:nvSpPr>
        <p:spPr>
          <a:xfrm>
            <a:off x="15240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15240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xenia by studying the Phaeacians, the poem's ideal hosts, in detail.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93345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93345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 the xenia checklist to the Phaeacians with evidence; explain what the ideal adds to Topic 1.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1" name="Google Shape;581;p2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3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Xenia: the code (recap)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990600" y="2096021"/>
            <a:ext cx="6705600" cy="3962251"/>
          </a:xfrm>
          <a:prstGeom prst="roundRect">
            <a:avLst>
              <a:gd fmla="val 384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1390650" y="2419871"/>
            <a:ext cx="6496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CHECKLIST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1390650" y="3418061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3"/>
          <p:cNvSpPr/>
          <p:nvPr/>
        </p:nvSpPr>
        <p:spPr>
          <a:xfrm>
            <a:off x="1390650" y="2967558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1924050" y="2953271"/>
            <a:ext cx="3655256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Welcome before questions.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1390650" y="3997151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3"/>
          <p:cNvSpPr/>
          <p:nvPr/>
        </p:nvSpPr>
        <p:spPr>
          <a:xfrm>
            <a:off x="1390650" y="354664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1924050" y="3532361"/>
            <a:ext cx="3490645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Seat, wash, and feed first.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1390650" y="4576242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1390650" y="412573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1924050" y="4111451"/>
            <a:ext cx="3719185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Only then ask who they are.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1390650" y="5155332"/>
            <a:ext cx="59055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1390650" y="470482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1924050" y="4690542"/>
            <a:ext cx="260423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Entertain the guest.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1390650" y="5283919"/>
            <a:ext cx="419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Lora"/>
              <a:buNone/>
            </a:pPr>
            <a:r>
              <a:rPr b="1" i="1" lang="en-US" sz="202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3"/>
          <p:cNvSpPr/>
          <p:nvPr/>
        </p:nvSpPr>
        <p:spPr>
          <a:xfrm>
            <a:off x="1924050" y="5269632"/>
            <a:ext cx="389795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3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Guest-gifts, then safe escort.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8115300" y="5164262"/>
            <a:ext cx="91821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8115300" y="3922291"/>
            <a:ext cx="101003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DEFINITION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8115300" y="4255666"/>
            <a:ext cx="945756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sacred, reciprocal code of hospitality between host and guest, protected by Zeus Xenios.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3"/>
          <p:cNvSpPr/>
          <p:nvPr/>
        </p:nvSpPr>
        <p:spPr>
          <a:xfrm>
            <a:off x="8115300" y="6247209"/>
            <a:ext cx="91821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3"/>
          <p:cNvSpPr/>
          <p:nvPr/>
        </p:nvSpPr>
        <p:spPr>
          <a:xfrm>
            <a:off x="8115300" y="5364287"/>
            <a:ext cx="101003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WHAT TOPIC 1 GAVE US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/>
          <p:nvPr/>
        </p:nvSpPr>
        <p:spPr>
          <a:xfrm>
            <a:off x="8115300" y="5697662"/>
            <a:ext cx="1010031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code broken (the suitors) and the code kept well (Nestor, Menelaus).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8115300" y="6447234"/>
            <a:ext cx="101003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WHAT SCHERIA ADDS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8115300" y="6780609"/>
            <a:ext cx="945756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Every step performed to excess — and one step nearly missed, which is just as instructive.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990600" y="9534525"/>
            <a:ext cx="3150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11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5" name="Google Shape;615;p2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4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Hospitality in action, step by step </a:t>
            </a:r>
            <a:r>
              <a:rPr b="0" i="1" lang="en-US" sz="45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(Books 6–7)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/>
          <p:nvPr/>
        </p:nvSpPr>
        <p:spPr>
          <a:xfrm>
            <a:off x="990600" y="3845570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990600" y="2185988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/>
          <p:nvPr/>
        </p:nvSpPr>
        <p:spPr>
          <a:xfrm>
            <a:off x="1866900" y="2290763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Nausicaa opens 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/>
          <p:nvPr/>
        </p:nvSpPr>
        <p:spPr>
          <a:xfrm>
            <a:off x="1866900" y="2690813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gives the shipwrecked stranger food, wine, oil to wash with, and clothes — a princess performing the first duties of xenia at a washing-pool, before anyone knows his name.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/>
          <p:nvPr/>
        </p:nvSpPr>
        <p:spPr>
          <a:xfrm>
            <a:off x="9525000" y="3845570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9525000" y="2185988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10401300" y="2290763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And adds guidance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/>
          <p:nvPr/>
        </p:nvSpPr>
        <p:spPr>
          <a:xfrm>
            <a:off x="10401300" y="2690813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to enter the city discreetly, and — crucially — to appeal first to her mother, Queen Arete, whose favour decides everything.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/>
          <p:nvPr/>
        </p:nvSpPr>
        <p:spPr>
          <a:xfrm>
            <a:off x="990600" y="6020246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990600" y="4036070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4"/>
          <p:cNvSpPr/>
          <p:nvPr/>
        </p:nvSpPr>
        <p:spPr>
          <a:xfrm>
            <a:off x="1866900" y="414084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hesitation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4"/>
          <p:cNvSpPr/>
          <p:nvPr/>
        </p:nvSpPr>
        <p:spPr>
          <a:xfrm>
            <a:off x="1866900" y="4540895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the palace Odysseus clasps Arete's knees, then sits in the ashes of the hearth — and for a moment no one moves. Even ideal hosts can hesitate before a ragged stranger.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9525000" y="6020246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9525000" y="4036070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4"/>
          <p:cNvSpPr/>
          <p:nvPr/>
        </p:nvSpPr>
        <p:spPr>
          <a:xfrm>
            <a:off x="10401300" y="414084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Echeneus breaks the silence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10401300" y="4540895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old lord reproves Alcinous: it is not right to leave a suppliant in the ashes. Alcinous raises Odysseus by the hand and seats him on a silver chair — displacing his own favourite son Laodamas.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990600" y="6210746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1866900" y="6315521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All before questions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1866900" y="6715571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Food and wine come first; a libation is poured to Zeus, protector of suppliants; lodging is promised, and escort home the next day — before anyone asks who he 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9525000" y="6210746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10401300" y="6315521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Overflowing the code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/>
          <p:nvPr/>
        </p:nvSpPr>
        <p:spPr>
          <a:xfrm>
            <a:off x="10401300" y="6715571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next days: an assembly held in his honour, a feast with the bard, games, dancing — and, half in jest, the offer of Nausicaa's hand in marriage.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990600" y="9534525"/>
            <a:ext cx="3150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11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7" name="Google Shape;647;p2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5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5"/>
          <p:cNvSpPr/>
          <p:nvPr/>
        </p:nvSpPr>
        <p:spPr>
          <a:xfrm>
            <a:off x="990600" y="1271588"/>
            <a:ext cx="6475095" cy="12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41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guest-gifts — xenia made visible </a:t>
            </a:r>
            <a:r>
              <a:rPr b="0" i="1" lang="en-US" sz="45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8)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990600" y="2829818"/>
            <a:ext cx="647509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Gifts are the visible measure of the host's generosity and the guest's worth.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5"/>
          <p:cNvSpPr/>
          <p:nvPr/>
        </p:nvSpPr>
        <p:spPr>
          <a:xfrm>
            <a:off x="8039100" y="3671962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5"/>
          <p:cNvSpPr/>
          <p:nvPr/>
        </p:nvSpPr>
        <p:spPr>
          <a:xfrm>
            <a:off x="8039100" y="2429991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THIRTEEN KINGS GIVE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8039100" y="2763366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After the games, Alcinous calls on the twelve other Phaeacian kings (himself the thirteenth) each to give a fresh cloak, a tunic and a talent of gold.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5"/>
          <p:cNvSpPr/>
          <p:nvPr/>
        </p:nvSpPr>
        <p:spPr>
          <a:xfrm>
            <a:off x="8039100" y="5113958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5"/>
          <p:cNvSpPr/>
          <p:nvPr/>
        </p:nvSpPr>
        <p:spPr>
          <a:xfrm>
            <a:off x="8039100" y="3871987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 BREACH REPAIRED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/>
          <p:nvPr/>
        </p:nvSpPr>
        <p:spPr>
          <a:xfrm>
            <a:off x="8039100" y="4205362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Euryalus, who insulted Odysseus at the games, adds a bronze sword in apology — the gift is how honour is restored.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8039100" y="655595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5"/>
          <p:cNvSpPr/>
          <p:nvPr/>
        </p:nvSpPr>
        <p:spPr>
          <a:xfrm>
            <a:off x="8039100" y="5313983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 ECONOMY OF HONOUR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/>
          <p:nvPr/>
        </p:nvSpPr>
        <p:spPr>
          <a:xfrm>
            <a:off x="8039100" y="5647358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Gifts bind the two houses together, exchanging honour and obligation (timē) as much as goods.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8039100" y="675597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AND IT MATTERS TO THE PLOT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/>
          <p:nvPr/>
        </p:nvSpPr>
        <p:spPr>
          <a:xfrm>
            <a:off x="8039100" y="7089353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treasure replaces the Trojan booty lost with his ships, so Odysseus lands on Ithaca a rich man — received, as he says himself, with more welcome and respect.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990600" y="9534525"/>
            <a:ext cx="3150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11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2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6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6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ideal adds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6"/>
          <p:cNvSpPr/>
          <p:nvPr/>
        </p:nvSpPr>
        <p:spPr>
          <a:xfrm>
            <a:off x="990600" y="2140223"/>
            <a:ext cx="8010525" cy="223837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6"/>
          <p:cNvSpPr/>
          <p:nvPr/>
        </p:nvSpPr>
        <p:spPr>
          <a:xfrm>
            <a:off x="1381125" y="245454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Against the suitors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1381125" y="2949848"/>
            <a:ext cx="744635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Phaeacians are the code's opposite extreme — the perfect host set against the perfect abuser. You can now run both through the same checklist and score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9286875" y="2140223"/>
            <a:ext cx="8010525" cy="223837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6"/>
          <p:cNvSpPr/>
          <p:nvPr/>
        </p:nvSpPr>
        <p:spPr>
          <a:xfrm>
            <a:off x="9677400" y="2454548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Against the Cyclops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9677400" y="2949848"/>
            <a:ext cx="744635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Civilisation against savagery (to come, Book 9) — and Homer makes the contrast pointed by descending both peoples from Poseidon.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990600" y="4664348"/>
            <a:ext cx="8010525" cy="2238375"/>
          </a:xfrm>
          <a:prstGeom prst="roundRect">
            <a:avLst>
              <a:gd fmla="val 680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1381125" y="4978673"/>
            <a:ext cx="795242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Almost too perfect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1381125" y="5473973"/>
            <a:ext cx="7446359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Their perfection verges on the unreal, and carries a faint danger: like Calypso's island, such ease could tempt a man to linger — another comfortable trap on the road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9286875" y="4664348"/>
            <a:ext cx="8010525" cy="2238375"/>
          </a:xfrm>
          <a:prstGeom prst="roundRect">
            <a:avLst>
              <a:gd fmla="val 680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6"/>
          <p:cNvSpPr/>
          <p:nvPr/>
        </p:nvSpPr>
        <p:spPr>
          <a:xfrm>
            <a:off x="9667875" y="4969148"/>
            <a:ext cx="797337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6BA0FF"/>
                </a:solidFill>
                <a:latin typeface="Lora"/>
                <a:ea typeface="Lora"/>
                <a:cs typeface="Lora"/>
                <a:sym typeface="Lora"/>
              </a:rPr>
              <a:t>Theme and plot fuse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9667875" y="5464448"/>
            <a:ext cx="7465981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Xenia becomes the vehicle of nostos: hospitality does not just shelter the hero, it physically carries him home.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990600" y="9534525"/>
            <a:ext cx="3150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11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p2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7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7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990600" y="2062163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7"/>
          <p:cNvSpPr/>
          <p:nvPr/>
        </p:nvSpPr>
        <p:spPr>
          <a:xfrm>
            <a:off x="1343025" y="2338388"/>
            <a:ext cx="392333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hesitation &amp; Echeneus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7838852" y="2457450"/>
            <a:ext cx="9050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1343025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waits in the ashes until Echeneus reproves the king — protocol has teeth. Alcinous displaces his own son to seat the stranger: the guest outranks even family.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9267825" y="2062163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7"/>
          <p:cNvSpPr/>
          <p:nvPr/>
        </p:nvSpPr>
        <p:spPr>
          <a:xfrm>
            <a:off x="9620250" y="2338388"/>
            <a:ext cx="179263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Step by step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15715283" y="2457450"/>
            <a:ext cx="13526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6–7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9620250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Nausicaa: food, oil, clothes, guidance. Palace: raised, seated, fed, libation to Zeus — all before questions. Then assembly, feast, bard, games — the code exceeded at every point.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990600" y="4367659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7"/>
          <p:cNvSpPr/>
          <p:nvPr/>
        </p:nvSpPr>
        <p:spPr>
          <a:xfrm>
            <a:off x="1343025" y="4643884"/>
            <a:ext cx="1313207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gifts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7826201" y="4762946"/>
            <a:ext cx="9177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7"/>
          <p:cNvSpPr/>
          <p:nvPr/>
        </p:nvSpPr>
        <p:spPr>
          <a:xfrm>
            <a:off x="1343025" y="5134421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Thirteen kings give cloaks, tunics and gold; Euryalus's sword repairs his insult. An economy of honour — and the treasure that lets Odysseus land home rich.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9267825" y="4367659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7"/>
          <p:cNvSpPr/>
          <p:nvPr/>
        </p:nvSpPr>
        <p:spPr>
          <a:xfrm>
            <a:off x="9620250" y="4643884"/>
            <a:ext cx="2971026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ideal adds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7"/>
          <p:cNvSpPr/>
          <p:nvPr/>
        </p:nvSpPr>
        <p:spPr>
          <a:xfrm>
            <a:off x="15702632" y="4762946"/>
            <a:ext cx="13665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6–8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9620250" y="5134421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Mirror-opposite of the suitors; foil for the Cyclops (both Poseidon's line). Almost too perfect — and hospitality becomes the vehicle of the homecoming itself.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990600" y="9534525"/>
            <a:ext cx="3150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11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7" name="Google Shape;717;p2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8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8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 the xenia checklist to the Phaeacians with step-by-step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8"/>
          <p:cNvSpPr/>
          <p:nvPr/>
        </p:nvSpPr>
        <p:spPr>
          <a:xfrm>
            <a:off x="1758628" y="4003849"/>
            <a:ext cx="5073484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what the ideal adds to Topic 1.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8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8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APPLY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8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Run the Phaeacians through the checklist — cite the moment that satisfies (or exceeds) each step.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8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8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does the Echeneus moment add? Why might Homer include a hesitation in his ideal host?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/>
          <p:nvPr/>
        </p:nvSpPr>
        <p:spPr>
          <a:xfrm>
            <a:off x="7543800" y="4958060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8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COMPARE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9544050" y="4427562"/>
            <a:ext cx="7640389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Alcinous against the suitors — score both against the code.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8"/>
          <p:cNvSpPr/>
          <p:nvPr/>
        </p:nvSpPr>
        <p:spPr>
          <a:xfrm>
            <a:off x="7543800" y="520094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9544050" y="5139035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'In the Odyssey, hospitality is the measure of civilisation.'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6–8?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/>
          <p:nvPr/>
        </p:nvSpPr>
        <p:spPr>
          <a:xfrm>
            <a:off x="990600" y="9534525"/>
            <a:ext cx="3150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11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5" name="Google Shape;745;p2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2" name="Google Shape;7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2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29"/>
          <p:cNvSpPr/>
          <p:nvPr/>
        </p:nvSpPr>
        <p:spPr>
          <a:xfrm>
            <a:off x="1524000" y="666750"/>
            <a:ext cx="8064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2 · THE PHAEACIANS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9"/>
          <p:cNvSpPr/>
          <p:nvPr/>
        </p:nvSpPr>
        <p:spPr>
          <a:xfrm>
            <a:off x="15713571" y="609600"/>
            <a:ext cx="1126629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1524000" y="2637830"/>
            <a:ext cx="176742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1524000" y="3218855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Suppliancy</a:t>
            </a: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the art of persuasion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1524000" y="6166247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9"/>
          <p:cNvSpPr/>
          <p:nvPr/>
        </p:nvSpPr>
        <p:spPr>
          <a:xfrm>
            <a:off x="15240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9"/>
          <p:cNvSpPr/>
          <p:nvPr/>
        </p:nvSpPr>
        <p:spPr>
          <a:xfrm>
            <a:off x="15240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supplication, and how Odysseus uses persuasive speech to win protection.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9"/>
          <p:cNvSpPr/>
          <p:nvPr/>
        </p:nvSpPr>
        <p:spPr>
          <a:xfrm>
            <a:off x="93345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/>
          <p:nvPr/>
        </p:nvSpPr>
        <p:spPr>
          <a:xfrm>
            <a:off x="93345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suppliancy and its link to xenia; analyse the structure and skill of the speech to Nausicaa.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2" name="Google Shape;762;p29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29"/>
          <p:cNvSpPr/>
          <p:nvPr/>
        </p:nvSpPr>
        <p:spPr>
          <a:xfrm>
            <a:off x="3429277" y="2721102"/>
            <a:ext cx="1593300" cy="357300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9"/>
          <p:cNvSpPr/>
          <p:nvPr/>
        </p:nvSpPr>
        <p:spPr>
          <a:xfrm>
            <a:off x="3543527" y="2759139"/>
            <a:ext cx="1364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0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0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0"/>
          <p:cNvSpPr/>
          <p:nvPr/>
        </p:nvSpPr>
        <p:spPr>
          <a:xfrm>
            <a:off x="990600" y="1233488"/>
            <a:ext cx="691515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hiketeia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990600" y="2452688"/>
            <a:ext cx="6915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ἱκετεία · supplication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0"/>
          <p:cNvSpPr/>
          <p:nvPr/>
        </p:nvSpPr>
        <p:spPr>
          <a:xfrm>
            <a:off x="990600" y="3262313"/>
            <a:ext cx="647509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28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ritual by which a helpless person begs protection from someone more powerful.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0"/>
          <p:cNvSpPr/>
          <p:nvPr/>
        </p:nvSpPr>
        <p:spPr>
          <a:xfrm>
            <a:off x="990600" y="4452938"/>
            <a:ext cx="6286500" cy="1983879"/>
          </a:xfrm>
          <a:prstGeom prst="roundRect">
            <a:avLst>
              <a:gd fmla="val 6722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0"/>
          <p:cNvSpPr/>
          <p:nvPr/>
        </p:nvSpPr>
        <p:spPr>
          <a:xfrm>
            <a:off x="1314450" y="4700588"/>
            <a:ext cx="620268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0"/>
          <p:cNvSpPr/>
          <p:nvPr/>
        </p:nvSpPr>
        <p:spPr>
          <a:xfrm>
            <a:off x="1314450" y="5029200"/>
            <a:ext cx="5807964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Supplication (hiketeia) is the ritual plea of a helpless person for protection, guarded by Zeus Hikesios.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0"/>
          <p:cNvSpPr/>
          <p:nvPr/>
        </p:nvSpPr>
        <p:spPr>
          <a:xfrm>
            <a:off x="8134350" y="4682058"/>
            <a:ext cx="91630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8134350" y="3357265"/>
            <a:ext cx="2828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Physical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0"/>
          <p:cNvSpPr/>
          <p:nvPr/>
        </p:nvSpPr>
        <p:spPr>
          <a:xfrm>
            <a:off x="10972800" y="3395365"/>
            <a:ext cx="6514338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suppliant makes themselves low — clasping the knees, touching the chin, or sitting at the hearth in the ashes — embodying their helplessness.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8134350" y="6225927"/>
            <a:ext cx="91630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"/>
          <p:cNvSpPr/>
          <p:nvPr/>
        </p:nvSpPr>
        <p:spPr>
          <a:xfrm>
            <a:off x="8134350" y="4901133"/>
            <a:ext cx="2828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Sacred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0"/>
          <p:cNvSpPr/>
          <p:nvPr/>
        </p:nvSpPr>
        <p:spPr>
          <a:xfrm>
            <a:off x="10972800" y="4939233"/>
            <a:ext cx="6514338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Like xenia, it is protected by Zeus — Zeus Hikesios — so to reject a suppliant is impious and dangerous, not merely unkind.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0"/>
          <p:cNvSpPr/>
          <p:nvPr/>
        </p:nvSpPr>
        <p:spPr>
          <a:xfrm>
            <a:off x="8134350" y="6445002"/>
            <a:ext cx="28289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last resort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0"/>
          <p:cNvSpPr/>
          <p:nvPr/>
        </p:nvSpPr>
        <p:spPr>
          <a:xfrm>
            <a:off x="10972800" y="6483102"/>
            <a:ext cx="6514338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 no rights, no kin and no home, a stranger's plea — and their persuasive skill — is all they have.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0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7" name="Google Shape;787;p3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1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1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Suppliancy, xenia — and words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990600" y="3863206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1"/>
          <p:cNvSpPr/>
          <p:nvPr/>
        </p:nvSpPr>
        <p:spPr>
          <a:xfrm>
            <a:off x="990600" y="2349773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2190750" y="2468835"/>
            <a:ext cx="16617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Twin protections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2190750" y="2916510"/>
            <a:ext cx="155598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Both backed by Zeus: xenia is the host's standing duty; suppliancy is the suppliant's desperate opening move. One appeals to the other.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1"/>
          <p:cNvSpPr/>
          <p:nvPr/>
        </p:nvSpPr>
        <p:spPr>
          <a:xfrm>
            <a:off x="990600" y="561476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1"/>
          <p:cNvSpPr/>
          <p:nvPr/>
        </p:nvSpPr>
        <p:spPr>
          <a:xfrm>
            <a:off x="990600" y="4101331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1"/>
          <p:cNvSpPr/>
          <p:nvPr/>
        </p:nvSpPr>
        <p:spPr>
          <a:xfrm>
            <a:off x="2190750" y="4220394"/>
            <a:ext cx="1661731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moral test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2190750" y="4668069"/>
            <a:ext cx="155598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a person answers a suppliant reveals them, exactly like hospitality — mercy marks the civilised, cruelty the savage (remember this when we reach the Cyclops).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990600" y="7007275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>
            <a:off x="990600" y="5852889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1"/>
          <p:cNvSpPr/>
          <p:nvPr/>
        </p:nvSpPr>
        <p:spPr>
          <a:xfrm>
            <a:off x="2190750" y="5971952"/>
            <a:ext cx="1140434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One weapon: speech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1"/>
          <p:cNvSpPr/>
          <p:nvPr/>
        </p:nvSpPr>
        <p:spPr>
          <a:xfrm>
            <a:off x="2190750" y="6419627"/>
            <a:ext cx="11404349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Persuasion is how the powerless create obligation in the powerful — rhetoric as survival.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990600" y="7245400"/>
            <a:ext cx="933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300"/>
              <a:buFont typeface="Lora"/>
              <a:buNone/>
            </a:pPr>
            <a:r>
              <a:rPr b="1" i="1" lang="en-US" sz="33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/>
          <p:nvPr/>
        </p:nvSpPr>
        <p:spPr>
          <a:xfrm>
            <a:off x="2190750" y="7364462"/>
            <a:ext cx="1356197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showcase for mētis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/>
          <p:nvPr/>
        </p:nvSpPr>
        <p:spPr>
          <a:xfrm>
            <a:off x="2190750" y="7812137"/>
            <a:ext cx="13561978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Odysseus's sharpest survival tool is not his hands but his tongue — and Book 6 gives us his masterpiece.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2" name="Google Shape;812;p3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2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2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2"/>
          <p:cNvSpPr/>
          <p:nvPr/>
        </p:nvSpPr>
        <p:spPr>
          <a:xfrm>
            <a:off x="990600" y="1271588"/>
            <a:ext cx="6475095" cy="12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41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decision before the speech </a:t>
            </a:r>
            <a:r>
              <a:rPr b="0" i="1" lang="en-US" sz="45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6)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2"/>
          <p:cNvSpPr/>
          <p:nvPr/>
        </p:nvSpPr>
        <p:spPr>
          <a:xfrm>
            <a:off x="990600" y="2829818"/>
            <a:ext cx="647509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882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Tact and cunning, before he has said a thing.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8039100" y="385152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2"/>
          <p:cNvSpPr/>
          <p:nvPr/>
        </p:nvSpPr>
        <p:spPr>
          <a:xfrm>
            <a:off x="8039100" y="2609552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SCENE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8039100" y="2942927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wakes naked, brine-crusted and monstrous-looking; the girls flee — except Nausicaa, whom Athene fills with courage. She stands her ground.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2"/>
          <p:cNvSpPr/>
          <p:nvPr/>
        </p:nvSpPr>
        <p:spPr>
          <a:xfrm>
            <a:off x="8039100" y="5293519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2"/>
          <p:cNvSpPr/>
          <p:nvPr/>
        </p:nvSpPr>
        <p:spPr>
          <a:xfrm>
            <a:off x="8039100" y="405154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CALCULATION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8039100" y="4384923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Should he clasp her knees, the standard suppliant's move? He decides not to — a naked stranger seizing a young girl's knees would terrify and insult her.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8039100" y="6735514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2"/>
          <p:cNvSpPr/>
          <p:nvPr/>
        </p:nvSpPr>
        <p:spPr>
          <a:xfrm>
            <a:off x="8039100" y="5493544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CHOICE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8039100" y="5826919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holds back at a distance, covering himself with a leafy branch, and supplicates 'from afar' — with words alone.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8039100" y="693553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HOMER'S SIGNAL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8039100" y="7268914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speaks a speech both 'courteous and full of subtlety'. What follows is a masterclass — study its architecture.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4" name="Google Shape;834;p3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3"/>
          <p:cNvSpPr/>
          <p:nvPr/>
        </p:nvSpPr>
        <p:spPr>
          <a:xfrm>
            <a:off x="990600" y="666750"/>
            <a:ext cx="255463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3"/>
          <p:cNvSpPr/>
          <p:nvPr/>
        </p:nvSpPr>
        <p:spPr>
          <a:xfrm>
            <a:off x="3640485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3"/>
          <p:cNvSpPr/>
          <p:nvPr/>
        </p:nvSpPr>
        <p:spPr>
          <a:xfrm>
            <a:off x="990600" y="1138238"/>
            <a:ext cx="17937480" cy="6181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7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50"/>
              <a:buFont typeface="Lora"/>
              <a:buNone/>
            </a:pPr>
            <a:r>
              <a:rPr b="1" i="1" lang="en-US" sz="43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speech to Nausicaa: move by move </a:t>
            </a:r>
            <a:r>
              <a:rPr b="0" i="1" lang="en-US" sz="43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(Book 6)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3"/>
          <p:cNvSpPr/>
          <p:nvPr/>
        </p:nvSpPr>
        <p:spPr>
          <a:xfrm>
            <a:off x="990600" y="3515246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3"/>
          <p:cNvSpPr/>
          <p:nvPr/>
        </p:nvSpPr>
        <p:spPr>
          <a:xfrm>
            <a:off x="990600" y="2165970"/>
            <a:ext cx="647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1866900" y="2285033"/>
            <a:ext cx="16973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Flattery — reading her mind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3"/>
          <p:cNvSpPr/>
          <p:nvPr/>
        </p:nvSpPr>
        <p:spPr>
          <a:xfrm>
            <a:off x="1866900" y="2685083"/>
            <a:ext cx="15893415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'Are you a goddess or a mortal?' — he compares her to Artemis, the virgin goddess; her family are blessed to have her; but happiest of all will be the man who wins her in marriage. He guesses, rightly, what fills her thoughts.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3"/>
          <p:cNvSpPr/>
          <p:nvPr/>
        </p:nvSpPr>
        <p:spPr>
          <a:xfrm>
            <a:off x="990600" y="5055022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3"/>
          <p:cNvSpPr/>
          <p:nvPr/>
        </p:nvSpPr>
        <p:spPr>
          <a:xfrm>
            <a:off x="990600" y="3705746"/>
            <a:ext cx="647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>
            <a:off x="1866900" y="3824808"/>
            <a:ext cx="16973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Credentials, planted casually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3"/>
          <p:cNvSpPr/>
          <p:nvPr/>
        </p:nvSpPr>
        <p:spPr>
          <a:xfrm>
            <a:off x="1866900" y="4224858"/>
            <a:ext cx="15893415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 reminds him of a young palm-tree he once saw at Delos, Apollo's sanctuary — the elegant image quietly reveals he is well-travelled, and an army followed him there: not a vagrant, but a commander of men.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3"/>
          <p:cNvSpPr/>
          <p:nvPr/>
        </p:nvSpPr>
        <p:spPr>
          <a:xfrm>
            <a:off x="990600" y="6270203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3"/>
          <p:cNvSpPr/>
          <p:nvPr/>
        </p:nvSpPr>
        <p:spPr>
          <a:xfrm>
            <a:off x="990600" y="5245522"/>
            <a:ext cx="647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1866900" y="5364584"/>
            <a:ext cx="1081130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Sympathy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3"/>
          <p:cNvSpPr/>
          <p:nvPr/>
        </p:nvSpPr>
        <p:spPr>
          <a:xfrm>
            <a:off x="1866900" y="5764634"/>
            <a:ext cx="10811307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Nineteen days storm-tossed at sea before reaching her shore — a plea for pity, briefly told.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3"/>
          <p:cNvSpPr/>
          <p:nvPr/>
        </p:nvSpPr>
        <p:spPr>
          <a:xfrm>
            <a:off x="990600" y="7485385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3"/>
          <p:cNvSpPr/>
          <p:nvPr/>
        </p:nvSpPr>
        <p:spPr>
          <a:xfrm>
            <a:off x="990600" y="6460703"/>
            <a:ext cx="647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/>
          <p:nvPr/>
        </p:nvSpPr>
        <p:spPr>
          <a:xfrm>
            <a:off x="1866900" y="6579766"/>
            <a:ext cx="132749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Credentials again, through the gods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3"/>
          <p:cNvSpPr/>
          <p:nvPr/>
        </p:nvSpPr>
        <p:spPr>
          <a:xfrm>
            <a:off x="1866900" y="6979816"/>
            <a:ext cx="13274993" cy="3626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gods have given him suffering and will give more — yet gods only trouble themselves with men who matter.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3"/>
          <p:cNvSpPr/>
          <p:nvPr/>
        </p:nvSpPr>
        <p:spPr>
          <a:xfrm>
            <a:off x="990600" y="7675885"/>
            <a:ext cx="6477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5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3"/>
          <p:cNvSpPr/>
          <p:nvPr/>
        </p:nvSpPr>
        <p:spPr>
          <a:xfrm>
            <a:off x="1866900" y="7794947"/>
            <a:ext cx="16973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Humility and xenia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/>
          <p:nvPr/>
        </p:nvSpPr>
        <p:spPr>
          <a:xfrm>
            <a:off x="1866900" y="8194997"/>
            <a:ext cx="15893415" cy="687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 asks as a stranger owed protection; he begs only a rag to wear. He closes by praying the gods grant her a husband, a home, and </a:t>
            </a:r>
            <a:r>
              <a:rPr b="0" i="1" lang="en-US" sz="1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homophrosynē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 'likemindedness' in marriage: the very things she dreams of.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3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4" name="Google Shape;864;p3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4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4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4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Why the speech works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4"/>
          <p:cNvSpPr/>
          <p:nvPr/>
        </p:nvSpPr>
        <p:spPr>
          <a:xfrm>
            <a:off x="990600" y="2083073"/>
            <a:ext cx="16306800" cy="833438"/>
          </a:xfrm>
          <a:prstGeom prst="roundRect">
            <a:avLst>
              <a:gd fmla="val 16000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4"/>
          <p:cNvSpPr/>
          <p:nvPr/>
        </p:nvSpPr>
        <p:spPr>
          <a:xfrm>
            <a:off x="1371600" y="2330723"/>
            <a:ext cx="1056903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Flattery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4"/>
          <p:cNvSpPr/>
          <p:nvPr/>
        </p:nvSpPr>
        <p:spPr>
          <a:xfrm>
            <a:off x="2561853" y="2337867"/>
            <a:ext cx="342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/>
          <p:nvPr/>
        </p:nvSpPr>
        <p:spPr>
          <a:xfrm>
            <a:off x="3038103" y="2330723"/>
            <a:ext cx="1479701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credentials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4"/>
          <p:cNvSpPr/>
          <p:nvPr/>
        </p:nvSpPr>
        <p:spPr>
          <a:xfrm>
            <a:off x="4592836" y="2337867"/>
            <a:ext cx="342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5069086" y="2330723"/>
            <a:ext cx="131680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sympathy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4"/>
          <p:cNvSpPr/>
          <p:nvPr/>
        </p:nvSpPr>
        <p:spPr>
          <a:xfrm>
            <a:off x="6475735" y="2337867"/>
            <a:ext cx="342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6951985" y="2330723"/>
            <a:ext cx="112915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humility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8214494" y="2337867"/>
            <a:ext cx="342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8690744" y="2330723"/>
            <a:ext cx="5097222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1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prayer that mirrors her own dreams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13966999" y="2371204"/>
            <a:ext cx="324434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move prepares the next.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4"/>
          <p:cNvSpPr/>
          <p:nvPr/>
        </p:nvSpPr>
        <p:spPr>
          <a:xfrm>
            <a:off x="990600" y="4981054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4"/>
          <p:cNvSpPr/>
          <p:nvPr/>
        </p:nvSpPr>
        <p:spPr>
          <a:xfrm>
            <a:off x="990600" y="3316560"/>
            <a:ext cx="85496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Applied psychology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/>
          <p:nvPr/>
        </p:nvSpPr>
        <p:spPr>
          <a:xfrm>
            <a:off x="990600" y="3735660"/>
            <a:ext cx="80055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Within moments of meeting her he has mapped Nausicaa's status, age, hopes and fears, and aimed every sentence at them.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4"/>
          <p:cNvSpPr/>
          <p:nvPr/>
        </p:nvSpPr>
        <p:spPr>
          <a:xfrm>
            <a:off x="9525000" y="4981054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/>
          <p:nvPr/>
        </p:nvSpPr>
        <p:spPr>
          <a:xfrm>
            <a:off x="9525000" y="3316560"/>
            <a:ext cx="85496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closing word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/>
          <p:nvPr/>
        </p:nvSpPr>
        <p:spPr>
          <a:xfrm>
            <a:off x="9525000" y="3735660"/>
            <a:ext cx="8005572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Lora"/>
              <a:buNone/>
            </a:pPr>
            <a:r>
              <a:rPr b="0" i="1" lang="en-US" sz="187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Homophrosynē </a:t>
            </a: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like-mindedness between husband and wife. It wins Nausicaa now, and it is the poem's own ideal of marriage, pointing straight at Odysseus and Penelope.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4"/>
          <p:cNvSpPr/>
          <p:nvPr/>
        </p:nvSpPr>
        <p:spPr>
          <a:xfrm>
            <a:off x="990600" y="5200129"/>
            <a:ext cx="85496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Mētis in speech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990600" y="5619229"/>
            <a:ext cx="80055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Naked, friendless and unarmed, he manufactures trust out of words alone — persuasion achieving what force never could.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4"/>
          <p:cNvSpPr/>
          <p:nvPr/>
        </p:nvSpPr>
        <p:spPr>
          <a:xfrm>
            <a:off x="9525000" y="5200129"/>
            <a:ext cx="85496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verdict is immediate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4"/>
          <p:cNvSpPr/>
          <p:nvPr/>
        </p:nvSpPr>
        <p:spPr>
          <a:xfrm>
            <a:off x="9525000" y="5619229"/>
            <a:ext cx="8005572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Nausicaa answers that he seems </a:t>
            </a:r>
            <a:r>
              <a:rPr b="0" i="1" lang="en-US" sz="187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'no fool and no bad man' </a:t>
            </a: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, and grants him exactly what he needs — food, clothing, and the way to the palace.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5" name="Google Shape;895;p3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5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5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5"/>
          <p:cNvSpPr/>
          <p:nvPr/>
        </p:nvSpPr>
        <p:spPr>
          <a:xfrm>
            <a:off x="990600" y="2100263"/>
            <a:ext cx="5232350" cy="4253285"/>
          </a:xfrm>
          <a:prstGeom prst="roundRect">
            <a:avLst>
              <a:gd fmla="val 358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>
            <a:off x="1343025" y="2414588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>
            <a:off x="1476375" y="2471738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decision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5"/>
          <p:cNvSpPr/>
          <p:nvPr/>
        </p:nvSpPr>
        <p:spPr>
          <a:xfrm>
            <a:off x="1343025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rejects the knee-clasp — it would terrify her — and supplicates from a distance, with words.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1343025" y="4882976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1343025" y="5044901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Tact and mētis before a word is spoken; Homer calls the speech courteous and subtle.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5"/>
          <p:cNvSpPr/>
          <p:nvPr/>
        </p:nvSpPr>
        <p:spPr>
          <a:xfrm>
            <a:off x="6527750" y="2100263"/>
            <a:ext cx="5232425" cy="4253285"/>
          </a:xfrm>
          <a:prstGeom prst="roundRect">
            <a:avLst>
              <a:gd fmla="val 358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5"/>
          <p:cNvSpPr/>
          <p:nvPr/>
        </p:nvSpPr>
        <p:spPr>
          <a:xfrm>
            <a:off x="6880175" y="2414588"/>
            <a:ext cx="115222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5"/>
          <p:cNvSpPr/>
          <p:nvPr/>
        </p:nvSpPr>
        <p:spPr>
          <a:xfrm>
            <a:off x="7013525" y="2471738"/>
            <a:ext cx="96172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5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architecture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5"/>
          <p:cNvSpPr/>
          <p:nvPr/>
        </p:nvSpPr>
        <p:spPr>
          <a:xfrm>
            <a:off x="6880175" y="3428479"/>
            <a:ext cx="4663402" cy="1824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Flattery (Artemis; blessed family; luckiest husband) → credentials (Delos palm, the army) → sympathy (19 days) → gods trouble only significant men → humility (a rag) → the prayer.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5"/>
          <p:cNvSpPr/>
          <p:nvPr/>
        </p:nvSpPr>
        <p:spPr>
          <a:xfrm>
            <a:off x="6880175" y="5214417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5"/>
          <p:cNvSpPr/>
          <p:nvPr/>
        </p:nvSpPr>
        <p:spPr>
          <a:xfrm>
            <a:off x="6880175" y="5376342"/>
            <a:ext cx="4663402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Every move is aimed at her hopes and fears — applied psychology.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5"/>
          <p:cNvSpPr/>
          <p:nvPr/>
        </p:nvSpPr>
        <p:spPr>
          <a:xfrm>
            <a:off x="12064975" y="2100263"/>
            <a:ext cx="5232350" cy="4253285"/>
          </a:xfrm>
          <a:prstGeom prst="roundRect">
            <a:avLst>
              <a:gd fmla="val 3583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5"/>
          <p:cNvSpPr/>
          <p:nvPr/>
        </p:nvSpPr>
        <p:spPr>
          <a:xfrm>
            <a:off x="12417400" y="2414588"/>
            <a:ext cx="156113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5"/>
          <p:cNvSpPr/>
          <p:nvPr/>
        </p:nvSpPr>
        <p:spPr>
          <a:xfrm>
            <a:off x="12550750" y="2471738"/>
            <a:ext cx="137063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6–7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result &amp; the theme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12417400" y="3428479"/>
            <a:ext cx="466332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'No fool and no bad man' — trust manufactured from words alone. Homophrosynē points at the poem's ideal of marriage.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12417400" y="5214417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5"/>
          <p:cNvSpPr/>
          <p:nvPr/>
        </p:nvSpPr>
        <p:spPr>
          <a:xfrm>
            <a:off x="12417400" y="5376342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At the palace he supplicates Arete at the hearth — the classic ritual form.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5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6" name="Google Shape;926;p3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6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6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6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6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6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6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6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suppliancy, its ritual language, and its link to xenia.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6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Analyse the speech to Nausicaa move by move.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6"/>
          <p:cNvSpPr/>
          <p:nvPr/>
        </p:nvSpPr>
        <p:spPr>
          <a:xfrm>
            <a:off x="7543800" y="317606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75438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DEFINE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9544050" y="2286521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Supplication and its physical language, and why refusing a suppliant is dangerous.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6"/>
          <p:cNvSpPr/>
          <p:nvPr/>
        </p:nvSpPr>
        <p:spPr>
          <a:xfrm>
            <a:off x="7543800" y="42465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6"/>
          <p:cNvSpPr/>
          <p:nvPr/>
        </p:nvSpPr>
        <p:spPr>
          <a:xfrm>
            <a:off x="7543800" y="3418954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6"/>
          <p:cNvSpPr/>
          <p:nvPr/>
        </p:nvSpPr>
        <p:spPr>
          <a:xfrm>
            <a:off x="9544050" y="335704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Map the speech's five moves and explain what each is designed to achieve.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6"/>
          <p:cNvSpPr/>
          <p:nvPr/>
        </p:nvSpPr>
        <p:spPr>
          <a:xfrm>
            <a:off x="7543800" y="531710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6"/>
          <p:cNvSpPr/>
          <p:nvPr/>
        </p:nvSpPr>
        <p:spPr>
          <a:xfrm>
            <a:off x="7543800" y="4489475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6"/>
          <p:cNvSpPr/>
          <p:nvPr/>
        </p:nvSpPr>
        <p:spPr>
          <a:xfrm>
            <a:off x="9544050" y="4427562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homophrosynē is the perfect closing note — for Nausicaa, and for the poem.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6"/>
          <p:cNvSpPr/>
          <p:nvPr/>
        </p:nvSpPr>
        <p:spPr>
          <a:xfrm>
            <a:off x="7543800" y="555999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6"/>
          <p:cNvSpPr/>
          <p:nvPr/>
        </p:nvSpPr>
        <p:spPr>
          <a:xfrm>
            <a:off x="9544050" y="5498083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'Odysseus's greatest weapon is his tongue.'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6–7?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6"/>
          <p:cNvSpPr/>
          <p:nvPr/>
        </p:nvSpPr>
        <p:spPr>
          <a:xfrm>
            <a:off x="990600" y="9534525"/>
            <a:ext cx="27266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12 · Suppliancy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4" name="Google Shape;954;p3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1" name="Google Shape;96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37"/>
          <p:cNvSpPr/>
          <p:nvPr/>
        </p:nvSpPr>
        <p:spPr>
          <a:xfrm>
            <a:off x="1524000" y="666750"/>
            <a:ext cx="8064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2 · THE PHAEACIANS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/>
          <p:nvPr/>
        </p:nvSpPr>
        <p:spPr>
          <a:xfrm>
            <a:off x="15686112" y="609600"/>
            <a:ext cx="115408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7"/>
          <p:cNvSpPr/>
          <p:nvPr/>
        </p:nvSpPr>
        <p:spPr>
          <a:xfrm>
            <a:off x="1524000" y="2736503"/>
            <a:ext cx="177634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7"/>
          <p:cNvSpPr/>
          <p:nvPr/>
        </p:nvSpPr>
        <p:spPr>
          <a:xfrm>
            <a:off x="3386510" y="2865090"/>
            <a:ext cx="1335881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7"/>
          <p:cNvSpPr/>
          <p:nvPr/>
        </p:nvSpPr>
        <p:spPr>
          <a:xfrm>
            <a:off x="3538910" y="2922240"/>
            <a:ext cx="110728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7"/>
          <p:cNvSpPr/>
          <p:nvPr/>
        </p:nvSpPr>
        <p:spPr>
          <a:xfrm>
            <a:off x="1524000" y="3317528"/>
            <a:ext cx="15697200" cy="21785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9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50"/>
              <a:buFont typeface="Lora"/>
              <a:buNone/>
            </a:pPr>
            <a:r>
              <a:rPr b="1" i="1" lang="en-US" sz="7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Women revisited: </a:t>
            </a:r>
            <a:r>
              <a:rPr b="0" i="1" lang="en-US" sz="7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Calypso, Nausicaa &amp; Arete</a:t>
            </a:r>
            <a:endParaRPr b="0" i="0" sz="7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7"/>
          <p:cNvSpPr/>
          <p:nvPr/>
        </p:nvSpPr>
        <p:spPr>
          <a:xfrm>
            <a:off x="1524000" y="6067574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7"/>
          <p:cNvSpPr/>
          <p:nvPr/>
        </p:nvSpPr>
        <p:spPr>
          <a:xfrm>
            <a:off x="1524000" y="6419999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7"/>
          <p:cNvSpPr/>
          <p:nvPr/>
        </p:nvSpPr>
        <p:spPr>
          <a:xfrm>
            <a:off x="1524000" y="6777186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'women' by studying three female figures of Books 5–7 in detail, with Helen as foil.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7"/>
          <p:cNvSpPr/>
          <p:nvPr/>
        </p:nvSpPr>
        <p:spPr>
          <a:xfrm>
            <a:off x="9334500" y="6419999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7"/>
          <p:cNvSpPr/>
          <p:nvPr/>
        </p:nvSpPr>
        <p:spPr>
          <a:xfrm>
            <a:off x="9334500" y="6777186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Characterise Calypso, Nausicaa and Arete with evidence; explain the range and limits of female power.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3" name="Google Shape;973;p3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8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8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8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Women: the thread so far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8"/>
          <p:cNvSpPr/>
          <p:nvPr/>
        </p:nvSpPr>
        <p:spPr>
          <a:xfrm>
            <a:off x="990600" y="2866430"/>
            <a:ext cx="6475095" cy="16581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150"/>
              <a:buFont typeface="Lora"/>
              <a:buNone/>
            </a:pPr>
            <a:r>
              <a:rPr b="0" i="1" lang="en-US" sz="3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Books 5–7 add three more, sharply different: a goddess, a girl, and a queen.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8"/>
          <p:cNvSpPr/>
          <p:nvPr/>
        </p:nvSpPr>
        <p:spPr>
          <a:xfrm>
            <a:off x="8039100" y="4732958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8"/>
          <p:cNvSpPr/>
          <p:nvPr/>
        </p:nvSpPr>
        <p:spPr>
          <a:xfrm>
            <a:off x="8039100" y="3112889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FROM TOPIC 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8"/>
          <p:cNvSpPr/>
          <p:nvPr/>
        </p:nvSpPr>
        <p:spPr>
          <a:xfrm>
            <a:off x="8039100" y="3446264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Helen — poised, perceptive, morally ambiguous (the nepenthe; the two irreconcilable Troy stories) — and a glimpse of Penelope, sent from the hall by her son.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8"/>
          <p:cNvSpPr/>
          <p:nvPr/>
        </p:nvSpPr>
        <p:spPr>
          <a:xfrm>
            <a:off x="8039100" y="621305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8"/>
          <p:cNvSpPr/>
          <p:nvPr/>
        </p:nvSpPr>
        <p:spPr>
          <a:xfrm>
            <a:off x="8039100" y="4952033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PRINCIPLE ESTABLISHED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8"/>
          <p:cNvSpPr/>
          <p:nvPr/>
        </p:nvSpPr>
        <p:spPr>
          <a:xfrm>
            <a:off x="8039100" y="5285408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poem draws women as complex individuals with real power, not simple types.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8"/>
          <p:cNvSpPr/>
          <p:nvPr/>
        </p:nvSpPr>
        <p:spPr>
          <a:xfrm>
            <a:off x="8039100" y="643212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TWO QUESTIONS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8"/>
          <p:cNvSpPr/>
          <p:nvPr/>
        </p:nvSpPr>
        <p:spPr>
          <a:xfrm>
            <a:off x="8039100" y="6765503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For each woman, ask the same two questions: what is her power, and where does it end?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8"/>
          <p:cNvSpPr/>
          <p:nvPr/>
        </p:nvSpPr>
        <p:spPr>
          <a:xfrm>
            <a:off x="990600" y="9534525"/>
            <a:ext cx="34254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13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2" name="Google Shape;992;p3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9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9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9"/>
          <p:cNvSpPr/>
          <p:nvPr/>
        </p:nvSpPr>
        <p:spPr>
          <a:xfrm>
            <a:off x="990600" y="1138238"/>
            <a:ext cx="17937480" cy="6522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0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Calypso: divine power, and its limit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5)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9"/>
          <p:cNvSpPr/>
          <p:nvPr/>
        </p:nvSpPr>
        <p:spPr>
          <a:xfrm>
            <a:off x="990600" y="2057177"/>
            <a:ext cx="7962900" cy="7267798"/>
          </a:xfrm>
          <a:prstGeom prst="roundRect">
            <a:avLst>
              <a:gd fmla="val 2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9"/>
          <p:cNvSpPr/>
          <p:nvPr/>
        </p:nvSpPr>
        <p:spPr>
          <a:xfrm>
            <a:off x="1381125" y="2352452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HER POWER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9"/>
          <p:cNvSpPr/>
          <p:nvPr/>
        </p:nvSpPr>
        <p:spPr>
          <a:xfrm>
            <a:off x="1381125" y="39955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9"/>
          <p:cNvSpPr/>
          <p:nvPr/>
        </p:nvSpPr>
        <p:spPr>
          <a:xfrm>
            <a:off x="1381125" y="2866802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An immortal nymph on remote Ogygia — her cave ringed by alder and cypress, vines heavy with grapes, four springs, soft meadows: even Hermes stops to marvel.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9"/>
          <p:cNvSpPr/>
          <p:nvPr/>
        </p:nvSpPr>
        <p:spPr>
          <a:xfrm>
            <a:off x="1381125" y="4909914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9"/>
          <p:cNvSpPr/>
          <p:nvPr/>
        </p:nvSpPr>
        <p:spPr>
          <a:xfrm>
            <a:off x="1381125" y="41193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has held Odysseus seven years, and holds the ultimate card: immortality itself, if he stays.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9"/>
          <p:cNvSpPr/>
          <p:nvPr/>
        </p:nvSpPr>
        <p:spPr>
          <a:xfrm>
            <a:off x="1381125" y="5033739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fabulous world in female form — beauty, ease, and total control of her island.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9"/>
          <p:cNvSpPr/>
          <p:nvPr/>
        </p:nvSpPr>
        <p:spPr>
          <a:xfrm>
            <a:off x="9334500" y="2057177"/>
            <a:ext cx="7962900" cy="7267798"/>
          </a:xfrm>
          <a:prstGeom prst="roundRect">
            <a:avLst>
              <a:gd fmla="val 2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9"/>
          <p:cNvSpPr/>
          <p:nvPr/>
        </p:nvSpPr>
        <p:spPr>
          <a:xfrm>
            <a:off x="9725025" y="2352452"/>
            <a:ext cx="790003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LIMIT — AND THE PROTEST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9"/>
          <p:cNvSpPr/>
          <p:nvPr/>
        </p:nvSpPr>
        <p:spPr>
          <a:xfrm>
            <a:off x="9725025" y="3657377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9"/>
          <p:cNvSpPr/>
          <p:nvPr/>
        </p:nvSpPr>
        <p:spPr>
          <a:xfrm>
            <a:off x="9725025" y="2866802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cannot win his heart: each day he sits on the shore weeping for home. Power over his body, none over his longing.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9"/>
          <p:cNvSpPr/>
          <p:nvPr/>
        </p:nvSpPr>
        <p:spPr>
          <a:xfrm>
            <a:off x="9725025" y="524805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9"/>
          <p:cNvSpPr/>
          <p:nvPr/>
        </p:nvSpPr>
        <p:spPr>
          <a:xfrm>
            <a:off x="9725025" y="3781202"/>
            <a:ext cx="7397306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Ordered by Zeus to release him, she protests the double standard: male gods take mortal lovers freely, yet the gods are 'scandalised' when a goddess does the same — a rare, sharp female complaint.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9"/>
          <p:cNvSpPr/>
          <p:nvPr/>
        </p:nvSpPr>
        <p:spPr>
          <a:xfrm>
            <a:off x="9725025" y="5371877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Then she yields with grace: bathes him, provisions him, gives the tools and fabric for his raft. Divine power ends where Zeus — and human love — begin.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9"/>
          <p:cNvSpPr/>
          <p:nvPr/>
        </p:nvSpPr>
        <p:spPr>
          <a:xfrm>
            <a:off x="990600" y="9534525"/>
            <a:ext cx="34254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13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6" name="Google Shape;1016;p3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0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0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0"/>
          <p:cNvSpPr/>
          <p:nvPr/>
        </p:nvSpPr>
        <p:spPr>
          <a:xfrm>
            <a:off x="990600" y="1138238"/>
            <a:ext cx="17937480" cy="6522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0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Nausicaa &amp; Arete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(Books 6–7)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0"/>
          <p:cNvSpPr/>
          <p:nvPr/>
        </p:nvSpPr>
        <p:spPr>
          <a:xfrm>
            <a:off x="990600" y="2057177"/>
            <a:ext cx="7962900" cy="7267798"/>
          </a:xfrm>
          <a:prstGeom prst="roundRect">
            <a:avLst>
              <a:gd fmla="val 2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0"/>
          <p:cNvSpPr/>
          <p:nvPr/>
        </p:nvSpPr>
        <p:spPr>
          <a:xfrm>
            <a:off x="1381125" y="2352452"/>
            <a:ext cx="151473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Nausicaa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0"/>
          <p:cNvSpPr/>
          <p:nvPr/>
        </p:nvSpPr>
        <p:spPr>
          <a:xfrm>
            <a:off x="4978971" y="2490564"/>
            <a:ext cx="394240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YOUTH, AND QUIET BOLDNESS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0"/>
          <p:cNvSpPr/>
          <p:nvPr/>
        </p:nvSpPr>
        <p:spPr>
          <a:xfrm>
            <a:off x="1381125" y="410505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0"/>
          <p:cNvSpPr/>
          <p:nvPr/>
        </p:nvSpPr>
        <p:spPr>
          <a:xfrm>
            <a:off x="1381125" y="2985864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Sent to the river by a dream Athene plants — with marriage on her mind; she teases the washing trip out of her father without quite naming why.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0"/>
          <p:cNvSpPr/>
          <p:nvPr/>
        </p:nvSpPr>
        <p:spPr>
          <a:xfrm>
            <a:off x="1381125" y="500040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0"/>
          <p:cNvSpPr/>
          <p:nvPr/>
        </p:nvSpPr>
        <p:spPr>
          <a:xfrm>
            <a:off x="1381125" y="4219352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Alone among the girls she stands her ground before the wild-looking stranger — Athene puts courage in her.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0"/>
          <p:cNvSpPr/>
          <p:nvPr/>
        </p:nvSpPr>
        <p:spPr>
          <a:xfrm>
            <a:off x="1381125" y="589575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0"/>
          <p:cNvSpPr/>
          <p:nvPr/>
        </p:nvSpPr>
        <p:spPr>
          <a:xfrm>
            <a:off x="1381125" y="5114702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Kind and practical: food, oil, clothes — then shrewd guidance for entering the city.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0"/>
          <p:cNvSpPr/>
          <p:nvPr/>
        </p:nvSpPr>
        <p:spPr>
          <a:xfrm>
            <a:off x="1381125" y="6010052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And reputation-aware: he must follow at a distance, so no one gossips that the princess has found herself a husband — she polices her own good name.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0"/>
          <p:cNvSpPr/>
          <p:nvPr/>
        </p:nvSpPr>
        <p:spPr>
          <a:xfrm>
            <a:off x="9334500" y="2057177"/>
            <a:ext cx="7962900" cy="7267798"/>
          </a:xfrm>
          <a:prstGeom prst="roundRect">
            <a:avLst>
              <a:gd fmla="val 2097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0"/>
          <p:cNvSpPr/>
          <p:nvPr/>
        </p:nvSpPr>
        <p:spPr>
          <a:xfrm>
            <a:off x="9725025" y="2352452"/>
            <a:ext cx="86484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550"/>
              <a:buFont typeface="Lora"/>
              <a:buNone/>
            </a:pPr>
            <a:r>
              <a:rPr b="1" i="1" lang="en-US" sz="25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Arete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0"/>
          <p:cNvSpPr/>
          <p:nvPr/>
        </p:nvSpPr>
        <p:spPr>
          <a:xfrm>
            <a:off x="14188455" y="2490564"/>
            <a:ext cx="2990262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HONOURED QUEEN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0"/>
          <p:cNvSpPr/>
          <p:nvPr/>
        </p:nvSpPr>
        <p:spPr>
          <a:xfrm>
            <a:off x="9725025" y="410505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0"/>
          <p:cNvSpPr/>
          <p:nvPr/>
        </p:nvSpPr>
        <p:spPr>
          <a:xfrm>
            <a:off x="9725025" y="2985864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Honoured by Alcinous 'as no other woman on earth is honoured', and revered by the people, who look on her 'as a goddess' when she walks through the town.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0"/>
          <p:cNvSpPr/>
          <p:nvPr/>
        </p:nvSpPr>
        <p:spPr>
          <a:xfrm>
            <a:off x="9725025" y="500040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0"/>
          <p:cNvSpPr/>
          <p:nvPr/>
        </p:nvSpPr>
        <p:spPr>
          <a:xfrm>
            <a:off x="9725025" y="4219352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settles disputes — even between men: influence that is genuinely political, not just domestic.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40"/>
          <p:cNvSpPr/>
          <p:nvPr/>
        </p:nvSpPr>
        <p:spPr>
          <a:xfrm>
            <a:off x="9725025" y="5895752"/>
            <a:ext cx="7181850" cy="9525"/>
          </a:xfrm>
          <a:prstGeom prst="rect">
            <a:avLst/>
          </a:prstGeom>
          <a:solidFill>
            <a:srgbClr val="0D1433">
              <a:alpha val="705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0"/>
          <p:cNvSpPr/>
          <p:nvPr/>
        </p:nvSpPr>
        <p:spPr>
          <a:xfrm>
            <a:off x="9725025" y="5114702"/>
            <a:ext cx="7397306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Both Nausicaa and Athene direct Odysseus to appeal to her first — win the queen, and the palace follows.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0"/>
          <p:cNvSpPr/>
          <p:nvPr/>
        </p:nvSpPr>
        <p:spPr>
          <a:xfrm>
            <a:off x="9725025" y="6010052"/>
            <a:ext cx="7397306" cy="10525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Sharp-eyed, too: she recognises the clothes Odysseus wears — she made them herself — and asks the pointed question: who are you, and who dressed you?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0"/>
          <p:cNvSpPr/>
          <p:nvPr/>
        </p:nvSpPr>
        <p:spPr>
          <a:xfrm>
            <a:off x="990600" y="9534525"/>
            <a:ext cx="34254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13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6" name="Google Shape;1046;p4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41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1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1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range, the limits, and Helen as foil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41"/>
          <p:cNvSpPr/>
          <p:nvPr/>
        </p:nvSpPr>
        <p:spPr>
          <a:xfrm>
            <a:off x="990600" y="2082105"/>
            <a:ext cx="5257800" cy="1615380"/>
          </a:xfrm>
          <a:prstGeom prst="roundRect">
            <a:avLst>
              <a:gd fmla="val 825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1"/>
          <p:cNvSpPr/>
          <p:nvPr/>
        </p:nvSpPr>
        <p:spPr>
          <a:xfrm>
            <a:off x="1304925" y="2339280"/>
            <a:ext cx="50920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Calypso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41"/>
          <p:cNvSpPr/>
          <p:nvPr/>
        </p:nvSpPr>
        <p:spPr>
          <a:xfrm>
            <a:off x="1304925" y="2777430"/>
            <a:ext cx="47680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Divine enchantment — yet she must yield to Zeus and cannot compel love.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1"/>
          <p:cNvSpPr/>
          <p:nvPr/>
        </p:nvSpPr>
        <p:spPr>
          <a:xfrm>
            <a:off x="6515100" y="2082105"/>
            <a:ext cx="5257800" cy="1615380"/>
          </a:xfrm>
          <a:prstGeom prst="roundRect">
            <a:avLst>
              <a:gd fmla="val 825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1"/>
          <p:cNvSpPr/>
          <p:nvPr/>
        </p:nvSpPr>
        <p:spPr>
          <a:xfrm>
            <a:off x="6829425" y="2339280"/>
            <a:ext cx="50920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Nausicaa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1"/>
          <p:cNvSpPr/>
          <p:nvPr/>
        </p:nvSpPr>
        <p:spPr>
          <a:xfrm>
            <a:off x="6829425" y="2777430"/>
            <a:ext cx="47680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Youthful social grace — her freedom fenced by reputation and marriageability.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1"/>
          <p:cNvSpPr/>
          <p:nvPr/>
        </p:nvSpPr>
        <p:spPr>
          <a:xfrm>
            <a:off x="12039600" y="2082105"/>
            <a:ext cx="5257800" cy="1615380"/>
          </a:xfrm>
          <a:prstGeom prst="roundRect">
            <a:avLst>
              <a:gd fmla="val 825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1"/>
          <p:cNvSpPr/>
          <p:nvPr/>
        </p:nvSpPr>
        <p:spPr>
          <a:xfrm>
            <a:off x="12353925" y="2339280"/>
            <a:ext cx="50920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Arete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1"/>
          <p:cNvSpPr/>
          <p:nvPr/>
        </p:nvSpPr>
        <p:spPr>
          <a:xfrm>
            <a:off x="12353925" y="2777430"/>
            <a:ext cx="47680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Queenly authority — real, but operating within her husband's hall.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1"/>
          <p:cNvSpPr/>
          <p:nvPr/>
        </p:nvSpPr>
        <p:spPr>
          <a:xfrm>
            <a:off x="990600" y="502518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1"/>
          <p:cNvSpPr/>
          <p:nvPr/>
        </p:nvSpPr>
        <p:spPr>
          <a:xfrm>
            <a:off x="990600" y="4178498"/>
            <a:ext cx="29337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HELEN AS FOIL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1"/>
          <p:cNvSpPr/>
          <p:nvPr/>
        </p:nvSpPr>
        <p:spPr>
          <a:xfrm>
            <a:off x="4000500" y="4116586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Where Helen was dangerous and unresolved, Nausicaa is innocent, Arete is trusted, Calypso is openly obstructive — the poem keeps refusing a single template for 'woman'.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1"/>
          <p:cNvSpPr/>
          <p:nvPr/>
        </p:nvSpPr>
        <p:spPr>
          <a:xfrm>
            <a:off x="990600" y="613380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1"/>
          <p:cNvSpPr/>
          <p:nvPr/>
        </p:nvSpPr>
        <p:spPr>
          <a:xfrm>
            <a:off x="990600" y="5287119"/>
            <a:ext cx="274701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TOWARDS PENELOPE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1"/>
          <p:cNvSpPr/>
          <p:nvPr/>
        </p:nvSpPr>
        <p:spPr>
          <a:xfrm>
            <a:off x="4000500" y="5225207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thread keeps building towards Penelope, who will fuse several of these powers — cunning, authority and fidelity — in one figure (still to come).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1"/>
          <p:cNvSpPr/>
          <p:nvPr/>
        </p:nvSpPr>
        <p:spPr>
          <a:xfrm>
            <a:off x="990600" y="6395740"/>
            <a:ext cx="29337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FOR ESSAYS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1"/>
          <p:cNvSpPr/>
          <p:nvPr/>
        </p:nvSpPr>
        <p:spPr>
          <a:xfrm>
            <a:off x="4000500" y="6333827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women of the Odyssey often control the hero's fate at key moments — detaining, rescuing, guiding, admitting him — even within a male-ruled world.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1"/>
          <p:cNvSpPr/>
          <p:nvPr/>
        </p:nvSpPr>
        <p:spPr>
          <a:xfrm>
            <a:off x="990600" y="9534525"/>
            <a:ext cx="34254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13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3" name="Google Shape;1073;p4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2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2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2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42"/>
          <p:cNvSpPr/>
          <p:nvPr/>
        </p:nvSpPr>
        <p:spPr>
          <a:xfrm>
            <a:off x="990600" y="2062163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2"/>
          <p:cNvSpPr/>
          <p:nvPr/>
        </p:nvSpPr>
        <p:spPr>
          <a:xfrm>
            <a:off x="1343025" y="2338388"/>
            <a:ext cx="115312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Calypso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42"/>
          <p:cNvSpPr/>
          <p:nvPr/>
        </p:nvSpPr>
        <p:spPr>
          <a:xfrm>
            <a:off x="7831485" y="2457450"/>
            <a:ext cx="9124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5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2"/>
          <p:cNvSpPr/>
          <p:nvPr/>
        </p:nvSpPr>
        <p:spPr>
          <a:xfrm>
            <a:off x="1343025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Paradise island, seven years, the offer of immortality — and a hero who weeps for home. Her double-standard protest; then grace in yielding. Divine power that cannot compel love.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2"/>
          <p:cNvSpPr/>
          <p:nvPr/>
        </p:nvSpPr>
        <p:spPr>
          <a:xfrm>
            <a:off x="9267825" y="2062163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42"/>
          <p:cNvSpPr/>
          <p:nvPr/>
        </p:nvSpPr>
        <p:spPr>
          <a:xfrm>
            <a:off x="9620250" y="2338388"/>
            <a:ext cx="138106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Nausicaa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2"/>
          <p:cNvSpPr/>
          <p:nvPr/>
        </p:nvSpPr>
        <p:spPr>
          <a:xfrm>
            <a:off x="16103724" y="2457450"/>
            <a:ext cx="9174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2"/>
          <p:cNvSpPr/>
          <p:nvPr/>
        </p:nvSpPr>
        <p:spPr>
          <a:xfrm>
            <a:off x="9620250" y="2828925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Dream-sent, marriage-minded; alone stands her ground; feeds, clothes and guides him. Guards her reputation — he must follow at a distance. Charm with shrewdness.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2"/>
          <p:cNvSpPr/>
          <p:nvPr/>
        </p:nvSpPr>
        <p:spPr>
          <a:xfrm>
            <a:off x="990600" y="4367659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42"/>
          <p:cNvSpPr/>
          <p:nvPr/>
        </p:nvSpPr>
        <p:spPr>
          <a:xfrm>
            <a:off x="1343025" y="4643884"/>
            <a:ext cx="795263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Arete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42"/>
          <p:cNvSpPr/>
          <p:nvPr/>
        </p:nvSpPr>
        <p:spPr>
          <a:xfrm>
            <a:off x="7838852" y="4762946"/>
            <a:ext cx="9050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2"/>
          <p:cNvSpPr/>
          <p:nvPr/>
        </p:nvSpPr>
        <p:spPr>
          <a:xfrm>
            <a:off x="1343025" y="5134421"/>
            <a:ext cx="7544467" cy="105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Honoured like no other woman; settles men's disputes; the key to the palace. Recognises her own weaving on the stranger — and asks the sharp question.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42"/>
          <p:cNvSpPr/>
          <p:nvPr/>
        </p:nvSpPr>
        <p:spPr>
          <a:xfrm>
            <a:off x="9267825" y="4367659"/>
            <a:ext cx="8029575" cy="2057846"/>
          </a:xfrm>
          <a:prstGeom prst="roundRect">
            <a:avLst>
              <a:gd fmla="val 740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2"/>
          <p:cNvSpPr/>
          <p:nvPr/>
        </p:nvSpPr>
        <p:spPr>
          <a:xfrm>
            <a:off x="9620250" y="4643884"/>
            <a:ext cx="2620521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Range, limits, foil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2"/>
          <p:cNvSpPr/>
          <p:nvPr/>
        </p:nvSpPr>
        <p:spPr>
          <a:xfrm>
            <a:off x="15720268" y="4762946"/>
            <a:ext cx="13471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5–7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2"/>
          <p:cNvSpPr/>
          <p:nvPr/>
        </p:nvSpPr>
        <p:spPr>
          <a:xfrm>
            <a:off x="9620250" y="5134421"/>
            <a:ext cx="7544467" cy="7146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Divine / social / political power — each real, each bounded. Against Helen's ambiguity; building towards Penelope.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2"/>
          <p:cNvSpPr/>
          <p:nvPr/>
        </p:nvSpPr>
        <p:spPr>
          <a:xfrm>
            <a:off x="990600" y="9534525"/>
            <a:ext cx="34254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13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9" name="Google Shape;1099;p4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43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3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43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43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43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43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43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43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Characterise all three women with specific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3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3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the range and limits of female power in the poem.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3"/>
          <p:cNvSpPr/>
          <p:nvPr/>
        </p:nvSpPr>
        <p:spPr>
          <a:xfrm>
            <a:off x="7543800" y="281701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43"/>
          <p:cNvSpPr/>
          <p:nvPr/>
        </p:nvSpPr>
        <p:spPr>
          <a:xfrm>
            <a:off x="7543800" y="2348433"/>
            <a:ext cx="2409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CHARACTERISE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3"/>
          <p:cNvSpPr/>
          <p:nvPr/>
        </p:nvSpPr>
        <p:spPr>
          <a:xfrm>
            <a:off x="10020300" y="2286521"/>
            <a:ext cx="6899106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For each woman, one word + two pieces of evidence.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3"/>
          <p:cNvSpPr/>
          <p:nvPr/>
        </p:nvSpPr>
        <p:spPr>
          <a:xfrm>
            <a:off x="7543800" y="388753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43"/>
          <p:cNvSpPr/>
          <p:nvPr/>
        </p:nvSpPr>
        <p:spPr>
          <a:xfrm>
            <a:off x="7543800" y="3059906"/>
            <a:ext cx="2409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43"/>
          <p:cNvSpPr/>
          <p:nvPr/>
        </p:nvSpPr>
        <p:spPr>
          <a:xfrm>
            <a:off x="10020300" y="2997994"/>
            <a:ext cx="749541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does Arete's question about the clothes reveal about 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3"/>
          <p:cNvSpPr/>
          <p:nvPr/>
        </p:nvSpPr>
        <p:spPr>
          <a:xfrm>
            <a:off x="7543800" y="4599012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43"/>
          <p:cNvSpPr/>
          <p:nvPr/>
        </p:nvSpPr>
        <p:spPr>
          <a:xfrm>
            <a:off x="7543800" y="4130427"/>
            <a:ext cx="2409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COMPARE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3"/>
          <p:cNvSpPr/>
          <p:nvPr/>
        </p:nvSpPr>
        <p:spPr>
          <a:xfrm>
            <a:off x="10020300" y="4068514"/>
            <a:ext cx="7652831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Which of the three is most powerful, and by what measure?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3"/>
          <p:cNvSpPr/>
          <p:nvPr/>
        </p:nvSpPr>
        <p:spPr>
          <a:xfrm>
            <a:off x="7543800" y="4841900"/>
            <a:ext cx="24098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3"/>
          <p:cNvSpPr/>
          <p:nvPr/>
        </p:nvSpPr>
        <p:spPr>
          <a:xfrm>
            <a:off x="10020300" y="4779987"/>
            <a:ext cx="7495413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Odyssey gives its women real power, but always within limits.'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5–7?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43"/>
          <p:cNvSpPr/>
          <p:nvPr/>
        </p:nvSpPr>
        <p:spPr>
          <a:xfrm>
            <a:off x="990600" y="9534525"/>
            <a:ext cx="342540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13 · Women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7" name="Google Shape;1127;p4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4" name="Google Shape;113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44"/>
          <p:cNvSpPr/>
          <p:nvPr/>
        </p:nvSpPr>
        <p:spPr>
          <a:xfrm>
            <a:off x="1524000" y="666750"/>
            <a:ext cx="8064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2 · THE PHAEACIANS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4"/>
          <p:cNvSpPr/>
          <p:nvPr/>
        </p:nvSpPr>
        <p:spPr>
          <a:xfrm>
            <a:off x="15700995" y="609600"/>
            <a:ext cx="113920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44"/>
          <p:cNvSpPr/>
          <p:nvPr/>
        </p:nvSpPr>
        <p:spPr>
          <a:xfrm>
            <a:off x="1524000" y="2543175"/>
            <a:ext cx="17694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14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44"/>
          <p:cNvSpPr/>
          <p:nvPr/>
        </p:nvSpPr>
        <p:spPr>
          <a:xfrm>
            <a:off x="3380259" y="2671763"/>
            <a:ext cx="1335881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44"/>
          <p:cNvSpPr/>
          <p:nvPr/>
        </p:nvSpPr>
        <p:spPr>
          <a:xfrm>
            <a:off x="3532659" y="2728913"/>
            <a:ext cx="110728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4"/>
          <p:cNvSpPr/>
          <p:nvPr/>
        </p:nvSpPr>
        <p:spPr>
          <a:xfrm>
            <a:off x="1524000" y="3124200"/>
            <a:ext cx="15697200" cy="21785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9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50"/>
              <a:buFont typeface="Lora"/>
              <a:buNone/>
            </a:pPr>
            <a:r>
              <a:rPr b="1" i="1" lang="en-US" sz="7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Kleos revisited: </a:t>
            </a:r>
            <a:r>
              <a:rPr b="0" i="1" lang="en-US" sz="7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hero hears his fame</a:t>
            </a:r>
            <a:endParaRPr b="0" i="0" sz="7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44"/>
          <p:cNvSpPr/>
          <p:nvPr/>
        </p:nvSpPr>
        <p:spPr>
          <a:xfrm>
            <a:off x="1524000" y="5874246"/>
            <a:ext cx="14859000" cy="9525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44"/>
          <p:cNvSpPr/>
          <p:nvPr/>
        </p:nvSpPr>
        <p:spPr>
          <a:xfrm>
            <a:off x="1524000" y="6226671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4"/>
          <p:cNvSpPr/>
          <p:nvPr/>
        </p:nvSpPr>
        <p:spPr>
          <a:xfrm>
            <a:off x="1524000" y="6583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kleos through Book 8, where Odysseus hears his own story sung.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44"/>
          <p:cNvSpPr/>
          <p:nvPr/>
        </p:nvSpPr>
        <p:spPr>
          <a:xfrm>
            <a:off x="9334500" y="6226671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44"/>
          <p:cNvSpPr/>
          <p:nvPr/>
        </p:nvSpPr>
        <p:spPr>
          <a:xfrm>
            <a:off x="9334500" y="6583859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how Demodocus's songs work on Odysseus; analyse the widow simile; connect the scene to kleos from Topic 1.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6" name="Google Shape;1146;p4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5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45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45"/>
          <p:cNvSpPr/>
          <p:nvPr/>
        </p:nvSpPr>
        <p:spPr>
          <a:xfrm>
            <a:off x="990600" y="1271588"/>
            <a:ext cx="6915150" cy="6640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Kleos: the thread so far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5"/>
          <p:cNvSpPr/>
          <p:nvPr/>
        </p:nvSpPr>
        <p:spPr>
          <a:xfrm>
            <a:off x="990600" y="2240459"/>
            <a:ext cx="6475095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150"/>
              <a:buFont typeface="Lora"/>
              <a:buNone/>
            </a:pPr>
            <a:r>
              <a:rPr b="0" i="1" lang="en-US" sz="3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Book 8: the hero, unrecognised, listens to his own legend.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5"/>
          <p:cNvSpPr/>
          <p:nvPr/>
        </p:nvSpPr>
        <p:spPr>
          <a:xfrm>
            <a:off x="8039100" y="4732958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5"/>
          <p:cNvSpPr/>
          <p:nvPr/>
        </p:nvSpPr>
        <p:spPr>
          <a:xfrm>
            <a:off x="8039100" y="3471937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DEFINITIONS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45"/>
          <p:cNvSpPr/>
          <p:nvPr/>
        </p:nvSpPr>
        <p:spPr>
          <a:xfrm>
            <a:off x="8039100" y="3805312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Kleos: fame that lives on, heard and sung. Timē: honour and its visible tokens now. Homeric society runs on reputation.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45"/>
          <p:cNvSpPr/>
          <p:nvPr/>
        </p:nvSpPr>
        <p:spPr>
          <a:xfrm>
            <a:off x="8039100" y="621305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45"/>
          <p:cNvSpPr/>
          <p:nvPr/>
        </p:nvSpPr>
        <p:spPr>
          <a:xfrm>
            <a:off x="8039100" y="4952033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WHAT WE SAW AT SPARTA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5"/>
          <p:cNvSpPr/>
          <p:nvPr/>
        </p:nvSpPr>
        <p:spPr>
          <a:xfrm>
            <a:off x="8039100" y="5285408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Odysseus's Trojan fame recited by eyewitnesses — his kleos already alive in the world.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5"/>
          <p:cNvSpPr/>
          <p:nvPr/>
        </p:nvSpPr>
        <p:spPr>
          <a:xfrm>
            <a:off x="8039100" y="643212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POEM'S SELF-AWARENESS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5"/>
          <p:cNvSpPr/>
          <p:nvPr/>
        </p:nvSpPr>
        <p:spPr>
          <a:xfrm>
            <a:off x="8039100" y="6765503"/>
            <a:ext cx="10184130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Odyssey is itself the song that preserves the fame it describes.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45"/>
          <p:cNvSpPr/>
          <p:nvPr/>
        </p:nvSpPr>
        <p:spPr>
          <a:xfrm>
            <a:off x="990600" y="9534525"/>
            <a:ext cx="313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14 · Kleos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5" name="Google Shape;1165;p4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46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6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46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Demodocus and the three songs </a:t>
            </a:r>
            <a:r>
              <a:rPr b="0" i="1" lang="en-US" sz="46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 8)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6"/>
          <p:cNvSpPr/>
          <p:nvPr/>
        </p:nvSpPr>
        <p:spPr>
          <a:xfrm>
            <a:off x="990600" y="1910655"/>
            <a:ext cx="147161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Demodocus is the Phaeacians' bard, and his gift is double-edged: the Muse loved him above others, yet gave him both good and evil — the gift of song, and the loss of his sight.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6"/>
          <p:cNvSpPr/>
          <p:nvPr/>
        </p:nvSpPr>
        <p:spPr>
          <a:xfrm>
            <a:off x="990600" y="2939355"/>
            <a:ext cx="5245075" cy="4024908"/>
          </a:xfrm>
          <a:prstGeom prst="roundRect">
            <a:avLst>
              <a:gd fmla="val 378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46"/>
          <p:cNvSpPr/>
          <p:nvPr/>
        </p:nvSpPr>
        <p:spPr>
          <a:xfrm>
            <a:off x="1343025" y="3234630"/>
            <a:ext cx="111375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46"/>
          <p:cNvSpPr/>
          <p:nvPr/>
        </p:nvSpPr>
        <p:spPr>
          <a:xfrm>
            <a:off x="1476375" y="3291780"/>
            <a:ext cx="9232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SONG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6"/>
          <p:cNvSpPr/>
          <p:nvPr/>
        </p:nvSpPr>
        <p:spPr>
          <a:xfrm>
            <a:off x="1343025" y="3734693"/>
            <a:ext cx="4994248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7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quarrel at Troy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6"/>
          <p:cNvSpPr/>
          <p:nvPr/>
        </p:nvSpPr>
        <p:spPr>
          <a:xfrm>
            <a:off x="1343025" y="4199483"/>
            <a:ext cx="4676432" cy="17295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and Achilles in famous dispute — wit against force — a good omen to Agamemnon. Hearing his own past, the unknown guest draws his sea-purple cloak over his head and weeps.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46"/>
          <p:cNvSpPr/>
          <p:nvPr/>
        </p:nvSpPr>
        <p:spPr>
          <a:xfrm>
            <a:off x="1343025" y="5890915"/>
            <a:ext cx="45402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46"/>
          <p:cNvSpPr/>
          <p:nvPr/>
        </p:nvSpPr>
        <p:spPr>
          <a:xfrm>
            <a:off x="1343025" y="6033790"/>
            <a:ext cx="4676432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Only Alcinous notices — and tactfully calls for the games.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46"/>
          <p:cNvSpPr/>
          <p:nvPr/>
        </p:nvSpPr>
        <p:spPr>
          <a:xfrm>
            <a:off x="6521425" y="2939355"/>
            <a:ext cx="5245075" cy="4024908"/>
          </a:xfrm>
          <a:prstGeom prst="roundRect">
            <a:avLst>
              <a:gd fmla="val 378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6"/>
          <p:cNvSpPr/>
          <p:nvPr/>
        </p:nvSpPr>
        <p:spPr>
          <a:xfrm>
            <a:off x="6873850" y="3234630"/>
            <a:ext cx="115148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46"/>
          <p:cNvSpPr/>
          <p:nvPr/>
        </p:nvSpPr>
        <p:spPr>
          <a:xfrm>
            <a:off x="7007200" y="3291780"/>
            <a:ext cx="96098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SONG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46"/>
          <p:cNvSpPr/>
          <p:nvPr/>
        </p:nvSpPr>
        <p:spPr>
          <a:xfrm>
            <a:off x="6873850" y="3734693"/>
            <a:ext cx="4994248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7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Ares &amp; Aphrodite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6"/>
          <p:cNvSpPr/>
          <p:nvPr/>
        </p:nvSpPr>
        <p:spPr>
          <a:xfrm>
            <a:off x="6873850" y="4199483"/>
            <a:ext cx="4676432" cy="17295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Hephaestus, the betrayed husband, forges an invisible net and traps the lovers in bed for the gods to laugh at. A comic, scandalous interlude for the dancing.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6"/>
          <p:cNvSpPr/>
          <p:nvPr/>
        </p:nvSpPr>
        <p:spPr>
          <a:xfrm>
            <a:off x="6873850" y="6208514"/>
            <a:ext cx="45402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6"/>
          <p:cNvSpPr/>
          <p:nvPr/>
        </p:nvSpPr>
        <p:spPr>
          <a:xfrm>
            <a:off x="6873850" y="6351389"/>
            <a:ext cx="4676432" cy="355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Song can delight as well as wound.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46"/>
          <p:cNvSpPr/>
          <p:nvPr/>
        </p:nvSpPr>
        <p:spPr>
          <a:xfrm>
            <a:off x="12052250" y="2939355"/>
            <a:ext cx="5245150" cy="4024908"/>
          </a:xfrm>
          <a:prstGeom prst="roundRect">
            <a:avLst>
              <a:gd fmla="val 378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6"/>
          <p:cNvSpPr/>
          <p:nvPr/>
        </p:nvSpPr>
        <p:spPr>
          <a:xfrm>
            <a:off x="12404675" y="3234630"/>
            <a:ext cx="1154534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6"/>
          <p:cNvSpPr/>
          <p:nvPr/>
        </p:nvSpPr>
        <p:spPr>
          <a:xfrm>
            <a:off x="12538025" y="3291780"/>
            <a:ext cx="96403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SONG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46"/>
          <p:cNvSpPr/>
          <p:nvPr/>
        </p:nvSpPr>
        <p:spPr>
          <a:xfrm>
            <a:off x="12404675" y="3734693"/>
            <a:ext cx="499433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9756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Wooden Horse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46"/>
          <p:cNvSpPr/>
          <p:nvPr/>
        </p:nvSpPr>
        <p:spPr>
          <a:xfrm>
            <a:off x="12404675" y="4199483"/>
            <a:ext cx="4676509" cy="1391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0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Requested by Odysseus himself, praising Demodocus's accuracy 'as if you had been there'. His own greatest exploit — and again he dissolves into tears.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6"/>
          <p:cNvSpPr/>
          <p:nvPr/>
        </p:nvSpPr>
        <p:spPr>
          <a:xfrm>
            <a:off x="12404675" y="5890915"/>
            <a:ext cx="45403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46"/>
          <p:cNvSpPr/>
          <p:nvPr/>
        </p:nvSpPr>
        <p:spPr>
          <a:xfrm>
            <a:off x="12404675" y="6033790"/>
            <a:ext cx="4676509" cy="6732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 tears that prompt the question: who are you?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6"/>
          <p:cNvSpPr/>
          <p:nvPr/>
        </p:nvSpPr>
        <p:spPr>
          <a:xfrm>
            <a:off x="990600" y="9534525"/>
            <a:ext cx="313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14 · Kleos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7" name="Google Shape;1197;p4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4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4" name="Google Shape;120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47"/>
          <p:cNvSpPr/>
          <p:nvPr/>
        </p:nvSpPr>
        <p:spPr>
          <a:xfrm>
            <a:off x="1714500" y="1971526"/>
            <a:ext cx="397910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 · BOOK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47"/>
          <p:cNvSpPr/>
          <p:nvPr/>
        </p:nvSpPr>
        <p:spPr>
          <a:xfrm>
            <a:off x="5749156" y="2102495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7"/>
          <p:cNvSpPr/>
          <p:nvPr/>
        </p:nvSpPr>
        <p:spPr>
          <a:xfrm>
            <a:off x="1714500" y="2557314"/>
            <a:ext cx="15304770" cy="16305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57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Lora"/>
              <a:buNone/>
            </a:pPr>
            <a:r>
              <a:rPr b="1" i="1" lang="en-US" sz="5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man who devised the sack of Troy weeps like </a:t>
            </a:r>
            <a:r>
              <a:rPr b="1" i="1" lang="en-US" sz="57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Troy's own widows</a:t>
            </a:r>
            <a:r>
              <a:rPr b="1" i="1" lang="en-US" sz="5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7"/>
          <p:cNvSpPr/>
          <p:nvPr/>
        </p:nvSpPr>
        <p:spPr>
          <a:xfrm>
            <a:off x="1714500" y="4492675"/>
            <a:ext cx="14323695" cy="13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Inter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 Odysseus weeps at the sack of Troy, Homer compares him to a woman flinging herself on her husband's body — a man killed defending his city and people — as the spears prod her away into slavery. Conqueror and victim change places inside a single image.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7"/>
          <p:cNvSpPr/>
          <p:nvPr/>
        </p:nvSpPr>
        <p:spPr>
          <a:xfrm>
            <a:off x="1714500" y="6234187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7"/>
          <p:cNvSpPr/>
          <p:nvPr/>
        </p:nvSpPr>
        <p:spPr>
          <a:xfrm>
            <a:off x="1714500" y="6491362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REVERSAL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7"/>
          <p:cNvSpPr/>
          <p:nvPr/>
        </p:nvSpPr>
        <p:spPr>
          <a:xfrm>
            <a:off x="1714500" y="6829499"/>
            <a:ext cx="47091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'reverse simile': it crosses gender (hero → woman) and side (Greek → Trojan) at once, collapsing the distance between winner and loser.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7"/>
          <p:cNvSpPr/>
          <p:nvPr/>
        </p:nvSpPr>
        <p:spPr>
          <a:xfrm>
            <a:off x="6858000" y="6234187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7"/>
          <p:cNvSpPr/>
          <p:nvPr/>
        </p:nvSpPr>
        <p:spPr>
          <a:xfrm>
            <a:off x="6858000" y="6491362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WHAT IT SHOWS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47"/>
          <p:cNvSpPr/>
          <p:nvPr/>
        </p:nvSpPr>
        <p:spPr>
          <a:xfrm>
            <a:off x="6858000" y="6829499"/>
            <a:ext cx="47091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profound sympathy for the war's victims — and a hero who now feels, from the inside, the cost of his own greatest triumph.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7"/>
          <p:cNvSpPr/>
          <p:nvPr/>
        </p:nvSpPr>
        <p:spPr>
          <a:xfrm>
            <a:off x="12001500" y="6234187"/>
            <a:ext cx="4572000" cy="9525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7"/>
          <p:cNvSpPr/>
          <p:nvPr/>
        </p:nvSpPr>
        <p:spPr>
          <a:xfrm>
            <a:off x="12001500" y="6491362"/>
            <a:ext cx="50292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F5C842"/>
                </a:solidFill>
                <a:latin typeface="Inter"/>
                <a:ea typeface="Inter"/>
                <a:cs typeface="Inter"/>
                <a:sym typeface="Inter"/>
              </a:rPr>
              <a:t>EXAM GOLD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47"/>
          <p:cNvSpPr/>
          <p:nvPr/>
        </p:nvSpPr>
        <p:spPr>
          <a:xfrm>
            <a:off x="12001500" y="6829499"/>
            <a:ext cx="470916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Image → reversal → effect. The glory of kleos and the grief it is built on, held together in one simile.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8" name="Google Shape;1218;p47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7145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8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8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48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Book 8 shows about fame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48"/>
          <p:cNvSpPr/>
          <p:nvPr/>
        </p:nvSpPr>
        <p:spPr>
          <a:xfrm>
            <a:off x="990600" y="333561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48"/>
          <p:cNvSpPr/>
          <p:nvPr/>
        </p:nvSpPr>
        <p:spPr>
          <a:xfrm>
            <a:off x="990600" y="2264048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48"/>
          <p:cNvSpPr/>
          <p:nvPr/>
        </p:nvSpPr>
        <p:spPr>
          <a:xfrm>
            <a:off x="2190750" y="2373585"/>
            <a:ext cx="1493469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Fame with a life of its own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48"/>
          <p:cNvSpPr/>
          <p:nvPr/>
        </p:nvSpPr>
        <p:spPr>
          <a:xfrm>
            <a:off x="2190750" y="2797448"/>
            <a:ext cx="14934694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Kleos has become independent of the man: his story travels the world and is sung by strangers who have never met him.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8"/>
          <p:cNvSpPr/>
          <p:nvPr/>
        </p:nvSpPr>
        <p:spPr>
          <a:xfrm>
            <a:off x="990600" y="461672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48"/>
          <p:cNvSpPr/>
          <p:nvPr/>
        </p:nvSpPr>
        <p:spPr>
          <a:xfrm>
            <a:off x="990600" y="3545160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48"/>
          <p:cNvSpPr/>
          <p:nvPr/>
        </p:nvSpPr>
        <p:spPr>
          <a:xfrm>
            <a:off x="2190750" y="3654698"/>
            <a:ext cx="16376087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And it is painful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48"/>
          <p:cNvSpPr/>
          <p:nvPr/>
        </p:nvSpPr>
        <p:spPr>
          <a:xfrm>
            <a:off x="2190750" y="4078560"/>
            <a:ext cx="16376087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His fame celebrates a war that cost him ten further years and every companion — kleos and nostos pulling against each other again.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48"/>
          <p:cNvSpPr/>
          <p:nvPr/>
        </p:nvSpPr>
        <p:spPr>
          <a:xfrm>
            <a:off x="990600" y="623597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8"/>
          <p:cNvSpPr/>
          <p:nvPr/>
        </p:nvSpPr>
        <p:spPr>
          <a:xfrm>
            <a:off x="990600" y="4826273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8"/>
          <p:cNvSpPr/>
          <p:nvPr/>
        </p:nvSpPr>
        <p:spPr>
          <a:xfrm>
            <a:off x="2190750" y="4935810"/>
            <a:ext cx="1661731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Fame draws out identity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48"/>
          <p:cNvSpPr/>
          <p:nvPr/>
        </p:nvSpPr>
        <p:spPr>
          <a:xfrm>
            <a:off x="2190750" y="5359673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His tears prompt Alcinous to stop the song and ask, at last, who he is — and why he weeps at Troy. Grief unmasks him where nothing else could.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48"/>
          <p:cNvSpPr/>
          <p:nvPr/>
        </p:nvSpPr>
        <p:spPr>
          <a:xfrm>
            <a:off x="990600" y="785522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48"/>
          <p:cNvSpPr/>
          <p:nvPr/>
        </p:nvSpPr>
        <p:spPr>
          <a:xfrm>
            <a:off x="990600" y="6445523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48"/>
          <p:cNvSpPr/>
          <p:nvPr/>
        </p:nvSpPr>
        <p:spPr>
          <a:xfrm>
            <a:off x="2190750" y="6555060"/>
            <a:ext cx="1661731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poem's hinge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48"/>
          <p:cNvSpPr/>
          <p:nvPr/>
        </p:nvSpPr>
        <p:spPr>
          <a:xfrm>
            <a:off x="2190750" y="6978923"/>
            <a:ext cx="15559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question launches Odysseus's own narration (Books 9–12) — the hero takes over from the bard, becoming the singer of his own kleos.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48"/>
          <p:cNvSpPr/>
          <p:nvPr/>
        </p:nvSpPr>
        <p:spPr>
          <a:xfrm>
            <a:off x="990600" y="8064773"/>
            <a:ext cx="933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150"/>
              <a:buFont typeface="Lora"/>
              <a:buNone/>
            </a:pPr>
            <a:r>
              <a:rPr b="1" i="1" lang="en-US" sz="315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48"/>
          <p:cNvSpPr/>
          <p:nvPr/>
        </p:nvSpPr>
        <p:spPr>
          <a:xfrm>
            <a:off x="2190750" y="8174310"/>
            <a:ext cx="1620124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Note the craft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48"/>
          <p:cNvSpPr/>
          <p:nvPr/>
        </p:nvSpPr>
        <p:spPr>
          <a:xfrm>
            <a:off x="2190750" y="8598173"/>
            <a:ext cx="16201244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Homer places a bard performing epic inside his epic — and has the hero judge the song's truth. Storytelling itself is being weighed.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48"/>
          <p:cNvSpPr/>
          <p:nvPr/>
        </p:nvSpPr>
        <p:spPr>
          <a:xfrm>
            <a:off x="990600" y="9534525"/>
            <a:ext cx="313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14 · Kleos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7" name="Google Shape;1247;p4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49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9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49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49"/>
          <p:cNvSpPr/>
          <p:nvPr/>
        </p:nvSpPr>
        <p:spPr>
          <a:xfrm>
            <a:off x="990600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49"/>
          <p:cNvSpPr/>
          <p:nvPr/>
        </p:nvSpPr>
        <p:spPr>
          <a:xfrm>
            <a:off x="1343025" y="2414588"/>
            <a:ext cx="115252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9"/>
          <p:cNvSpPr/>
          <p:nvPr/>
        </p:nvSpPr>
        <p:spPr>
          <a:xfrm>
            <a:off x="1476375" y="2471738"/>
            <a:ext cx="96202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9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Demodocus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9"/>
          <p:cNvSpPr/>
          <p:nvPr/>
        </p:nvSpPr>
        <p:spPr>
          <a:xfrm>
            <a:off x="1343025" y="3428479"/>
            <a:ext cx="4663325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Muse's double gift: song given, sight taken — the honoured, blind bard.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9"/>
          <p:cNvSpPr/>
          <p:nvPr/>
        </p:nvSpPr>
        <p:spPr>
          <a:xfrm>
            <a:off x="1343025" y="450004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49"/>
          <p:cNvSpPr/>
          <p:nvPr/>
        </p:nvSpPr>
        <p:spPr>
          <a:xfrm>
            <a:off x="1343025" y="4661967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Three songs: the quarrel (he weeps), Ares &amp; Aphrodite (comic relief), the Wooden Horse (he weeps again).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49"/>
          <p:cNvSpPr/>
          <p:nvPr/>
        </p:nvSpPr>
        <p:spPr>
          <a:xfrm>
            <a:off x="6527750" y="2100263"/>
            <a:ext cx="5232425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9"/>
          <p:cNvSpPr/>
          <p:nvPr/>
        </p:nvSpPr>
        <p:spPr>
          <a:xfrm>
            <a:off x="6880175" y="2414588"/>
            <a:ext cx="115252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9"/>
          <p:cNvSpPr/>
          <p:nvPr/>
        </p:nvSpPr>
        <p:spPr>
          <a:xfrm>
            <a:off x="7013525" y="2471738"/>
            <a:ext cx="96202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49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widow simile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49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sacker of Troy weeps like a Trojan widow dragged to slavery — conqueror becomes victim.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49"/>
          <p:cNvSpPr/>
          <p:nvPr/>
        </p:nvSpPr>
        <p:spPr>
          <a:xfrm>
            <a:off x="6880175" y="4500042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9"/>
          <p:cNvSpPr/>
          <p:nvPr/>
        </p:nvSpPr>
        <p:spPr>
          <a:xfrm>
            <a:off x="6880175" y="4661967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 'reverse simile' crossing gender and side: sympathy for the defeated; the cost of glory.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49"/>
          <p:cNvSpPr/>
          <p:nvPr/>
        </p:nvSpPr>
        <p:spPr>
          <a:xfrm>
            <a:off x="12064975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9"/>
          <p:cNvSpPr/>
          <p:nvPr/>
        </p:nvSpPr>
        <p:spPr>
          <a:xfrm>
            <a:off x="12417400" y="2414588"/>
            <a:ext cx="115252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9"/>
          <p:cNvSpPr/>
          <p:nvPr/>
        </p:nvSpPr>
        <p:spPr>
          <a:xfrm>
            <a:off x="12550750" y="2471738"/>
            <a:ext cx="96202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49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Fame &amp; identity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49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His story is sung by strangers — kleos independent of the man, and painful to hear.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49"/>
          <p:cNvSpPr/>
          <p:nvPr/>
        </p:nvSpPr>
        <p:spPr>
          <a:xfrm>
            <a:off x="12417400" y="483148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49"/>
          <p:cNvSpPr/>
          <p:nvPr/>
        </p:nvSpPr>
        <p:spPr>
          <a:xfrm>
            <a:off x="12417400" y="4993407"/>
            <a:ext cx="46633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His tears prompt 'who are you?' — launching his own narration (Books 9–12).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49"/>
          <p:cNvSpPr/>
          <p:nvPr/>
        </p:nvSpPr>
        <p:spPr>
          <a:xfrm>
            <a:off x="990600" y="9534525"/>
            <a:ext cx="313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14 · Kleos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8" name="Google Shape;1278;p4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0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0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50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50"/>
          <p:cNvSpPr/>
          <p:nvPr/>
        </p:nvSpPr>
        <p:spPr>
          <a:xfrm>
            <a:off x="990600" y="2115071"/>
            <a:ext cx="53340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0"/>
          <p:cNvSpPr/>
          <p:nvPr/>
        </p:nvSpPr>
        <p:spPr>
          <a:xfrm>
            <a:off x="1390650" y="2457971"/>
            <a:ext cx="49872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50"/>
          <p:cNvSpPr/>
          <p:nvPr/>
        </p:nvSpPr>
        <p:spPr>
          <a:xfrm>
            <a:off x="1390650" y="3880024"/>
            <a:ext cx="45339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50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50"/>
          <p:cNvSpPr/>
          <p:nvPr/>
        </p:nvSpPr>
        <p:spPr>
          <a:xfrm>
            <a:off x="1758628" y="3019946"/>
            <a:ext cx="4290900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the three songs and their effect on Odysseus.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50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50"/>
          <p:cNvSpPr/>
          <p:nvPr/>
        </p:nvSpPr>
        <p:spPr>
          <a:xfrm>
            <a:off x="1758628" y="4003849"/>
            <a:ext cx="4249936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Analyse the widow simile in full.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50"/>
          <p:cNvSpPr/>
          <p:nvPr/>
        </p:nvSpPr>
        <p:spPr>
          <a:xfrm>
            <a:off x="990600" y="5081588"/>
            <a:ext cx="5334000" cy="1703933"/>
          </a:xfrm>
          <a:prstGeom prst="roundRect">
            <a:avLst>
              <a:gd fmla="val 6708" name="adj"/>
            </a:avLst>
          </a:prstGeom>
          <a:solidFill>
            <a:srgbClr val="1A6FFF">
              <a:alpha val="7058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50"/>
          <p:cNvSpPr/>
          <p:nvPr/>
        </p:nvSpPr>
        <p:spPr>
          <a:xfrm>
            <a:off x="1285875" y="5281613"/>
            <a:ext cx="1602566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NEXT TOPIC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0"/>
          <p:cNvSpPr/>
          <p:nvPr/>
        </p:nvSpPr>
        <p:spPr>
          <a:xfrm>
            <a:off x="1285875" y="5591175"/>
            <a:ext cx="4885754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Books 9–12 — Odysseus takes over from the bard and tells his own story: the wanderings.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0"/>
          <p:cNvSpPr/>
          <p:nvPr/>
        </p:nvSpPr>
        <p:spPr>
          <a:xfrm>
            <a:off x="6743700" y="2817019"/>
            <a:ext cx="105537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50"/>
          <p:cNvSpPr/>
          <p:nvPr/>
        </p:nvSpPr>
        <p:spPr>
          <a:xfrm>
            <a:off x="6743700" y="2348433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0"/>
          <p:cNvSpPr/>
          <p:nvPr/>
        </p:nvSpPr>
        <p:spPr>
          <a:xfrm>
            <a:off x="8743950" y="2286521"/>
            <a:ext cx="8640827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three songs — subject, tone, and Odysseus's reaction to each.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50"/>
          <p:cNvSpPr/>
          <p:nvPr/>
        </p:nvSpPr>
        <p:spPr>
          <a:xfrm>
            <a:off x="6743700" y="3528492"/>
            <a:ext cx="105537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0"/>
          <p:cNvSpPr/>
          <p:nvPr/>
        </p:nvSpPr>
        <p:spPr>
          <a:xfrm>
            <a:off x="6743700" y="3059906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50"/>
          <p:cNvSpPr/>
          <p:nvPr/>
        </p:nvSpPr>
        <p:spPr>
          <a:xfrm>
            <a:off x="8743950" y="2997994"/>
            <a:ext cx="5591874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widow simile — image, reversal, effect.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50"/>
          <p:cNvSpPr/>
          <p:nvPr/>
        </p:nvSpPr>
        <p:spPr>
          <a:xfrm>
            <a:off x="6743700" y="4239964"/>
            <a:ext cx="105537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50"/>
          <p:cNvSpPr/>
          <p:nvPr/>
        </p:nvSpPr>
        <p:spPr>
          <a:xfrm>
            <a:off x="6743700" y="3771379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CONNECT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50"/>
          <p:cNvSpPr/>
          <p:nvPr/>
        </p:nvSpPr>
        <p:spPr>
          <a:xfrm>
            <a:off x="8743950" y="3709467"/>
            <a:ext cx="8864865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Book 8 deepen what Topic 1 taught about kleos and song?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50"/>
          <p:cNvSpPr/>
          <p:nvPr/>
        </p:nvSpPr>
        <p:spPr>
          <a:xfrm>
            <a:off x="6743700" y="4482852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50"/>
          <p:cNvSpPr/>
          <p:nvPr/>
        </p:nvSpPr>
        <p:spPr>
          <a:xfrm>
            <a:off x="8743950" y="4420939"/>
            <a:ext cx="9168058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'Odysseus's fame is also his burden.'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 8?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50"/>
          <p:cNvSpPr/>
          <p:nvPr/>
        </p:nvSpPr>
        <p:spPr>
          <a:xfrm>
            <a:off x="990600" y="9534525"/>
            <a:ext cx="313604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14 · Kleos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9" name="Google Shape;1309;p5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2026-07-15T22:07:35Z</dcterms:created>
  <dc:creator>PptxGenJS</dc:creator>
</cp:coreProperties>
</file>