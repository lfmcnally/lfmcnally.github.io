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</p:sldIdLst>
  <p:sldSz cy="10287000" cx="18288000"/>
  <p:notesSz cx="10287000" cy="18288000"/>
  <p:embeddedFontLst>
    <p:embeddedFont>
      <p:font typeface="Inter"/>
      <p:regular r:id="rId66"/>
      <p:bold r:id="rId67"/>
      <p:italic r:id="rId68"/>
      <p:boldItalic r:id="rId69"/>
    </p:embeddedFont>
    <p:embeddedFont>
      <p:font typeface="Lora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4" roundtripDataSignature="AMtx7miJmyRctAaP741N7a3rg+CeL7dw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Lora-boldItalic.fntdata"/><Relationship Id="rId72" Type="http://schemas.openxmlformats.org/officeDocument/2006/relationships/font" Target="fonts/Lora-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customschemas.google.com/relationships/presentationmetadata" Target="meta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Lora-bold.fntdata"/><Relationship Id="rId70" Type="http://schemas.openxmlformats.org/officeDocument/2006/relationships/font" Target="fonts/Lora-regular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Inter-regular.fntdata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font" Target="fonts/Inter-italic.fntdata"/><Relationship Id="rId23" Type="http://schemas.openxmlformats.org/officeDocument/2006/relationships/slide" Target="slides/slide19.xml"/><Relationship Id="rId67" Type="http://schemas.openxmlformats.org/officeDocument/2006/relationships/font" Target="fonts/Inter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Inter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OCR A Level Classical Civilisation, Component 11: The World of the Hero. Topic 1 covers Books 1–4, the Telemachy, across eight lessons.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read the Odyssey as evidence for the ancient Greek world, not just as a story. It must be questioned: it idealises and blends ages.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53d28094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f53d28094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Almost nothing is certain about Homer. The poems took final form around the 8th–7th century BC, looking back to a Bronze-Age heroic age.</a:t>
            </a:r>
            <a:endParaRPr/>
          </a:p>
        </p:txBody>
      </p:sp>
      <p:sp>
        <p:nvSpPr>
          <p:cNvPr id="50" name="Google Shape;50;g3f53d28094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Oral tradition; Parry's formulae; the unsettled Homeric Question; dactylic hexameter. Oral style returns in Lesson 7.</a:t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poem begins in medias res: Homer starts near the end, keeps the hero absent to build mystery, and lets Odysseus tell his own story.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53d280946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53d280946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poem begins in medias res: Homer starts near the end, keeps the hero absent to build mystery, and lets Odysseus tell his own story.</a:t>
            </a:r>
            <a:endParaRPr/>
          </a:p>
        </p:txBody>
      </p:sp>
      <p:sp>
        <p:nvSpPr>
          <p:cNvPr id="144" name="Google Shape;144;g3f53d280946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1: xenia, the guest–host code. Define it and its obligations on both sides; judge a host or guest against the code.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Xenia is ritual guest-friendship: sacred, reciprocal, hereditary and practical — protected by Zeus Xenios.</a:t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Reciprocity, a stand-in for the state, enforced by religion, and theoxeny. Finley: a gift-economy of honour and obligation.</a:t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host's five duties, the guest's four. Emphasise the order: welcome before questions.</a:t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any host through the checklist; note which steps they keep or break. The suitors break nearly every step; Nestor keeps them all.</a:t>
            </a:r>
            <a:endParaRPr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scenes for the booklet: Telemachus welcoming Athene, Nestor at Pylos, Menelaus and Helen at Sparta.</a:t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judge–analyse–evaluate task ladder.</a:t>
            </a:r>
            <a:endParaRPr/>
          </a:p>
        </p:txBody>
      </p:sp>
      <p:sp>
        <p:nvSpPr>
          <p:cNvPr id="332" name="Google Shape;3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2: nostos, the homecoming — the poem's goal and organising idea.</a:t>
            </a:r>
            <a:endParaRPr/>
          </a:p>
        </p:txBody>
      </p:sp>
      <p:sp>
        <p:nvSpPr>
          <p:cNvPr id="357" name="Google Shape;3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Nostos means homecoming — and more than arriving: recovering everything home stands for. The word gives us 'nostalgia'.</a:t>
            </a:r>
            <a:endParaRPr/>
          </a:p>
        </p:txBody>
      </p:sp>
      <p:sp>
        <p:nvSpPr>
          <p:cNvPr id="374" name="Google Shape;3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Nostos is the engine of the plot; an epic of the journey home, not war; built by comparison; in tension with kleos.</a:t>
            </a:r>
            <a:endParaRPr/>
          </a:p>
        </p:txBody>
      </p:sp>
      <p:sp>
        <p:nvSpPr>
          <p:cNvPr id="395" name="Google Shape;39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proem and council name goal and obstacle; Nestor's and Menelaus's returns; and again and again, Agamemnon — the fatal nostos.</a:t>
            </a:r>
            <a:endParaRPr/>
          </a:p>
        </p:txBody>
      </p:sp>
      <p:sp>
        <p:nvSpPr>
          <p:cNvPr id="417" name="Google Shape;4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Compare returns on a spectrum from safe to fatal: Nestor, Menelaus, Agamemnon. Arrival is not the same as success.</a:t>
            </a:r>
            <a:endParaRPr/>
          </a:p>
        </p:txBody>
      </p:sp>
      <p:sp>
        <p:nvSpPr>
          <p:cNvPr id="438" name="Google Shape;4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goal stated, the return-stories, the fatal homecoming.</a:t>
            </a:r>
            <a:endParaRPr/>
          </a:p>
        </p:txBody>
      </p:sp>
      <p:sp>
        <p:nvSpPr>
          <p:cNvPr id="465" name="Google Shape;4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sort–explain–evaluate.</a:t>
            </a:r>
            <a:endParaRPr/>
          </a:p>
        </p:txBody>
      </p:sp>
      <p:sp>
        <p:nvSpPr>
          <p:cNvPr id="487" name="Google Shape;48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3: kleos and timē — the values a Homeric hero lives by.</a:t>
            </a:r>
            <a:endParaRPr/>
          </a:p>
        </p:txBody>
      </p:sp>
      <p:sp>
        <p:nvSpPr>
          <p:cNvPr id="512" name="Google Shape;5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Kleos: lasting fame, literally 'what is heard'. Timē: honour and its visible tokens, here and now. Kleos outlives you; timē can be taken away.</a:t>
            </a:r>
            <a:endParaRPr/>
          </a:p>
        </p:txBody>
      </p:sp>
      <p:sp>
        <p:nvSpPr>
          <p:cNvPr id="529" name="Google Shape;52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Dodds: a shame culture governed by public reputation. The hero's bargain — Achilles' short life with undying fame. The Odyssey reshapes the ideal: Odysseus wants nostos.</a:t>
            </a:r>
            <a:endParaRPr/>
          </a:p>
        </p:txBody>
      </p:sp>
      <p:sp>
        <p:nvSpPr>
          <p:cNvPr id="551" name="Google Shape;55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proem as an act of kleos; Athene's Orestes challenge; Telemachus seeking fame in both senses; Odysseus's fame recited at Sparta.</a:t>
            </a:r>
            <a:endParaRPr/>
          </a:p>
        </p:txBody>
      </p:sp>
      <p:sp>
        <p:nvSpPr>
          <p:cNvPr id="573" name="Google Shape;57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Reputation as motive; bad kleos for the suitors; the Book 2 assembly as a bid for timē; honour in the poem's manners. Finley and Griffin.</a:t>
            </a:r>
            <a:endParaRPr/>
          </a:p>
        </p:txBody>
      </p:sp>
      <p:sp>
        <p:nvSpPr>
          <p:cNvPr id="594" name="Google Shape;59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song as fame; win a name as Orestes did; fame recited at Sparta.</a:t>
            </a:r>
            <a:endParaRPr/>
          </a:p>
        </p:txBody>
      </p:sp>
      <p:sp>
        <p:nvSpPr>
          <p:cNvPr id="617" name="Google Shape;6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Define–analyse–evaluate task ladder for kleos and timē.</a:t>
            </a:r>
            <a:endParaRPr/>
          </a:p>
        </p:txBody>
      </p:sp>
      <p:sp>
        <p:nvSpPr>
          <p:cNvPr id="642" name="Google Shape;6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4: the gods, fate and responsibility. Athene, Zeus, Poseidon; the Orestes paradigm.</a:t>
            </a:r>
            <a:endParaRPr/>
          </a:p>
        </p:txBody>
      </p:sp>
      <p:sp>
        <p:nvSpPr>
          <p:cNvPr id="667" name="Google Shape;66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gods to know: Athene the patron, Zeus the judge, Poseidon the enemy.</a:t>
            </a:r>
            <a:endParaRPr/>
          </a:p>
        </p:txBody>
      </p:sp>
      <p:sp>
        <p:nvSpPr>
          <p:cNvPr id="684" name="Google Shape;68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Zeus's first speech: Aegisthus was warned, chose anyway, and was punished. Fate sets the limits; human folly does the rest.</a:t>
            </a:r>
            <a:endParaRPr/>
          </a:p>
        </p:txBody>
      </p:sp>
      <p:sp>
        <p:nvSpPr>
          <p:cNvPr id="719" name="Google Shape;71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council; Athene's disguises; help that still requires action; the Orestes model pressed on Telemachus.</a:t>
            </a:r>
            <a:endParaRPr/>
          </a:p>
        </p:txBody>
      </p:sp>
      <p:sp>
        <p:nvSpPr>
          <p:cNvPr id="744" name="Google Shape;74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Warned-yet-persist: the suitors now, the crew later. Suffering is not simply fate; recklessness earns it.</a:t>
            </a:r>
            <a:endParaRPr/>
          </a:p>
        </p:txBody>
      </p:sp>
      <p:sp>
        <p:nvSpPr>
          <p:cNvPr id="765" name="Google Shape;76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council, Poseidon away, gods in disguise.</a:t>
            </a:r>
            <a:endParaRPr/>
          </a:p>
        </p:txBody>
      </p:sp>
      <p:sp>
        <p:nvSpPr>
          <p:cNvPr id="785" name="Google Shape;78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Describe–explain–evaluate on the gods and the paradigm.</a:t>
            </a:r>
            <a:endParaRPr/>
          </a:p>
        </p:txBody>
      </p:sp>
      <p:sp>
        <p:nvSpPr>
          <p:cNvPr id="810" name="Google Shape;81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5: mētis, cunning intelligence — Odysseus's defining quality, against biē.</a:t>
            </a:r>
            <a:endParaRPr/>
          </a:p>
        </p:txBody>
      </p:sp>
      <p:sp>
        <p:nvSpPr>
          <p:cNvPr id="835" name="Google Shape;83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Mētis: cunning intelligence, opposed to biē, brute force. Odysseus is polytropos and polymētis — cunning is the core of who he is.</a:t>
            </a:r>
            <a:endParaRPr/>
          </a:p>
        </p:txBody>
      </p:sp>
      <p:sp>
        <p:nvSpPr>
          <p:cNvPr id="852" name="Google Shape;85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Achilles is defined by force; Odysseus by mind. Mētis is morally double-edged, and Athene is drawn to him because they share it.</a:t>
            </a:r>
            <a:endParaRPr/>
          </a:p>
        </p:txBody>
      </p:sp>
      <p:sp>
        <p:nvSpPr>
          <p:cNvPr id="877" name="Google Shape;87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proem names his wits; the Wooden Horse at Sparta; Helen's beggar-spy tale; Athene schooling Telemachus in shrewdness.</a:t>
            </a:r>
            <a:endParaRPr/>
          </a:p>
        </p:txBody>
      </p:sp>
      <p:sp>
        <p:nvSpPr>
          <p:cNvPr id="901" name="Google Shape;90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Prediction: the Nobody trick, the beggar disguise, the bow. His reputation for cunning is established before he appears.</a:t>
            </a:r>
            <a:endParaRPr/>
          </a:p>
        </p:txBody>
      </p:sp>
      <p:sp>
        <p:nvSpPr>
          <p:cNvPr id="922" name="Google Shape;92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defining epithets, cunning as fame, a goddess of craft as ally.</a:t>
            </a:r>
            <a:endParaRPr/>
          </a:p>
        </p:txBody>
      </p:sp>
      <p:sp>
        <p:nvSpPr>
          <p:cNvPr id="949" name="Google Shape;94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Define–explain–evaluate on mētis and biē.</a:t>
            </a:r>
            <a:endParaRPr/>
          </a:p>
        </p:txBody>
      </p:sp>
      <p:sp>
        <p:nvSpPr>
          <p:cNvPr id="974" name="Google Shape;97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6: disguise and recognition as a driving mechanism of the poem.</a:t>
            </a:r>
            <a:endParaRPr/>
          </a:p>
        </p:txBody>
      </p:sp>
      <p:sp>
        <p:nvSpPr>
          <p:cNvPr id="999" name="Google Shape;99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pattern: disguise, token, recognition (anagnorisis). Already at work in Book 1; it drives the whole second half.</a:t>
            </a:r>
            <a:endParaRPr/>
          </a:p>
        </p:txBody>
      </p:sp>
      <p:sp>
        <p:nvSpPr>
          <p:cNvPr id="1016" name="Google Shape;101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Dramatic irony, identity as puzzle, a test of character, and an expression of mētis.</a:t>
            </a:r>
            <a:endParaRPr/>
          </a:p>
        </p:txBody>
      </p:sp>
      <p:sp>
        <p:nvSpPr>
          <p:cNvPr id="1041" name="Google Shape;104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Athene as Mentes/Mentor (irony); Telemachus recognised by likeness (token); Helen's beggar-spy tale (Odysseus's signature).</a:t>
            </a:r>
            <a:endParaRPr/>
          </a:p>
        </p:txBody>
      </p:sp>
      <p:sp>
        <p:nvSpPr>
          <p:cNvPr id="1063" name="Google Shape;106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Athene as Mentes/Mentor; Telemachus recognised; Odysseus master of disguise.</a:t>
            </a:r>
            <a:endParaRPr/>
          </a:p>
        </p:txBody>
      </p:sp>
      <p:sp>
        <p:nvSpPr>
          <p:cNvPr id="1086" name="Google Shape;108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Identify–explain–discuss on disguise and recognition.</a:t>
            </a:r>
            <a:endParaRPr/>
          </a:p>
        </p:txBody>
      </p:sp>
      <p:sp>
        <p:nvSpPr>
          <p:cNvPr id="1111" name="Google Shape;111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7: storytelling, bards and oral style — how the poem shows its own telling.</a:t>
            </a:r>
            <a:endParaRPr/>
          </a:p>
        </p:txBody>
      </p:sp>
      <p:sp>
        <p:nvSpPr>
          <p:cNvPr id="1136" name="Google Shape;113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Composed and performed aloud by aoidoi. The poem shows us bards at work within it, and song has real power in this world.</a:t>
            </a:r>
            <a:endParaRPr/>
          </a:p>
        </p:txBody>
      </p:sp>
      <p:sp>
        <p:nvSpPr>
          <p:cNvPr id="1153" name="Google Shape;115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Formulae, stock epithets, type-scenes. Parry showed these prove deep oral roots; repetition helped singer and audience alike.</a:t>
            </a:r>
            <a:endParaRPr/>
          </a:p>
        </p:txBody>
      </p:sp>
      <p:sp>
        <p:nvSpPr>
          <p:cNvPr id="1174" name="Google Shape;117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4" name="Google Shape;119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scene in four beats: Phemius sings the returns; Penelope begs another song; Telemachus overrules her; song's double power.</a:t>
            </a:r>
            <a:endParaRPr/>
          </a:p>
        </p:txBody>
      </p:sp>
      <p:sp>
        <p:nvSpPr>
          <p:cNvPr id="1195" name="Google Shape;119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5" name="Google Shape;121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staging a bard, Homer reflects on his own art — and plants the question: can we trust a storyteller?</a:t>
            </a:r>
            <a:endParaRPr/>
          </a:p>
        </p:txBody>
      </p:sp>
      <p:sp>
        <p:nvSpPr>
          <p:cNvPr id="1216" name="Google Shape;121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Phemius sings the returns; fingerprints of oral style; a poem aware of itself.</a:t>
            </a:r>
            <a:endParaRPr/>
          </a:p>
        </p:txBody>
      </p:sp>
      <p:sp>
        <p:nvSpPr>
          <p:cNvPr id="1228" name="Google Shape;122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9" name="Google Shape;124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Spot–explain–evaluate on oral style and the bards.</a:t>
            </a:r>
            <a:endParaRPr/>
          </a:p>
        </p:txBody>
      </p:sp>
      <p:sp>
        <p:nvSpPr>
          <p:cNvPr id="1250" name="Google Shape;125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8: women in society — Helen. How the poem first represents women and their power.</a:t>
            </a:r>
            <a:endParaRPr/>
          </a:p>
        </p:txBody>
      </p:sp>
      <p:sp>
        <p:nvSpPr>
          <p:cNvPr id="1275" name="Google Shape;127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1" name="Google Shape;129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Unusually rich in powerful, complex women. Power in many forms. Helen and Penelope now; Calypso, Circe, Nausicaa, Arete later.</a:t>
            </a:r>
            <a:endParaRPr/>
          </a:p>
        </p:txBody>
      </p:sp>
      <p:sp>
        <p:nvSpPr>
          <p:cNvPr id="1292" name="Google Shape;1292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6" name="Google Shape;131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Helen: queenly poise, instant recognition of Telemachus, the nepenthe, and the two conflicting Troy stories.</a:t>
            </a:r>
            <a:endParaRPr/>
          </a:p>
        </p:txBody>
      </p:sp>
      <p:sp>
        <p:nvSpPr>
          <p:cNvPr id="1317" name="Google Shape;1317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Helen's flattering tale vs Menelaus's darker one. Side by side they keep her unresolved — and that ambiguity is the point.</a:t>
            </a:r>
            <a:endParaRPr/>
          </a:p>
        </p:txBody>
      </p:sp>
      <p:sp>
        <p:nvSpPr>
          <p:cNvPr id="1338" name="Google Shape;133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Helen ambiguous, Clytemnestra treacherous, Penelope faithful — each woman sharpens our view of the others.</a:t>
            </a:r>
            <a:endParaRPr/>
          </a:p>
        </p:txBody>
      </p:sp>
      <p:sp>
        <p:nvSpPr>
          <p:cNvPr id="1356" name="Google Shape;135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Helen the queen, the nepenthe, two stories no verdict, the thread set.</a:t>
            </a:r>
            <a:endParaRPr/>
          </a:p>
        </p:txBody>
      </p:sp>
      <p:sp>
        <p:nvSpPr>
          <p:cNvPr id="1380" name="Google Shape;1380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5" name="Google Shape;140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Characterise–explain–evaluate on Helen and the female thread.</a:t>
            </a:r>
            <a:endParaRPr/>
          </a:p>
        </p:txBody>
      </p:sp>
      <p:sp>
        <p:nvSpPr>
          <p:cNvPr id="1406" name="Google Shape;1406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2.pn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 amt="92000"/>
          </a:blip>
          <a:srcRect b="0" l="0" r="0" t="0"/>
          <a:stretch/>
        </p:blipFill>
        <p:spPr>
          <a:xfrm>
            <a:off x="7812174" y="666750"/>
            <a:ext cx="266365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905688" y="3266405"/>
            <a:ext cx="14476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 A LEVEL CLASSICAL CIVILISATION · COMPONENT 11 · THE WORLD OF THE HERO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49291" y="3890293"/>
            <a:ext cx="558941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Lora"/>
              <a:buNone/>
            </a:pPr>
            <a:r>
              <a:rPr b="0" i="1" lang="en-US" sz="3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Homer's Odyssey · Topic 1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58483" y="4585618"/>
            <a:ext cx="11371034" cy="1606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65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0"/>
              <a:buFont typeface="Lora"/>
              <a:buNone/>
            </a:pPr>
            <a:r>
              <a:rPr b="1" i="1" lang="en-US" sz="12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</a:t>
            </a:r>
            <a:r>
              <a:rPr b="1" i="1" lang="en-US" sz="126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Telemachy</a:t>
            </a:r>
            <a:endParaRPr b="0" i="0" sz="12600" u="none" cap="none" strike="noStrike">
              <a:solidFill>
                <a:srgbClr val="1A6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730165" y="6534745"/>
            <a:ext cx="1082759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Inter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Ithaca without its king, and a son's search for news of his father.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-914400" y="9320213"/>
            <a:ext cx="201168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BOOKS 1–4 · LESSONS 1–8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990600" y="666750"/>
            <a:ext cx="230110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38695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Why do we study the Odyssey?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90600" y="2866430"/>
            <a:ext cx="6475095" cy="16976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796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300"/>
              <a:buFont typeface="Lora"/>
              <a:buNone/>
            </a:pPr>
            <a:r>
              <a:rPr b="0" i="1" lang="en-US" sz="33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"A source, not just a story — a way to reach a world we can access in almost no other way."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90600" y="4792712"/>
            <a:ext cx="647509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We do not read the Odyssey only because it is a great story. We read it as a way into the ancient Greek world.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039100" y="3992910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039100" y="273188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RARE EVIDENCE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39100" y="3065264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For early Greece we have very few written sources; epic poems are among the richest evidence for how people lived, thought and believed.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039100" y="5473005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039100" y="4211985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 WHOLE WORLD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039100" y="4545360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From it we reconstruct values (hospitality, honour, fame), gods and religion, and society — kingship, the household, women, and slaves.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39100" y="6953101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039100" y="5692080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READ WITH CARE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039100" y="6025455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is a poem, not a report. It idealises, exaggerates, and blends memories of different ages.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039100" y="7172176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EVIDENCE TO QUESTION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039100" y="7505551"/>
            <a:ext cx="101841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can it tell us about its world — and what can it not?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90600" y="9534525"/>
            <a:ext cx="36414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Introduction · Why we read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3d280946_0_0"/>
          <p:cNvSpPr/>
          <p:nvPr/>
        </p:nvSpPr>
        <p:spPr>
          <a:xfrm>
            <a:off x="990600" y="666750"/>
            <a:ext cx="2301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f53d280946_0_0"/>
          <p:cNvSpPr/>
          <p:nvPr/>
        </p:nvSpPr>
        <p:spPr>
          <a:xfrm>
            <a:off x="3386956" y="797719"/>
            <a:ext cx="666900" cy="1920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53d280946_0_0"/>
          <p:cNvSpPr/>
          <p:nvPr/>
        </p:nvSpPr>
        <p:spPr>
          <a:xfrm>
            <a:off x="990600" y="1138238"/>
            <a:ext cx="179376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Who was Homer?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53d280946_0_0"/>
          <p:cNvSpPr/>
          <p:nvPr/>
        </p:nvSpPr>
        <p:spPr>
          <a:xfrm>
            <a:off x="990600" y="1949723"/>
            <a:ext cx="14668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The name traditionally given to the poet of the two great early Greek epics, the </a:t>
            </a:r>
            <a:r>
              <a:rPr b="0" i="1" lang="en-US" sz="2100" u="none" cap="none" strike="noStrike">
                <a:solidFill>
                  <a:srgbClr val="4A5070"/>
                </a:solidFill>
                <a:latin typeface="Lora"/>
                <a:ea typeface="Lora"/>
                <a:cs typeface="Lora"/>
                <a:sym typeface="Lora"/>
              </a:rPr>
              <a:t>Iliad </a:t>
            </a:r>
            <a:r>
              <a:rPr b="0" i="0" lang="en-US" sz="210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and the </a:t>
            </a:r>
            <a:r>
              <a:rPr b="0" i="1" lang="en-US" sz="2100" u="none" cap="none" strike="noStrike">
                <a:solidFill>
                  <a:srgbClr val="4A5070"/>
                </a:solidFill>
                <a:latin typeface="Lora"/>
                <a:ea typeface="Lora"/>
                <a:cs typeface="Lora"/>
                <a:sym typeface="Lora"/>
              </a:rPr>
              <a:t>Odyssey</a:t>
            </a:r>
            <a:r>
              <a:rPr b="0" i="0" lang="en-US" sz="210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53d280946_0_0"/>
          <p:cNvSpPr/>
          <p:nvPr/>
        </p:nvSpPr>
        <p:spPr>
          <a:xfrm>
            <a:off x="990600" y="2711725"/>
            <a:ext cx="12203100" cy="1506300"/>
          </a:xfrm>
          <a:prstGeom prst="roundRect">
            <a:avLst>
              <a:gd fmla="val 612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53d280946_0_0"/>
          <p:cNvSpPr/>
          <p:nvPr/>
        </p:nvSpPr>
        <p:spPr>
          <a:xfrm>
            <a:off x="1555817" y="2916029"/>
            <a:ext cx="121797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man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53d280946_0_0"/>
          <p:cNvSpPr/>
          <p:nvPr/>
        </p:nvSpPr>
        <p:spPr>
          <a:xfrm>
            <a:off x="1555817" y="3268617"/>
            <a:ext cx="11404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Almost nothing about him is certain: tradition imagined a blind bard, perhaps from Chios or Smyrna — but there is no reliable evidence he was a single person.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53d280946_0_0"/>
          <p:cNvSpPr/>
          <p:nvPr/>
        </p:nvSpPr>
        <p:spPr>
          <a:xfrm>
            <a:off x="990600" y="4396750"/>
            <a:ext cx="12235500" cy="1287300"/>
          </a:xfrm>
          <a:prstGeom prst="roundRect">
            <a:avLst>
              <a:gd fmla="val 612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53d280946_0_0"/>
          <p:cNvSpPr/>
          <p:nvPr/>
        </p:nvSpPr>
        <p:spPr>
          <a:xfrm>
            <a:off x="1557311" y="4626845"/>
            <a:ext cx="12212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date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53d280946_0_0"/>
          <p:cNvSpPr/>
          <p:nvPr/>
        </p:nvSpPr>
        <p:spPr>
          <a:xfrm>
            <a:off x="1557311" y="5023945"/>
            <a:ext cx="11435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poems reached something like their final form around the 8th–7th century BC.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53d280946_0_0"/>
          <p:cNvSpPr/>
          <p:nvPr/>
        </p:nvSpPr>
        <p:spPr>
          <a:xfrm>
            <a:off x="990600" y="9534525"/>
            <a:ext cx="2822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Introduction · The poet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g3f53d280946_0_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f53d280946_0_0"/>
          <p:cNvSpPr/>
          <p:nvPr/>
        </p:nvSpPr>
        <p:spPr>
          <a:xfrm>
            <a:off x="990600" y="6040575"/>
            <a:ext cx="12203100" cy="1647300"/>
          </a:xfrm>
          <a:prstGeom prst="roundRect">
            <a:avLst>
              <a:gd fmla="val 729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53d280946_0_0"/>
          <p:cNvSpPr/>
          <p:nvPr/>
        </p:nvSpPr>
        <p:spPr>
          <a:xfrm>
            <a:off x="1555817" y="6306826"/>
            <a:ext cx="12179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world remembered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53d280946_0_0"/>
          <p:cNvSpPr/>
          <p:nvPr/>
        </p:nvSpPr>
        <p:spPr>
          <a:xfrm>
            <a:off x="1555817" y="6766322"/>
            <a:ext cx="114048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They look back to a much older heroic age — the Trojan War, remembered from the Bronze Age, centuries before.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53d280946_0_0"/>
          <p:cNvSpPr/>
          <p:nvPr/>
        </p:nvSpPr>
        <p:spPr>
          <a:xfrm>
            <a:off x="990600" y="8044400"/>
            <a:ext cx="12186300" cy="1156800"/>
          </a:xfrm>
          <a:prstGeom prst="roundRect">
            <a:avLst>
              <a:gd fmla="val 729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53d280946_0_0"/>
          <p:cNvSpPr/>
          <p:nvPr/>
        </p:nvSpPr>
        <p:spPr>
          <a:xfrm>
            <a:off x="1540566" y="8253715"/>
            <a:ext cx="12195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6BA0FF"/>
                </a:solidFill>
                <a:latin typeface="Lora"/>
                <a:ea typeface="Lora"/>
                <a:cs typeface="Lora"/>
                <a:sym typeface="Lora"/>
              </a:rPr>
              <a:t>For us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53d280946_0_0"/>
          <p:cNvSpPr/>
          <p:nvPr/>
        </p:nvSpPr>
        <p:spPr>
          <a:xfrm>
            <a:off x="1540566" y="8626994"/>
            <a:ext cx="114186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'Homer' is best treated as the voice of the poem, whoever stands behind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g3f53d28094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52064" y="2723675"/>
            <a:ext cx="4465587" cy="648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990600" y="666750"/>
            <a:ext cx="230110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38695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How the poem was made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90600" y="3882256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990600" y="2368823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190750" y="2487885"/>
            <a:ext cx="16617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Sung before it was written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190750" y="2935560"/>
            <a:ext cx="155598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Odyssey grew out of a long oral tradition: songs composed and performed aloud by bards, and handed down, long before writing.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90600" y="5274766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90600" y="4120381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90750" y="4239444"/>
            <a:ext cx="1521283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Built from formulae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190750" y="4687119"/>
            <a:ext cx="15212839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Milman Parry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showed the poems are built from repeated, metre-shaped phrases — the fingerprint of oral composition.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90600" y="6667277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90600" y="5512891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190750" y="5631954"/>
            <a:ext cx="106308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Homeric Question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190750" y="6079629"/>
            <a:ext cx="10630897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One poet or many? When were the poems written down? It has never been settled.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90600" y="6905402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190750" y="7024464"/>
            <a:ext cx="692775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strict metre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190750" y="7472139"/>
            <a:ext cx="6927756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Composed in dactylic hexameter — the metre of epic.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90600" y="8345537"/>
            <a:ext cx="8039844" cy="609600"/>
          </a:xfrm>
          <a:prstGeom prst="roundRect">
            <a:avLst>
              <a:gd fmla="val 15625" name="adj"/>
            </a:avLst>
          </a:prstGeom>
          <a:solidFill>
            <a:srgbClr val="1A6FFF">
              <a:alpha val="7059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266825" y="8540800"/>
            <a:ext cx="210065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COMING LATER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328913" y="8507462"/>
            <a:ext cx="59678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oral style works inside the text — Lesson 7.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90600" y="9534525"/>
            <a:ext cx="32357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Introduction · An oral epic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990600" y="666750"/>
            <a:ext cx="230110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38695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Read in one order, lived in another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90600" y="2096021"/>
            <a:ext cx="7962900" cy="4745236"/>
          </a:xfrm>
          <a:prstGeom prst="roundRect">
            <a:avLst>
              <a:gd fmla="val 32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381125" y="2391296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ORDER WE READ — THE POEM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381125" y="3722861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381125" y="2905646"/>
            <a:ext cx="18859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Books 1–4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305175" y="2915171"/>
            <a:ext cx="541553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Telemachy: Ithaca, and Telemachus's search for news.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381125" y="4663901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381125" y="3846686"/>
            <a:ext cx="18859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Books 5–8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305175" y="3856211"/>
            <a:ext cx="541553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freed from Calypso, and the Phaeacians.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381125" y="5604942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381125" y="4787726"/>
            <a:ext cx="18859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Books 9–12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305175" y="4797251"/>
            <a:ext cx="541553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narrates his wanderings, as a flashback.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381125" y="5728767"/>
            <a:ext cx="18859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Books 13–24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305175" y="5738292"/>
            <a:ext cx="541553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homecoming, the disguise, and the reckoning.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334500" y="2096021"/>
            <a:ext cx="7962900" cy="4745236"/>
          </a:xfrm>
          <a:prstGeom prst="roundRect">
            <a:avLst>
              <a:gd fmla="val 32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725025" y="2391296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ORDER IT HAPPENED — THE STORY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725025" y="3347591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725025" y="2896121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258425" y="2896121"/>
            <a:ext cx="2007342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fall of Troy.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725025" y="4260056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9725025" y="3461891"/>
            <a:ext cx="3074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146804" y="3461891"/>
            <a:ext cx="6962873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wanderings: the Cyclops, Circe, the Underworld, the Sirens, the cattle of the Sun.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725025" y="4825826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9725025" y="437435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258425" y="4374356"/>
            <a:ext cx="5241779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Seven years held by the nymph Calypso.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725025" y="5391596"/>
            <a:ext cx="71818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9725025" y="494012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258425" y="4940126"/>
            <a:ext cx="5422679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Phaeacians carry him home to Ithaca.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725025" y="5505896"/>
            <a:ext cx="31722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156552" y="5505896"/>
            <a:ext cx="6952833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Ithaca: the reckoning — while, all along, Telemachus grows and the suitors gather.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90600" y="7107957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371600" y="7422282"/>
            <a:ext cx="2486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936950" y="7336557"/>
            <a:ext cx="13368833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poem begins in the middle (in medias res). Homer starts near the end, keeps the hero absent to build mystery, and lets Odysseus tell his own story.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90600" y="9534525"/>
            <a:ext cx="44989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Introduction · The shape of the poem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3d280946_0_29"/>
          <p:cNvSpPr/>
          <p:nvPr/>
        </p:nvSpPr>
        <p:spPr>
          <a:xfrm>
            <a:off x="990600" y="666750"/>
            <a:ext cx="2301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53d280946_0_29"/>
          <p:cNvSpPr/>
          <p:nvPr/>
        </p:nvSpPr>
        <p:spPr>
          <a:xfrm>
            <a:off x="3386956" y="797719"/>
            <a:ext cx="666900" cy="1920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53d280946_0_29"/>
          <p:cNvSpPr/>
          <p:nvPr/>
        </p:nvSpPr>
        <p:spPr>
          <a:xfrm>
            <a:off x="990600" y="1304050"/>
            <a:ext cx="16306800" cy="7742400"/>
          </a:xfrm>
          <a:prstGeom prst="roundRect">
            <a:avLst>
              <a:gd fmla="val 32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53d280946_0_29"/>
          <p:cNvSpPr/>
          <p:nvPr/>
        </p:nvSpPr>
        <p:spPr>
          <a:xfrm>
            <a:off x="990600" y="9534525"/>
            <a:ext cx="4498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Introduction · The shape of the poem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g3f53d280946_0_2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f53d280946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2850" y="1449028"/>
            <a:ext cx="11822300" cy="7388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6310223" y="609600"/>
            <a:ext cx="529977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524000" y="3175248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524000" y="3756273"/>
            <a:ext cx="16764000" cy="13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Xenia</a:t>
            </a:r>
            <a:r>
              <a:rPr b="1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b="0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guest–host code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524000" y="5628829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5240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5240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xenia as the code governing host and guest, and why it drives the poem.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3345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3345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xenia and its obligations on both sides; judge a host or guest against the code.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990600" y="1233488"/>
            <a:ext cx="670560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07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xenia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990600" y="2547938"/>
            <a:ext cx="6705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ξενία · guest-friendship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90600" y="3357563"/>
            <a:ext cx="627888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Ritual guest-friendship: the bond of hospitality between a host and a guest or stranger.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90600" y="4548188"/>
            <a:ext cx="6096000" cy="1597223"/>
          </a:xfrm>
          <a:prstGeom prst="roundRect">
            <a:avLst>
              <a:gd fmla="val 834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314450" y="4795838"/>
            <a:ext cx="5993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DEFINITION TO KEEP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314450" y="5124450"/>
            <a:ext cx="5611749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sacred, reciprocal code of hospitality between host and guest, protected by Zeus.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943850" y="4089648"/>
            <a:ext cx="9353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7943850" y="3123902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Sacred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401300" y="3162002"/>
            <a:ext cx="710298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Zeus Xenios protects guests and strangers — to break xenia is to offend the gods themselves.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943850" y="5274469"/>
            <a:ext cx="9353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943850" y="4308723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Reciprocal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401300" y="4346823"/>
            <a:ext cx="710298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Both host and guest have duties, and the bond runs two ways.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943850" y="6459289"/>
            <a:ext cx="9353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943850" y="5493544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Hereditary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0401300" y="5531644"/>
            <a:ext cx="710298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Guest-friendships pass down families, honoured for generations.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943850" y="6678364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Practical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0401300" y="6716464"/>
            <a:ext cx="710298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Hospitality is how a world without states keeps travellers safe.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990600" y="9534525"/>
            <a:ext cx="191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 · Xenia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Why xenia mattered so much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90600" y="3729856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990600" y="2330723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system of reciprocity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90600" y="2783160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Gifts and hospitality create lasting bonds and obligations that tie households together across the Greek world.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525000" y="3729856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9525000" y="2330723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It stands in for the state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525000" y="2783160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 no police, courts or nations, xenia is what makes travel, trade and diplomacy possible and safe.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90600" y="3967981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Enforced by religion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90600" y="4420419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Because Zeus watches over guests, a breach is not merely rude but impious — and invites divine punishment.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525000" y="3967981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Theoxeny — the divine stranger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525000" y="4420419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Gods and kings may arrive disguised: any stranger might be more than they seem, so hospitality is a moral test of character.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90600" y="5652864"/>
            <a:ext cx="16306800" cy="887239"/>
          </a:xfrm>
          <a:prstGeom prst="roundRect">
            <a:avLst>
              <a:gd fmla="val 15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990600" y="6530578"/>
            <a:ext cx="163068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990600" y="5652864"/>
            <a:ext cx="163068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7287875" y="5652864"/>
            <a:ext cx="9525" cy="887239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352550" y="5991002"/>
            <a:ext cx="197394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SCHOLARSHIP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432795" y="5910039"/>
            <a:ext cx="14576576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M. I. Finley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describes this as a </a:t>
            </a: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'gift-economy'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where honour and obligation are exchanged as much as goods.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90600" y="9534525"/>
            <a:ext cx="191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 · Xenia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990600" y="704850"/>
            <a:ext cx="165705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742902" y="8358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990600" y="1176338"/>
            <a:ext cx="1793748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34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5250"/>
              <a:buFont typeface="Lora"/>
              <a:buNone/>
            </a:pPr>
            <a:r>
              <a:rPr b="1" i="1" lang="en-US" sz="5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each side owes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90600" y="2231678"/>
            <a:ext cx="7962900" cy="5118422"/>
          </a:xfrm>
          <a:prstGeom prst="roundRect">
            <a:avLst>
              <a:gd fmla="val 297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1400175" y="2565053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HOST MUST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400175" y="3624188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400175" y="3141315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952625" y="3127028"/>
            <a:ext cx="698963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Welcome the stranger before asking who they are.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400175" y="4254698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1400175" y="3771826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952625" y="3757538"/>
            <a:ext cx="654041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Give a seat, water to wash, food and drink first.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400175" y="4885209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400175" y="4402336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952625" y="4388048"/>
            <a:ext cx="4962242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Offer a bath and a bed for the night.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400175" y="5515719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400175" y="5032846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952625" y="5018559"/>
            <a:ext cx="5376595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Entertain, and give guest-gifts (</a:t>
            </a:r>
            <a:r>
              <a:rPr b="0" i="1" lang="en-US" sz="210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xeinia</a:t>
            </a: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400175" y="5663357"/>
            <a:ext cx="397818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912293" y="5649069"/>
            <a:ext cx="6830581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Provide safe escort onward (</a:t>
            </a:r>
            <a:r>
              <a:rPr b="0" i="1" lang="en-US" sz="210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pompe </a:t>
            </a: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), and protect the guest.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334500" y="2231678"/>
            <a:ext cx="7962900" cy="5118422"/>
          </a:xfrm>
          <a:prstGeom prst="roundRect">
            <a:avLst>
              <a:gd fmla="val 297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9744075" y="2565053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GUEST MUST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744075" y="3997523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9744075" y="3141315"/>
            <a:ext cx="424383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0282758" y="3127028"/>
            <a:ext cx="6803219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Be courteous and grateful, and respect the household.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744075" y="4628034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9744075" y="4145161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296525" y="4130873"/>
            <a:ext cx="6961562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Not overstay, and not abuse the host's generosity.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744075" y="5258544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9744075" y="4775671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0296525" y="4761384"/>
            <a:ext cx="6814877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Reciprocate — return hospitality and gifts in kind.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744075" y="5406182"/>
            <a:ext cx="4381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296525" y="5391894"/>
            <a:ext cx="6102653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Honour the bond, and remember it in future.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9744075" y="6098604"/>
            <a:ext cx="714375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9744075" y="6298629"/>
            <a:ext cx="735806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242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6A7090"/>
                </a:solidFill>
                <a:latin typeface="Lora"/>
                <a:ea typeface="Lora"/>
                <a:cs typeface="Lora"/>
                <a:sym typeface="Lora"/>
              </a:rPr>
              <a:t>The bond runs two ways — and binds your children as it binds you.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990600" y="9496425"/>
            <a:ext cx="191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 · Xenia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107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990600" y="666750"/>
            <a:ext cx="155852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64437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Judging a host against the code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990600" y="2096021"/>
            <a:ext cx="6705600" cy="3962251"/>
          </a:xfrm>
          <a:prstGeom prst="roundRect">
            <a:avLst>
              <a:gd fmla="val 384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390650" y="2419871"/>
            <a:ext cx="6496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CHECKLIST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390650" y="3418061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390650" y="2967558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924050" y="2953271"/>
            <a:ext cx="3655256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Welcome before questions.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390650" y="3997151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1390650" y="354664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924050" y="3532361"/>
            <a:ext cx="3490645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Seat, wash, and feed first.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390650" y="4576242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1390650" y="412573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924050" y="4111451"/>
            <a:ext cx="3719185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then ask who they are.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390650" y="5155332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390650" y="470482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924050" y="4690542"/>
            <a:ext cx="3739403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Exchange news and stories.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390650" y="528391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924050" y="5269632"/>
            <a:ext cx="389795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Guest-gifts, then safe escort.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115300" y="2096021"/>
            <a:ext cx="101003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APPLY IT — TWO VERDICTS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115300" y="2591321"/>
            <a:ext cx="9182100" cy="1761083"/>
          </a:xfrm>
          <a:prstGeom prst="roundRect">
            <a:avLst>
              <a:gd fmla="val 865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467725" y="2867546"/>
            <a:ext cx="1843876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suitors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4676983" y="2996133"/>
            <a:ext cx="249479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ANTI-GUESTS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8467725" y="3358083"/>
            <a:ext cx="8731568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Break nearly every step: guests who consume the host, never leave, give nothing.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115300" y="4581004"/>
            <a:ext cx="9182100" cy="1402035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8467725" y="4857229"/>
            <a:ext cx="2480139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Nestor at Pylos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4767620" y="4985817"/>
            <a:ext cx="239509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MODEL HOST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467725" y="5347767"/>
            <a:ext cx="932497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Keeps every step: feeds first, asks after, then bed, bath and escort.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8172450" y="6211639"/>
            <a:ext cx="998601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730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move: measure a host against the steps, then reach a judgement.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990600" y="9534525"/>
            <a:ext cx="191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 · Xenia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1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90600" y="2100263"/>
            <a:ext cx="5232350" cy="3896097"/>
          </a:xfrm>
          <a:prstGeom prst="roundRect">
            <a:avLst>
              <a:gd fmla="val 39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1343025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1476375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Telemachus welcomes Athene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Hospitality before curiosity: he greets, seats and feeds the stranger before asking who she is — and seats her apart, away from the suitors' insolence.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1343025" y="5019154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Pointed contrast: the suitors are guests devouring the very house they sit 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527750" y="2100263"/>
            <a:ext cx="5232425" cy="3896097"/>
          </a:xfrm>
          <a:prstGeom prst="roundRect">
            <a:avLst>
              <a:gd fmla="val 39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880175" y="2414588"/>
            <a:ext cx="1151409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7013525" y="2471738"/>
            <a:ext cx="960909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Nestor at Pylos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full type-scene: welcomed into the feast, fed, and only afterwards asked who they are. Hospitality bound up with piety — a sacrifice to Poseidon.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880175" y="485722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880175" y="5019154"/>
            <a:ext cx="466340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Nestor becomes the benchmark every later host is measured against.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2064975" y="2100263"/>
            <a:ext cx="5232350" cy="3896097"/>
          </a:xfrm>
          <a:prstGeom prst="roundRect">
            <a:avLst>
              <a:gd fmla="val 391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2417400" y="2414588"/>
            <a:ext cx="1157288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2550750" y="2471738"/>
            <a:ext cx="9667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Menelaus &amp; Helen at Sparta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principle stated aloud: Menelaus rebukes a servant for hesitating to admit strangers. Guest-gifts matter — giving generously is the host's duty.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12417400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12417400" y="5019154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 guest's side too: Telemachus courteously declines the horses.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990600" y="9534525"/>
            <a:ext cx="191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 · Xenia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xenia and its obligations on both sides.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758628" y="4003849"/>
            <a:ext cx="5303007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Judge a host or guest against the code.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7543800" y="327994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JUDGE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9544050" y="2324621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Run the suitors and one good host through the checklist — which steps does each keep or break?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7543800" y="4454351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7543800" y="3570461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9544050" y="3499024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Book 1 use xenia to set up the poem's central conflict?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7543800" y="474486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9544050" y="4673426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suitors are condemned by how they treat guests more than by anything else.'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1–4?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990600" y="9534525"/>
            <a:ext cx="191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 · Xenia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6167348" y="609600"/>
            <a:ext cx="672852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524000" y="3175248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524000" y="3756273"/>
            <a:ext cx="16764000" cy="13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Nostos</a:t>
            </a:r>
            <a:r>
              <a:rPr b="1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b="0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homecoming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524000" y="5628829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15240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5240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nostos as the poem's goal and organising idea.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93345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93345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what Odysseus seeks and what blocks him; tell a successful return from a failed one.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13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/>
          <p:nvPr/>
        </p:nvSpPr>
        <p:spPr>
          <a:xfrm>
            <a:off x="13335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35518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7129213" y="1366838"/>
            <a:ext cx="402949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7994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0500"/>
              <a:buFont typeface="Lora"/>
              <a:buNone/>
            </a:pPr>
            <a:r>
              <a:rPr b="1" i="1" lang="en-US" sz="10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nostos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806785" y="2795588"/>
            <a:ext cx="467435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νόστος · the return home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355657" y="3586163"/>
            <a:ext cx="11576685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More than arriving: recovering everything home stands for — wife, son, throne, and his identity as king, husband and father. The poem names the goal at once: every surviving Greek is home; Odysseus alone is held back.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3527227" y="5248275"/>
            <a:ext cx="2403574" cy="790575"/>
          </a:xfrm>
          <a:prstGeom prst="roundRect">
            <a:avLst>
              <a:gd fmla="val 1445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3822502" y="5448300"/>
            <a:ext cx="181302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nostos</a:t>
            </a: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·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6159401" y="5424488"/>
            <a:ext cx="31573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C2C6D4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703740" y="5248275"/>
            <a:ext cx="2033290" cy="790575"/>
          </a:xfrm>
          <a:prstGeom prst="roundRect">
            <a:avLst>
              <a:gd fmla="val 1445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6999015" y="5448300"/>
            <a:ext cx="14427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algos</a:t>
            </a: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· pain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8965629" y="5424488"/>
            <a:ext cx="31573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C2C6D4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9509968" y="5257800"/>
            <a:ext cx="5250731" cy="771525"/>
          </a:xfrm>
          <a:prstGeom prst="roundRect">
            <a:avLst>
              <a:gd fmla="val 1481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9755057" y="5448300"/>
            <a:ext cx="47605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nostalgia</a:t>
            </a: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the ache of longing for home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3748087" y="6457950"/>
            <a:ext cx="107918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Definition to keep: nostos is the hero's return home — and the restoration of his whole world.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239340" y="9534525"/>
            <a:ext cx="20715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 · Nostos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1383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Nostos as the poem's design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990600" y="2140223"/>
            <a:ext cx="8010525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381125" y="245454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engine of the plot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381125" y="294984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Everything is measured by how near or far Odysseus is from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9286875" y="2140223"/>
            <a:ext cx="8010525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9677400" y="245454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An unusual epic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9677400" y="294984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Not of war, but of the journey home: the aftermath of heroism rather than the battlefield.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990600" y="4292873"/>
            <a:ext cx="8010525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381125" y="460719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Built by comparison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381125" y="510249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Telemachy gathers other heroes' returns so we can weigh them against Odysseus's.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9286875" y="4292873"/>
            <a:ext cx="8010525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9677400" y="460719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Nostos vs kleos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9677400" y="510249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Home means giving up the glory — and, we learn later, the immortality — that staying away could bring.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990600" y="9534525"/>
            <a:ext cx="20715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 · Nostos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6"/>
          <p:cNvSpPr/>
          <p:nvPr/>
        </p:nvSpPr>
        <p:spPr>
          <a:xfrm>
            <a:off x="990600" y="666750"/>
            <a:ext cx="2919771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39967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Homecomings compared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990600" y="334989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990600" y="244026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2952750" y="2349773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proem and Zeus's council name both goal and obstacle: Odysseus is trapped far away while the others have returned.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990600" y="420238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990600" y="367851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3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2952750" y="3588023"/>
            <a:ext cx="1112432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Pylos, Nestor tells of the Greeks' returns from Troy — some smooth, some bitter.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990600" y="505487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990600" y="4530998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2952750" y="4440510"/>
            <a:ext cx="1304391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Sparta, Menelaus recounts his own long, wandering, wealthy return, held up for years in Egypt.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990600" y="5383485"/>
            <a:ext cx="1695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BOOKS 1, 3, 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2952750" y="5292998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Again and again the stories circle back to </a:t>
            </a: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Agamemnon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: murdered by Clytemnestra and Aegisthus on the very day he reached home — the fatal nostos.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90600" y="9534525"/>
            <a:ext cx="20715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 · Nostos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4" name="Google Shape;434;p1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"/>
          <p:cNvSpPr/>
          <p:nvPr/>
        </p:nvSpPr>
        <p:spPr>
          <a:xfrm>
            <a:off x="990600" y="666750"/>
            <a:ext cx="155852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264437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Judging a homecoming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990600" y="1943621"/>
            <a:ext cx="1571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The poem invites us to compare returns: did the hero get home — and did he recover his world, or lose it?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990600" y="2762771"/>
            <a:ext cx="16306800" cy="5715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A6FFF"/>
              </a:gs>
              <a:gs pos="50000">
                <a:srgbClr val="8A90A8"/>
              </a:gs>
              <a:gs pos="100000">
                <a:srgbClr val="C0392B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990600" y="3105671"/>
            <a:ext cx="5206975" cy="2286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1362075" y="3419996"/>
            <a:ext cx="491042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SAFE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1362075" y="3777183"/>
            <a:ext cx="4910428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Nestor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1362075" y="4334396"/>
            <a:ext cx="491042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safe, straightforward return.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6540475" y="3105671"/>
            <a:ext cx="5206975" cy="2286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6911950" y="3419996"/>
            <a:ext cx="491042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LONG &amp; WANDERING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6911950" y="3777183"/>
            <a:ext cx="4910428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Menelaus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6911950" y="4334396"/>
            <a:ext cx="459794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Held up for years — but successful, and rich.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12090350" y="3105671"/>
            <a:ext cx="5207050" cy="2286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12461825" y="3419996"/>
            <a:ext cx="49105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FATAL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12461825" y="3777183"/>
            <a:ext cx="491051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Agamemnon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12461825" y="4334396"/>
            <a:ext cx="4598023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Reached home, only to be murdered — the warning case.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990600" y="5715521"/>
            <a:ext cx="16306800" cy="830535"/>
          </a:xfrm>
          <a:prstGeom prst="roundRect">
            <a:avLst>
              <a:gd fmla="val 1605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1371600" y="6029846"/>
            <a:ext cx="147757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MOVE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3019648" y="5944121"/>
            <a:ext cx="9966313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Measure any homecoming against these. Arrival is not the same as success.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990600" y="9534525"/>
            <a:ext cx="20715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 · Nostos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1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990600" y="2081212"/>
            <a:ext cx="16306800" cy="1309167"/>
          </a:xfrm>
          <a:prstGeom prst="roundRect">
            <a:avLst>
              <a:gd fmla="val 1164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1381125" y="2443163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1381125" y="2752725"/>
            <a:ext cx="44005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goal stated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5762625" y="2357438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proem and council name the aim at once: every hero home but Odysseus. Nostos is set up as the single thing the whole poem drives towards.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990600" y="3638029"/>
            <a:ext cx="16306800" cy="1309167"/>
          </a:xfrm>
          <a:prstGeom prst="roundRect">
            <a:avLst>
              <a:gd fmla="val 1164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1381125" y="3999979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3–4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381125" y="4309542"/>
            <a:ext cx="44005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return-stories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762625" y="3914254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Nestor and Menelaus recount their own returns, so Telemachus (and we) can compare them. A nostos can be swift, or long and wandering — and still succeed.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990600" y="5194846"/>
            <a:ext cx="16306800" cy="1309167"/>
          </a:xfrm>
          <a:prstGeom prst="roundRect">
            <a:avLst>
              <a:gd fmla="val 1164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1381125" y="5556796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BOOKS 1, 3–4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1381125" y="5866358"/>
            <a:ext cx="44005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fatal homecoming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5762625" y="5471071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Agamemnon's murder on his return is raised again and again as the dark example — a warning that hangs over Odysseus's return before it even happens.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990600" y="9534525"/>
            <a:ext cx="20715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 · Nostos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3" name="Google Shape;483;p1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9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what Odysseus seeks and what stands in his way.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Tell a successful homecoming from a failed one.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7543800" y="327994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SORT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9544050" y="2324621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Rank the returns (Nestor, Menelaus, Agamemnon) by success, with reasons.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7543800" y="4081463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7543800" y="3570461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9544050" y="3499024"/>
            <a:ext cx="7354386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Beyond reaching Ithaca, what must Odysseus recover?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7543800" y="43719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9544050" y="4300538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Telemachy is really teaching us how to read a homecoming.'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1–4?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990600" y="9534525"/>
            <a:ext cx="20715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 · Nostos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8" name="Google Shape;508;p1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5" name="Google Shape;5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0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16139889" y="609600"/>
            <a:ext cx="700311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524000" y="2621459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3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1524000" y="3202484"/>
            <a:ext cx="15697200" cy="2408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50"/>
              <a:buFont typeface="Lora"/>
              <a:buNone/>
            </a:pPr>
            <a:r>
              <a:rPr b="1" i="1" lang="en-US" sz="9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Kleos &amp; timē:</a:t>
            </a:r>
            <a:r>
              <a:rPr b="1" i="1" lang="en-US" sz="91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-US" sz="91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fame and honour</a:t>
            </a:r>
            <a:endParaRPr b="0" i="0" sz="9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1524000" y="6182618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1524000" y="6535043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1524000" y="6892230"/>
            <a:ext cx="775335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the values a Homeric hero lives by.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9334500" y="6535043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9334500" y="6892230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kleos and timē; explain how the wish for fame shapes a character's choices.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p2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words a hero lives by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990600" y="2101155"/>
            <a:ext cx="16306800" cy="7223820"/>
          </a:xfrm>
          <a:prstGeom prst="roundRect">
            <a:avLst>
              <a:gd fmla="val 237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/>
          <p:nvPr/>
        </p:nvSpPr>
        <p:spPr>
          <a:xfrm>
            <a:off x="1495425" y="2529780"/>
            <a:ext cx="7863364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40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6300"/>
              <a:buFont typeface="Lora"/>
              <a:buNone/>
            </a:pPr>
            <a:r>
              <a:rPr b="1" i="1" lang="en-US" sz="63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kleos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1495425" y="3387030"/>
            <a:ext cx="786336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250"/>
              <a:buFont typeface="Lora"/>
              <a:buNone/>
            </a:pPr>
            <a:r>
              <a:rPr b="0" i="1" lang="en-US" sz="22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κλέος · glory, fame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1495425" y="3996630"/>
            <a:ext cx="7362968" cy="785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From the verb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kluō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'to hear': kleos is literally </a:t>
            </a:r>
            <a:r>
              <a:rPr b="1" i="0" lang="en-US" sz="1950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what is heard and said about you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1495425" y="4915793"/>
            <a:ext cx="7362968" cy="115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Crucially, it outlives you. Preserved in song, it is the only immortality a mortal can win — the ideal is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kleos aphthiton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'imperishable fame'.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1495425" y="8629650"/>
            <a:ext cx="73629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LASTING · HEARD AND SUNG AFTER DEATH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9139238" y="2110680"/>
            <a:ext cx="9525" cy="7204770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/>
          <p:cNvSpPr/>
          <p:nvPr/>
        </p:nvSpPr>
        <p:spPr>
          <a:xfrm>
            <a:off x="9644063" y="2529780"/>
            <a:ext cx="7863364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40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6300"/>
              <a:buFont typeface="Lora"/>
              <a:buNone/>
            </a:pPr>
            <a:r>
              <a:rPr b="1" i="1" lang="en-US" sz="63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timē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9644063" y="3387030"/>
            <a:ext cx="786336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250"/>
              <a:buFont typeface="Lora"/>
              <a:buNone/>
            </a:pPr>
            <a:r>
              <a:rPr b="0" i="1" lang="en-US" sz="22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τιμή · honour, standing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9644063" y="3996630"/>
            <a:ext cx="736296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Your standing </a:t>
            </a:r>
            <a:r>
              <a:rPr b="1" i="0" lang="en-US" sz="1950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now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and its visible marks: a share of the spoils, guest-gifts, the best seat, the largest portion.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9644063" y="4911030"/>
            <a:ext cx="7362968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Timē can be given or taken away; to be stripped of it is a public wound. You win kleos by great deeds; timē is the honour paid to you for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9644063" y="8629650"/>
            <a:ext cx="73629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PRESENT · VISIBLE TOKENS, HERE AND NOW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990600" y="9534525"/>
            <a:ext cx="2790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3 · Kleos &amp; timē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7" name="Google Shape;547;p2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2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2"/>
          <p:cNvSpPr/>
          <p:nvPr/>
        </p:nvSpPr>
        <p:spPr>
          <a:xfrm>
            <a:off x="990600" y="1271588"/>
            <a:ext cx="6671310" cy="12312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408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350"/>
              <a:buFont typeface="Lora"/>
              <a:buNone/>
            </a:pPr>
            <a:r>
              <a:rPr b="1" i="1" lang="en-US" sz="43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shame culture, and the hero's bargain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990600" y="2807643"/>
            <a:ext cx="6671310" cy="1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22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150"/>
              <a:buFont typeface="Lora"/>
              <a:buNone/>
            </a:pPr>
            <a:r>
              <a:rPr b="0" i="1" lang="en-US" sz="3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"A hero would sooner die than be shamed — a shameful name is a kind of second death."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990600" y="4758556"/>
            <a:ext cx="6107534" cy="604838"/>
          </a:xfrm>
          <a:prstGeom prst="roundRect">
            <a:avLst>
              <a:gd fmla="val 15748" name="adj"/>
            </a:avLst>
          </a:prstGeom>
          <a:solidFill>
            <a:srgbClr val="C0392B">
              <a:alpha val="5882"/>
            </a:srgbClr>
          </a:solidFill>
          <a:ln cap="flat" cmpd="sng" w="9525">
            <a:solidFill>
              <a:srgbClr val="C0392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1247775" y="4958581"/>
            <a:ext cx="187989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SCHOLARSHIP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3109168" y="4920481"/>
            <a:ext cx="410497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E. R. Dodds </a:t>
            </a: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the 'shame culture'.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8324850" y="4331047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8324850" y="2984302"/>
            <a:ext cx="986980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Reputation governs behaviour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8324850" y="3403402"/>
            <a:ext cx="924172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Honour and shame in others' eyes — not a private, inner conscience. What others say of you is everything.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8324850" y="5896868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>
            <a:off x="8324850" y="4550122"/>
            <a:ext cx="986980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hero's bargain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8324850" y="4969222"/>
            <a:ext cx="924172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Seen starkest in Achilles: a short life with undying fame is worth more than a long life forgotten.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8324850" y="6115943"/>
            <a:ext cx="986980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Odyssey reshapes it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8324850" y="6535043"/>
            <a:ext cx="9241727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already has kleos from Troy; what he wants now is nostos. His heroism rests on endurance and cunning as much as battle — a different model from Achilles.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990600" y="9534525"/>
            <a:ext cx="2790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3 · Kleos &amp; timē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9" name="Google Shape;569;p2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"/>
          <p:cNvSpPr/>
          <p:nvPr/>
        </p:nvSpPr>
        <p:spPr>
          <a:xfrm>
            <a:off x="990600" y="666750"/>
            <a:ext cx="2919771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39967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Fame at work in Books 1–4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990600" y="334989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990600" y="244026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2952750" y="2349773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proem is itself an act of kleos: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poet asks the Muse to sing 'the man' — we are, right now, reading Odysseus's glory.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990600" y="458814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990600" y="367851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2952750" y="3588023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Athene fires Telemachus with Orestes: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have you not heard what fame Orestes won by avenging his father? A direct challenge to win a name of his own.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990600" y="5826398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3"/>
          <p:cNvSpPr/>
          <p:nvPr/>
        </p:nvSpPr>
        <p:spPr>
          <a:xfrm>
            <a:off x="990600" y="491676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2–4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2952750" y="4826273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journey seeks kleos in both senses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news of his father's reputation, and the start of his own. He must grow from 'the son of Odysseus' into a man with a name.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990600" y="615501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2952750" y="6064523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Fame recited at Sparta: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Menelaus and Helen recall Odysseus's cunning at Troy — we hear his fame sung inside the poem.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990600" y="9534525"/>
            <a:ext cx="2790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3 · Kleos &amp; timē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0" name="Google Shape;590;p2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How the wish for fame shapes choices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990600" y="3709839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990600" y="2310705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Reputation as motive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4"/>
          <p:cNvSpPr/>
          <p:nvPr/>
        </p:nvSpPr>
        <p:spPr>
          <a:xfrm>
            <a:off x="990600" y="2763143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Characters constantly weigh how an act will look and be remembered — as strong a motive as survival.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9525000" y="3709839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4"/>
          <p:cNvSpPr/>
          <p:nvPr/>
        </p:nvSpPr>
        <p:spPr>
          <a:xfrm>
            <a:off x="9525000" y="2310705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Fame can be infamy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9525000" y="2763143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suitors are earning bad kleos — an infamy that will cling to them, and the poem makes sure we judge them for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990600" y="3947964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Standing must be seen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990600" y="4400401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To build standing, Telemachus must be seen to act — hence the public assembly in Book 2, his first real bid for adult timē.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9525000" y="3947964"/>
            <a:ext cx="854964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Honour in the manners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9525000" y="4400401"/>
            <a:ext cx="800557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Gift-giving, hospitality, even who is allowed to tell which story — all negotiations of timē.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/>
          <p:nvPr/>
        </p:nvSpPr>
        <p:spPr>
          <a:xfrm>
            <a:off x="990600" y="5632847"/>
            <a:ext cx="16306800" cy="887239"/>
          </a:xfrm>
          <a:prstGeom prst="roundRect">
            <a:avLst>
              <a:gd fmla="val 1503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1362075" y="5970984"/>
            <a:ext cx="197394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SCHOLARSHIP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3442320" y="5890022"/>
            <a:ext cx="11018483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M. I. Finley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 the honour-and-gift economy; </a:t>
            </a: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Jasper Griffin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 glory and mortality.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990600" y="9534525"/>
            <a:ext cx="2790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3 · Kleos &amp; timē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3" name="Google Shape;613;p2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990600" y="2100263"/>
            <a:ext cx="5232350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/>
          <p:nvPr/>
        </p:nvSpPr>
        <p:spPr>
          <a:xfrm>
            <a:off x="1343025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1476375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song as fame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proem both describes and creates Odysseus's kleos — the poem is the fame. Song is how glory survives death; the bard is its keeper.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6527750" y="2100263"/>
            <a:ext cx="5232425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6880175" y="2414588"/>
            <a:ext cx="1708026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7013525" y="2471738"/>
            <a:ext cx="151752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 &amp;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Win a name, as Orestes did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Orestes' vengeance is held up as the path to kleos, to spur Telemachus. Fame is set before the son as the goal he must grow towards.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12064975" y="2100263"/>
            <a:ext cx="5232350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12417400" y="2414588"/>
            <a:ext cx="1157288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5"/>
          <p:cNvSpPr/>
          <p:nvPr/>
        </p:nvSpPr>
        <p:spPr>
          <a:xfrm>
            <a:off x="12550750" y="2471738"/>
            <a:ext cx="9667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Fame recited at Sparta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Odysseus's Trojan glory is recalled by eyewitnesses — kleos as living, spoken memory. We watch reputation being kept alive in the telling.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990600" y="9534525"/>
            <a:ext cx="2790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3 · Kleos &amp; timē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8" name="Google Shape;638;p2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6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6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6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6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6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kleos and timē, and explain how they differ.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how the wish for fame shapes what characters do.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7543800" y="327994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DEFINE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9544050" y="2324621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Kleos and timē in your own words, and the difference between them.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7543800" y="4454351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6"/>
          <p:cNvSpPr/>
          <p:nvPr/>
        </p:nvSpPr>
        <p:spPr>
          <a:xfrm>
            <a:off x="7543800" y="3570461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6"/>
          <p:cNvSpPr/>
          <p:nvPr/>
        </p:nvSpPr>
        <p:spPr>
          <a:xfrm>
            <a:off x="9544050" y="3499024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the Orestes example work on Telemachus — and on us as readers?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7543800" y="474486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9544050" y="4673426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'In the Odyssey, reputation matters more than survival.'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far, using Books 1–4?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990600" y="9534525"/>
            <a:ext cx="2790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3 · Kleos &amp; timē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3" name="Google Shape;663;p2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0" name="Google Shape;6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7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16154772" y="609600"/>
            <a:ext cx="68542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1524000" y="3233514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4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1524000" y="3814539"/>
            <a:ext cx="16764000" cy="118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7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gods, fate</a:t>
            </a: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responsibility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524000" y="5570562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1524000" y="5922987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1524000" y="6280175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how the gods act, and how Zeus frames human responsibility.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9334500" y="5922987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9334500" y="6280175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Describe Athene, Zeus and Poseidon; explain the Orestes paradigm and its view of choice.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0" name="Google Shape;680;p2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8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8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gods in the Odyssey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/>
          <p:nvPr/>
        </p:nvSpPr>
        <p:spPr>
          <a:xfrm>
            <a:off x="990600" y="1910655"/>
            <a:ext cx="1793748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Constant, active presences — they help, hinder, disguise themselves, and steer events.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990600" y="2639318"/>
            <a:ext cx="5219700" cy="3243263"/>
          </a:xfrm>
          <a:prstGeom prst="roundRect">
            <a:avLst>
              <a:gd fmla="val 46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8"/>
          <p:cNvSpPr/>
          <p:nvPr/>
        </p:nvSpPr>
        <p:spPr>
          <a:xfrm>
            <a:off x="990600" y="5873055"/>
            <a:ext cx="52197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8"/>
          <p:cNvSpPr/>
          <p:nvPr/>
        </p:nvSpPr>
        <p:spPr>
          <a:xfrm>
            <a:off x="990600" y="2639318"/>
            <a:ext cx="5219700" cy="47625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8"/>
          <p:cNvSpPr/>
          <p:nvPr/>
        </p:nvSpPr>
        <p:spPr>
          <a:xfrm>
            <a:off x="990600" y="2639318"/>
            <a:ext cx="9525" cy="3243263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8"/>
          <p:cNvSpPr/>
          <p:nvPr/>
        </p:nvSpPr>
        <p:spPr>
          <a:xfrm>
            <a:off x="6200775" y="2639318"/>
            <a:ext cx="9525" cy="3243263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8"/>
          <p:cNvSpPr/>
          <p:nvPr/>
        </p:nvSpPr>
        <p:spPr>
          <a:xfrm>
            <a:off x="1362075" y="3010793"/>
            <a:ext cx="4924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450"/>
              <a:buFont typeface="Lora"/>
              <a:buNone/>
            </a:pPr>
            <a:r>
              <a:rPr b="1" i="1" lang="en-US" sz="34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Athene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1362075" y="3648968"/>
            <a:ext cx="49244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PATRON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1362075" y="4063305"/>
            <a:ext cx="461105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Goddess of wisdom and craft; patron of Odysseus and Telemachus. She guides mortals, often in disguise, and puts courage into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6534150" y="2639318"/>
            <a:ext cx="5219700" cy="3243263"/>
          </a:xfrm>
          <a:prstGeom prst="roundRect">
            <a:avLst>
              <a:gd fmla="val 46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8"/>
          <p:cNvSpPr/>
          <p:nvPr/>
        </p:nvSpPr>
        <p:spPr>
          <a:xfrm>
            <a:off x="6534150" y="5873055"/>
            <a:ext cx="52197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8"/>
          <p:cNvSpPr/>
          <p:nvPr/>
        </p:nvSpPr>
        <p:spPr>
          <a:xfrm>
            <a:off x="6534150" y="2639318"/>
            <a:ext cx="5219700" cy="47625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8"/>
          <p:cNvSpPr/>
          <p:nvPr/>
        </p:nvSpPr>
        <p:spPr>
          <a:xfrm>
            <a:off x="6534150" y="2639318"/>
            <a:ext cx="9525" cy="3243263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8"/>
          <p:cNvSpPr/>
          <p:nvPr/>
        </p:nvSpPr>
        <p:spPr>
          <a:xfrm>
            <a:off x="11744325" y="2639318"/>
            <a:ext cx="9525" cy="3243263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8"/>
          <p:cNvSpPr/>
          <p:nvPr/>
        </p:nvSpPr>
        <p:spPr>
          <a:xfrm>
            <a:off x="6905625" y="3010793"/>
            <a:ext cx="4924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450"/>
              <a:buFont typeface="Lora"/>
              <a:buNone/>
            </a:pPr>
            <a:r>
              <a:rPr b="1" i="1" lang="en-US" sz="34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Zeus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6905625" y="3648968"/>
            <a:ext cx="49244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D1E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B08D1E"/>
                </a:solidFill>
                <a:latin typeface="Inter"/>
                <a:ea typeface="Inter"/>
                <a:cs typeface="Inter"/>
                <a:sym typeface="Inter"/>
              </a:rPr>
              <a:t>THE JUDGE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6905625" y="4063305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King of the gods; upholder of justice and of xenia; he holds the balance of fate.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12077700" y="2639318"/>
            <a:ext cx="5219700" cy="3243263"/>
          </a:xfrm>
          <a:prstGeom prst="roundRect">
            <a:avLst>
              <a:gd fmla="val 46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8"/>
          <p:cNvSpPr/>
          <p:nvPr/>
        </p:nvSpPr>
        <p:spPr>
          <a:xfrm>
            <a:off x="12077700" y="5873055"/>
            <a:ext cx="52197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12077700" y="2639318"/>
            <a:ext cx="5219700" cy="4762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8"/>
          <p:cNvSpPr/>
          <p:nvPr/>
        </p:nvSpPr>
        <p:spPr>
          <a:xfrm>
            <a:off x="12077700" y="2639318"/>
            <a:ext cx="9525" cy="3243263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8"/>
          <p:cNvSpPr/>
          <p:nvPr/>
        </p:nvSpPr>
        <p:spPr>
          <a:xfrm>
            <a:off x="17287875" y="2639318"/>
            <a:ext cx="9525" cy="3243263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8"/>
          <p:cNvSpPr/>
          <p:nvPr/>
        </p:nvSpPr>
        <p:spPr>
          <a:xfrm>
            <a:off x="12449175" y="3010793"/>
            <a:ext cx="4924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450"/>
              <a:buFont typeface="Lora"/>
              <a:buNone/>
            </a:pPr>
            <a:r>
              <a:rPr b="1" i="1" lang="en-US" sz="34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Poseidon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12449175" y="3648968"/>
            <a:ext cx="49244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ENEMY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2449175" y="4063305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God of the sea, father of the blinded Cyclops; his anger keeps the hero from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990600" y="9534525"/>
            <a:ext cx="23343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4 · The gods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5" name="Google Shape;715;p2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9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9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Fate, the gods, and human responsibility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9"/>
          <p:cNvSpPr/>
          <p:nvPr/>
        </p:nvSpPr>
        <p:spPr>
          <a:xfrm>
            <a:off x="990600" y="1910655"/>
            <a:ext cx="16344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The poem opens on Olympus, and Zeus's first speech sets the terms of the whole work. He points to Aegisthus: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9"/>
          <p:cNvSpPr/>
          <p:nvPr/>
        </p:nvSpPr>
        <p:spPr>
          <a:xfrm>
            <a:off x="990600" y="2639318"/>
            <a:ext cx="4876800" cy="2062163"/>
          </a:xfrm>
          <a:prstGeom prst="roundRect">
            <a:avLst>
              <a:gd fmla="val 739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9"/>
          <p:cNvSpPr/>
          <p:nvPr/>
        </p:nvSpPr>
        <p:spPr>
          <a:xfrm>
            <a:off x="1343025" y="2934593"/>
            <a:ext cx="458914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WARNED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9"/>
          <p:cNvSpPr/>
          <p:nvPr/>
        </p:nvSpPr>
        <p:spPr>
          <a:xfrm>
            <a:off x="1343025" y="3291780"/>
            <a:ext cx="429710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gods sent Hermes to warn him: do not kill Agamemnon, do not court Clytemnestra.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6076950" y="3417987"/>
            <a:ext cx="50292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Inter"/>
              <a:buNone/>
            </a:pPr>
            <a:r>
              <a:rPr b="0" i="0" lang="en-US" sz="3300" u="none" cap="none" strike="noStrike">
                <a:solidFill>
                  <a:srgbClr val="C2C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6705600" y="2639318"/>
            <a:ext cx="4876800" cy="2062163"/>
          </a:xfrm>
          <a:prstGeom prst="roundRect">
            <a:avLst>
              <a:gd fmla="val 739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9"/>
          <p:cNvSpPr/>
          <p:nvPr/>
        </p:nvSpPr>
        <p:spPr>
          <a:xfrm>
            <a:off x="7058025" y="2934593"/>
            <a:ext cx="458914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CHOSE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9"/>
          <p:cNvSpPr/>
          <p:nvPr/>
        </p:nvSpPr>
        <p:spPr>
          <a:xfrm>
            <a:off x="7058025" y="3291780"/>
            <a:ext cx="429710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did both anyway — freely, knowingly, against the warning.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11791950" y="3417987"/>
            <a:ext cx="50292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Inter"/>
              <a:buNone/>
            </a:pPr>
            <a:r>
              <a:rPr b="0" i="0" lang="en-US" sz="3300" u="none" cap="none" strike="noStrike">
                <a:solidFill>
                  <a:srgbClr val="C2C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12420600" y="2639318"/>
            <a:ext cx="4876800" cy="2062163"/>
          </a:xfrm>
          <a:prstGeom prst="roundRect">
            <a:avLst>
              <a:gd fmla="val 739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9"/>
          <p:cNvSpPr/>
          <p:nvPr/>
        </p:nvSpPr>
        <p:spPr>
          <a:xfrm>
            <a:off x="12773025" y="2934593"/>
            <a:ext cx="458914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PUNISHED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9"/>
          <p:cNvSpPr/>
          <p:nvPr/>
        </p:nvSpPr>
        <p:spPr>
          <a:xfrm>
            <a:off x="12773025" y="3291780"/>
            <a:ext cx="429710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Orestes killed him. His ruin was his own doing — beyond his fated share.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9"/>
          <p:cNvSpPr/>
          <p:nvPr/>
        </p:nvSpPr>
        <p:spPr>
          <a:xfrm>
            <a:off x="990600" y="5006280"/>
            <a:ext cx="16306800" cy="1663005"/>
          </a:xfrm>
          <a:prstGeom prst="roundRect">
            <a:avLst>
              <a:gd fmla="val 801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1390650" y="5272980"/>
            <a:ext cx="1705737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ZEUS'S COMPLAINT — THE POEM'S MORAL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9"/>
          <p:cNvSpPr/>
          <p:nvPr/>
        </p:nvSpPr>
        <p:spPr>
          <a:xfrm>
            <a:off x="1390650" y="5601593"/>
            <a:ext cx="15971901" cy="8390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6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Lora"/>
              <a:buNone/>
            </a:pPr>
            <a:r>
              <a:rPr b="0" i="1" lang="en-US" sz="21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Mortals blame the gods for their sufferings, yet they bring ruin on themselves, beyond their fated share, by their own recklessness. The gods may warn — but humans choose, and are responsible. Fate sets the limits; human folly does the rest.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9"/>
          <p:cNvSpPr/>
          <p:nvPr/>
        </p:nvSpPr>
        <p:spPr>
          <a:xfrm>
            <a:off x="990600" y="9534525"/>
            <a:ext cx="23343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4 · The gods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0" name="Google Shape;740;p2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0"/>
          <p:cNvSpPr/>
          <p:nvPr/>
        </p:nvSpPr>
        <p:spPr>
          <a:xfrm>
            <a:off x="990600" y="666750"/>
            <a:ext cx="2919771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39967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gods at work in Books 1–4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990600" y="335942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990600" y="2349773"/>
            <a:ext cx="29337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council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0"/>
          <p:cNvSpPr/>
          <p:nvPr/>
        </p:nvSpPr>
        <p:spPr>
          <a:xfrm>
            <a:off x="4000500" y="2359298"/>
            <a:ext cx="1369580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 pleads Odysseus's case, and the gods set the plot moving — while Poseidon is away among the Ethiopians (Book 1).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990600" y="422143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0"/>
          <p:cNvSpPr/>
          <p:nvPr/>
        </p:nvSpPr>
        <p:spPr>
          <a:xfrm>
            <a:off x="990600" y="3597548"/>
            <a:ext cx="29337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Disguise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4000500" y="3607073"/>
            <a:ext cx="1205722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 acts as Mentes, then Mentor — guiding Telemachus without ever revealing herself.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0"/>
          <p:cNvSpPr/>
          <p:nvPr/>
        </p:nvSpPr>
        <p:spPr>
          <a:xfrm>
            <a:off x="990600" y="546921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990600" y="4459560"/>
            <a:ext cx="29337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 push, not a fix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4000500" y="4469085"/>
            <a:ext cx="1369580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does not solve his problems: she gives him courage and a push, but he must act for himself — the assembly, the voyage.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990600" y="5707335"/>
            <a:ext cx="29337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model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0"/>
          <p:cNvSpPr/>
          <p:nvPr/>
        </p:nvSpPr>
        <p:spPr>
          <a:xfrm>
            <a:off x="4000500" y="5716860"/>
            <a:ext cx="1387049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Orestes story is pressed on Telemachus by Athene and Nestor — righteous action the gods reward.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0"/>
          <p:cNvSpPr/>
          <p:nvPr/>
        </p:nvSpPr>
        <p:spPr>
          <a:xfrm>
            <a:off x="990600" y="9534525"/>
            <a:ext cx="23343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4 · The gods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1" name="Google Shape;761;p3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1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1"/>
          <p:cNvSpPr/>
          <p:nvPr/>
        </p:nvSpPr>
        <p:spPr>
          <a:xfrm>
            <a:off x="990600" y="1271588"/>
            <a:ext cx="6915150" cy="6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408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350"/>
              <a:buFont typeface="Lora"/>
              <a:buNone/>
            </a:pPr>
            <a:r>
              <a:rPr b="1" i="1" lang="en-US" sz="43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Applying the paradigm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990600" y="2172965"/>
            <a:ext cx="6475095" cy="10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98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"Those who are warned yet persist bring their ruin on themselves."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990600" y="3460626"/>
            <a:ext cx="647509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It shapes how we judge everyone: suffering is not simply 'fate' — recklessness earns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8134350" y="3364706"/>
            <a:ext cx="9163050" cy="180975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1"/>
          <p:cNvSpPr/>
          <p:nvPr/>
        </p:nvSpPr>
        <p:spPr>
          <a:xfrm>
            <a:off x="8505825" y="3659981"/>
            <a:ext cx="178968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suitors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14915108" y="3788569"/>
            <a:ext cx="221189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HAPPENING NOW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8505825" y="4136231"/>
            <a:ext cx="8672703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Warned by omens and by Telemachus — yet they persist, so their fall will be presented as just.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8134350" y="5422106"/>
            <a:ext cx="9163050" cy="180975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1"/>
          <p:cNvSpPr/>
          <p:nvPr/>
        </p:nvSpPr>
        <p:spPr>
          <a:xfrm>
            <a:off x="8505825" y="5717381"/>
            <a:ext cx="143770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crew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14620875" y="5845969"/>
            <a:ext cx="25355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TO COME · BOOK 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8505825" y="6193631"/>
            <a:ext cx="8672703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clearest later example: they eat the cattle of the Sun after being warned.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990600" y="9534525"/>
            <a:ext cx="23343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4 · The gods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1" name="Google Shape;781;p3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2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2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990600" y="2100263"/>
            <a:ext cx="5232350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1343025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2"/>
          <p:cNvSpPr/>
          <p:nvPr/>
        </p:nvSpPr>
        <p:spPr>
          <a:xfrm>
            <a:off x="1476375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council of the gods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 pleads; Zeus answers by framing human responsibility. The gods move the plot, but insist mortals author their own ruin.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6527750" y="2100263"/>
            <a:ext cx="5232425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6880175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"/>
          <p:cNvSpPr/>
          <p:nvPr/>
        </p:nvSpPr>
        <p:spPr>
          <a:xfrm>
            <a:off x="7013525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Poseidon away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2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is feasting among the Ethiopians, which is why the other gods can act now. Divine anger and divine timing both shape events.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12064975" y="2100263"/>
            <a:ext cx="5232350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2"/>
          <p:cNvSpPr/>
          <p:nvPr/>
        </p:nvSpPr>
        <p:spPr>
          <a:xfrm>
            <a:off x="12417400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2"/>
          <p:cNvSpPr/>
          <p:nvPr/>
        </p:nvSpPr>
        <p:spPr>
          <a:xfrm>
            <a:off x="12550750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2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Gods in disguise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2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 works as Mentes, then Mentor — divine help is often hidden. How you treat a stranger may be how you treat a god.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2"/>
          <p:cNvSpPr/>
          <p:nvPr/>
        </p:nvSpPr>
        <p:spPr>
          <a:xfrm>
            <a:off x="990600" y="9534525"/>
            <a:ext cx="23343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4 · The gods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6" name="Google Shape;806;p3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3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3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3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Describe Athene, Zeus and Poseidon and their roles.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3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the Orestes paradigm and its view of choice.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/>
          <p:nvPr/>
        </p:nvSpPr>
        <p:spPr>
          <a:xfrm>
            <a:off x="7543800" y="2907060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3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DESCRIBE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3"/>
          <p:cNvSpPr/>
          <p:nvPr/>
        </p:nvSpPr>
        <p:spPr>
          <a:xfrm>
            <a:off x="9544050" y="2324621"/>
            <a:ext cx="6076295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One line each on Athene, Zeus and Poseidon.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3"/>
          <p:cNvSpPr/>
          <p:nvPr/>
        </p:nvSpPr>
        <p:spPr>
          <a:xfrm>
            <a:off x="7543800" y="4081463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3"/>
          <p:cNvSpPr/>
          <p:nvPr/>
        </p:nvSpPr>
        <p:spPr>
          <a:xfrm>
            <a:off x="7543800" y="3197572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/>
          <p:nvPr/>
        </p:nvSpPr>
        <p:spPr>
          <a:xfrm>
            <a:off x="9544050" y="3126135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does the Aegisthus example tell us about fate and choice?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3"/>
          <p:cNvSpPr/>
          <p:nvPr/>
        </p:nvSpPr>
        <p:spPr>
          <a:xfrm>
            <a:off x="7543800" y="43719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9544050" y="4300538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'In the Odyssey, humans, not the gods, are responsible for their suffering.'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far, using Books 1–4?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990600" y="9534525"/>
            <a:ext cx="23343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4 · The gods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1" name="Google Shape;831;p3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8" name="Google Shape;8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34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4"/>
          <p:cNvSpPr/>
          <p:nvPr/>
        </p:nvSpPr>
        <p:spPr>
          <a:xfrm>
            <a:off x="16159311" y="609600"/>
            <a:ext cx="680889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4"/>
          <p:cNvSpPr/>
          <p:nvPr/>
        </p:nvSpPr>
        <p:spPr>
          <a:xfrm>
            <a:off x="1524000" y="3175248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5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4"/>
          <p:cNvSpPr/>
          <p:nvPr/>
        </p:nvSpPr>
        <p:spPr>
          <a:xfrm>
            <a:off x="1524000" y="3756273"/>
            <a:ext cx="16764000" cy="13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Mētis</a:t>
            </a:r>
            <a:r>
              <a:rPr b="1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b="0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cunning intelligence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4"/>
          <p:cNvSpPr/>
          <p:nvPr/>
        </p:nvSpPr>
        <p:spPr>
          <a:xfrm>
            <a:off x="1524000" y="5628829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15240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4"/>
          <p:cNvSpPr/>
          <p:nvPr/>
        </p:nvSpPr>
        <p:spPr>
          <a:xfrm>
            <a:off x="15240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mētis as Odysseus's defining quality, set against biē (force).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4"/>
          <p:cNvSpPr/>
          <p:nvPr/>
        </p:nvSpPr>
        <p:spPr>
          <a:xfrm>
            <a:off x="93345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9334500" y="6338441"/>
            <a:ext cx="775335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mētis; predict where cunning will matter.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8" name="Google Shape;848;p3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5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5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990600" y="2511251"/>
            <a:ext cx="771144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29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8250"/>
              <a:buFont typeface="Lora"/>
              <a:buNone/>
            </a:pPr>
            <a:r>
              <a:rPr b="1" i="1" lang="en-US" sz="8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mētis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5"/>
          <p:cNvSpPr/>
          <p:nvPr/>
        </p:nvSpPr>
        <p:spPr>
          <a:xfrm>
            <a:off x="990600" y="3635201"/>
            <a:ext cx="771144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550"/>
              <a:buFont typeface="Lora"/>
              <a:buNone/>
            </a:pPr>
            <a:r>
              <a:rPr b="0" i="1" lang="en-US" sz="25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μῆτις · cunning intelligence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/>
          <p:nvPr/>
        </p:nvSpPr>
        <p:spPr>
          <a:xfrm>
            <a:off x="990600" y="4297189"/>
            <a:ext cx="7220712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Resourcefulness, craft, adaptability — the skill of thinking your way out of danger. Not a trick Odysseus uses, but the core of who he is.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5"/>
          <p:cNvSpPr/>
          <p:nvPr/>
        </p:nvSpPr>
        <p:spPr>
          <a:xfrm>
            <a:off x="990600" y="5740226"/>
            <a:ext cx="4249936" cy="538163"/>
          </a:xfrm>
          <a:prstGeom prst="roundRect">
            <a:avLst>
              <a:gd fmla="val 50000" name="adj"/>
            </a:avLst>
          </a:prstGeom>
          <a:solidFill>
            <a:srgbClr val="1A6FFF">
              <a:alpha val="7843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5"/>
          <p:cNvSpPr/>
          <p:nvPr/>
        </p:nvSpPr>
        <p:spPr>
          <a:xfrm>
            <a:off x="1247775" y="5864051"/>
            <a:ext cx="386308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800"/>
              <a:buFont typeface="Lora"/>
              <a:buNone/>
            </a:pPr>
            <a:r>
              <a:rPr b="1" i="1" lang="en-US" sz="18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polytropos </a:t>
            </a:r>
            <a:r>
              <a:rPr b="0" i="0" lang="en-US" sz="1800" u="none" cap="none" strike="noStrike">
                <a:solidFill>
                  <a:srgbClr val="0D1433"/>
                </a:solidFill>
                <a:highlight>
                  <a:srgbClr val="EDF3FF"/>
                </a:highlight>
                <a:latin typeface="Inter"/>
                <a:ea typeface="Inter"/>
                <a:cs typeface="Inter"/>
                <a:sym typeface="Inter"/>
              </a:rPr>
              <a:t>· the man of many turns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/>
          <p:nvPr/>
        </p:nvSpPr>
        <p:spPr>
          <a:xfrm>
            <a:off x="990600" y="6430789"/>
            <a:ext cx="3227189" cy="538163"/>
          </a:xfrm>
          <a:prstGeom prst="roundRect">
            <a:avLst>
              <a:gd fmla="val 50000" name="adj"/>
            </a:avLst>
          </a:prstGeom>
          <a:solidFill>
            <a:srgbClr val="1A6FFF">
              <a:alpha val="7843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5"/>
          <p:cNvSpPr/>
          <p:nvPr/>
        </p:nvSpPr>
        <p:spPr>
          <a:xfrm>
            <a:off x="1247775" y="6554614"/>
            <a:ext cx="280965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800"/>
              <a:buFont typeface="Lora"/>
              <a:buNone/>
            </a:pPr>
            <a:r>
              <a:rPr b="1" i="1" lang="en-US" sz="18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polymētis </a:t>
            </a:r>
            <a:r>
              <a:rPr b="0" i="0" lang="en-US" sz="1800" u="none" cap="none" strike="noStrike">
                <a:solidFill>
                  <a:srgbClr val="0D1433"/>
                </a:solidFill>
                <a:highlight>
                  <a:srgbClr val="EDF3FF"/>
                </a:highlight>
                <a:latin typeface="Inter"/>
                <a:ea typeface="Inter"/>
                <a:cs typeface="Inter"/>
                <a:sym typeface="Inter"/>
              </a:rPr>
              <a:t>· of many wiles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5"/>
          <p:cNvSpPr/>
          <p:nvPr/>
        </p:nvSpPr>
        <p:spPr>
          <a:xfrm>
            <a:off x="9139238" y="2854151"/>
            <a:ext cx="9525" cy="1619250"/>
          </a:xfrm>
          <a:prstGeom prst="rect">
            <a:avLst/>
          </a:prstGeom>
          <a:solidFill>
            <a:srgbClr val="0D143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5"/>
          <p:cNvSpPr/>
          <p:nvPr/>
        </p:nvSpPr>
        <p:spPr>
          <a:xfrm>
            <a:off x="8959751" y="4606751"/>
            <a:ext cx="4446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VS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5"/>
          <p:cNvSpPr/>
          <p:nvPr/>
        </p:nvSpPr>
        <p:spPr>
          <a:xfrm>
            <a:off x="9139238" y="5006801"/>
            <a:ext cx="9525" cy="1619250"/>
          </a:xfrm>
          <a:prstGeom prst="rect">
            <a:avLst/>
          </a:prstGeom>
          <a:solidFill>
            <a:srgbClr val="0D143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5"/>
          <p:cNvSpPr/>
          <p:nvPr/>
        </p:nvSpPr>
        <p:spPr>
          <a:xfrm>
            <a:off x="10287000" y="3268489"/>
            <a:ext cx="771144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292"/>
              </a:lnSpc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8250"/>
              <a:buFont typeface="Lora"/>
              <a:buNone/>
            </a:pPr>
            <a:r>
              <a:rPr b="1" i="1" lang="en-US" sz="82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biē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5"/>
          <p:cNvSpPr/>
          <p:nvPr/>
        </p:nvSpPr>
        <p:spPr>
          <a:xfrm>
            <a:off x="10287000" y="4392439"/>
            <a:ext cx="771144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ADC0"/>
              </a:buClr>
              <a:buSzPts val="2550"/>
              <a:buFont typeface="Lora"/>
              <a:buNone/>
            </a:pPr>
            <a:r>
              <a:rPr b="0" i="1" lang="en-US" sz="2550" u="none" cap="none" strike="noStrike">
                <a:solidFill>
                  <a:srgbClr val="A8ADC0"/>
                </a:solidFill>
                <a:latin typeface="Lora"/>
                <a:ea typeface="Lora"/>
                <a:cs typeface="Lora"/>
                <a:sym typeface="Lora"/>
              </a:rPr>
              <a:t>βίη · brute force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5"/>
          <p:cNvSpPr/>
          <p:nvPr/>
        </p:nvSpPr>
        <p:spPr>
          <a:xfrm>
            <a:off x="10287000" y="5054426"/>
            <a:ext cx="7220712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Strength, violence, the direct assault — the defining quality of Achilles and the heroes of the Iliad. Ten years of biē could not take Troy; one night of mētis did.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5"/>
          <p:cNvSpPr/>
          <p:nvPr/>
        </p:nvSpPr>
        <p:spPr>
          <a:xfrm>
            <a:off x="990600" y="8494440"/>
            <a:ext cx="16306800" cy="830535"/>
          </a:xfrm>
          <a:prstGeom prst="roundRect">
            <a:avLst>
              <a:gd fmla="val 1605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5"/>
          <p:cNvSpPr/>
          <p:nvPr/>
        </p:nvSpPr>
        <p:spPr>
          <a:xfrm>
            <a:off x="1371600" y="8808765"/>
            <a:ext cx="2953509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DEFINITION TO KEEP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5"/>
          <p:cNvSpPr/>
          <p:nvPr/>
        </p:nvSpPr>
        <p:spPr>
          <a:xfrm>
            <a:off x="4361408" y="8723040"/>
            <a:ext cx="11712863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Mētis = cunning and resourcefulness. Biē = brute strength. Odysseus is the hero of mētis.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5"/>
          <p:cNvSpPr/>
          <p:nvPr/>
        </p:nvSpPr>
        <p:spPr>
          <a:xfrm>
            <a:off x="990600" y="9534525"/>
            <a:ext cx="193170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5 · Mētis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3" name="Google Shape;873;p3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6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6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6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new kind of hero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6"/>
          <p:cNvSpPr/>
          <p:nvPr/>
        </p:nvSpPr>
        <p:spPr>
          <a:xfrm>
            <a:off x="990600" y="2121173"/>
            <a:ext cx="7962900" cy="2847975"/>
          </a:xfrm>
          <a:prstGeom prst="roundRect">
            <a:avLst>
              <a:gd fmla="val 535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1400175" y="2454548"/>
            <a:ext cx="78581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ILIAD'S HERO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6"/>
          <p:cNvSpPr/>
          <p:nvPr/>
        </p:nvSpPr>
        <p:spPr>
          <a:xfrm>
            <a:off x="1400175" y="2806973"/>
            <a:ext cx="78581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Achilles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6"/>
          <p:cNvSpPr/>
          <p:nvPr/>
        </p:nvSpPr>
        <p:spPr>
          <a:xfrm>
            <a:off x="1400175" y="3478485"/>
            <a:ext cx="7358063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Defined by biē — unmatched force. Wins by courage and strength on the battlefield; chooses a short life with undying fame.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6"/>
          <p:cNvSpPr/>
          <p:nvPr/>
        </p:nvSpPr>
        <p:spPr>
          <a:xfrm>
            <a:off x="9334500" y="2121173"/>
            <a:ext cx="7962900" cy="2847975"/>
          </a:xfrm>
          <a:prstGeom prst="roundRect">
            <a:avLst>
              <a:gd fmla="val 5351" name="adj"/>
            </a:avLst>
          </a:prstGeom>
          <a:solidFill>
            <a:srgbClr val="FFFFFF"/>
          </a:solidFill>
          <a:ln cap="flat" cmpd="sng" w="9525">
            <a:solidFill>
              <a:srgbClr val="1A6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1A6FF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6"/>
          <p:cNvSpPr/>
          <p:nvPr/>
        </p:nvSpPr>
        <p:spPr>
          <a:xfrm>
            <a:off x="9744075" y="2454548"/>
            <a:ext cx="78581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ODYSSEY'S HERO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6"/>
          <p:cNvSpPr/>
          <p:nvPr/>
        </p:nvSpPr>
        <p:spPr>
          <a:xfrm>
            <a:off x="9744075" y="2806973"/>
            <a:ext cx="78581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Odysseus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6"/>
          <p:cNvSpPr/>
          <p:nvPr/>
        </p:nvSpPr>
        <p:spPr>
          <a:xfrm>
            <a:off x="9744075" y="3478485"/>
            <a:ext cx="7358063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His deliberate opposite: defined by mind. Wins by planning, patience, disguise and lies — a more modern-seeming hero.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6"/>
          <p:cNvSpPr/>
          <p:nvPr/>
        </p:nvSpPr>
        <p:spPr>
          <a:xfrm>
            <a:off x="990600" y="5254898"/>
            <a:ext cx="79629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6"/>
          <p:cNvSpPr/>
          <p:nvPr/>
        </p:nvSpPr>
        <p:spPr>
          <a:xfrm>
            <a:off x="990600" y="5473973"/>
            <a:ext cx="875919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Morally double-edged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6"/>
          <p:cNvSpPr/>
          <p:nvPr/>
        </p:nvSpPr>
        <p:spPr>
          <a:xfrm>
            <a:off x="990600" y="5883548"/>
            <a:ext cx="820178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same cleverness that saves him also makes him a liar and a deceiver — and the poem does not hide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6"/>
          <p:cNvSpPr/>
          <p:nvPr/>
        </p:nvSpPr>
        <p:spPr>
          <a:xfrm>
            <a:off x="9334500" y="5254898"/>
            <a:ext cx="79629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9334500" y="5473973"/>
            <a:ext cx="875919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His patron fits him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6"/>
          <p:cNvSpPr/>
          <p:nvPr/>
        </p:nvSpPr>
        <p:spPr>
          <a:xfrm>
            <a:off x="9334500" y="5883548"/>
            <a:ext cx="820178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Athene, goddess of craft, is drawn to Odysseus precisely because they share this cunning.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6"/>
          <p:cNvSpPr/>
          <p:nvPr/>
        </p:nvSpPr>
        <p:spPr>
          <a:xfrm>
            <a:off x="990600" y="9534525"/>
            <a:ext cx="193170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5 · Mētis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7" name="Google Shape;897;p3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7"/>
          <p:cNvSpPr/>
          <p:nvPr/>
        </p:nvSpPr>
        <p:spPr>
          <a:xfrm>
            <a:off x="990600" y="666750"/>
            <a:ext cx="2919771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7"/>
          <p:cNvSpPr/>
          <p:nvPr/>
        </p:nvSpPr>
        <p:spPr>
          <a:xfrm>
            <a:off x="39967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7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Cunning in Books 1–4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7"/>
          <p:cNvSpPr/>
          <p:nvPr/>
        </p:nvSpPr>
        <p:spPr>
          <a:xfrm>
            <a:off x="990600" y="296413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7"/>
          <p:cNvSpPr/>
          <p:nvPr/>
        </p:nvSpPr>
        <p:spPr>
          <a:xfrm>
            <a:off x="990600" y="2440260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7"/>
          <p:cNvSpPr/>
          <p:nvPr/>
        </p:nvSpPr>
        <p:spPr>
          <a:xfrm>
            <a:off x="2952750" y="2349773"/>
            <a:ext cx="1230459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proem announces mētis before we meet him: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is named for his wits, not his strength.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7"/>
          <p:cNvSpPr/>
          <p:nvPr/>
        </p:nvSpPr>
        <p:spPr>
          <a:xfrm>
            <a:off x="990600" y="420238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7"/>
          <p:cNvSpPr/>
          <p:nvPr/>
        </p:nvSpPr>
        <p:spPr>
          <a:xfrm>
            <a:off x="990600" y="3292748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7"/>
          <p:cNvSpPr/>
          <p:nvPr/>
        </p:nvSpPr>
        <p:spPr>
          <a:xfrm>
            <a:off x="2952750" y="3202260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His fame is a fame for cunning: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Sparta the story told of him is the Wooden Horse — the trick that took Troy where ten years of force could not.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7"/>
          <p:cNvSpPr/>
          <p:nvPr/>
        </p:nvSpPr>
        <p:spPr>
          <a:xfrm>
            <a:off x="990600" y="544063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7"/>
          <p:cNvSpPr/>
          <p:nvPr/>
        </p:nvSpPr>
        <p:spPr>
          <a:xfrm>
            <a:off x="990600" y="4530998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7"/>
          <p:cNvSpPr/>
          <p:nvPr/>
        </p:nvSpPr>
        <p:spPr>
          <a:xfrm>
            <a:off x="2952750" y="4440510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Helen's tale shows it directly: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once disguised himself as a beggar to slip into Troy as a spy — a foretaste of the disguises to come.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7"/>
          <p:cNvSpPr/>
          <p:nvPr/>
        </p:nvSpPr>
        <p:spPr>
          <a:xfrm>
            <a:off x="990600" y="5769248"/>
            <a:ext cx="1781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1–4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7"/>
          <p:cNvSpPr/>
          <p:nvPr/>
        </p:nvSpPr>
        <p:spPr>
          <a:xfrm>
            <a:off x="2952750" y="5678760"/>
            <a:ext cx="1477498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Athene, cunning herself,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chooses Odysseus and his son — and begins teaching Telemachus to be shrewd, and to keep his plans from the suitors.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7"/>
          <p:cNvSpPr/>
          <p:nvPr/>
        </p:nvSpPr>
        <p:spPr>
          <a:xfrm>
            <a:off x="990600" y="9534525"/>
            <a:ext cx="193170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5 · Mētis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8" name="Google Shape;918;p3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5" name="Google Shape;9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8"/>
          <p:cNvSpPr/>
          <p:nvPr/>
        </p:nvSpPr>
        <p:spPr>
          <a:xfrm>
            <a:off x="990600" y="666750"/>
            <a:ext cx="1320403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8"/>
          <p:cNvSpPr/>
          <p:nvPr/>
        </p:nvSpPr>
        <p:spPr>
          <a:xfrm>
            <a:off x="2406253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8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Where cunning will win the day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8"/>
          <p:cNvSpPr/>
          <p:nvPr/>
        </p:nvSpPr>
        <p:spPr>
          <a:xfrm>
            <a:off x="990600" y="1930673"/>
            <a:ext cx="146685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proem makes mētis the hero's signature; the rest of the poem will keep proving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8"/>
          <p:cNvSpPr/>
          <p:nvPr/>
        </p:nvSpPr>
        <p:spPr>
          <a:xfrm>
            <a:off x="990600" y="2849835"/>
            <a:ext cx="5308550" cy="19050"/>
          </a:xfrm>
          <a:prstGeom prst="rect">
            <a:avLst/>
          </a:prstGeom>
          <a:solidFill>
            <a:srgbClr val="5E9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8"/>
          <p:cNvSpPr/>
          <p:nvPr/>
        </p:nvSpPr>
        <p:spPr>
          <a:xfrm>
            <a:off x="990600" y="3154635"/>
            <a:ext cx="54203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TO COME · BOOK 9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8"/>
          <p:cNvSpPr/>
          <p:nvPr/>
        </p:nvSpPr>
        <p:spPr>
          <a:xfrm>
            <a:off x="990600" y="3511823"/>
            <a:ext cx="5420305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'Nobody'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8"/>
          <p:cNvSpPr/>
          <p:nvPr/>
        </p:nvSpPr>
        <p:spPr>
          <a:xfrm>
            <a:off x="990600" y="4069035"/>
            <a:ext cx="542030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Cyclops, and the trick of the name.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8"/>
          <p:cNvSpPr/>
          <p:nvPr/>
        </p:nvSpPr>
        <p:spPr>
          <a:xfrm>
            <a:off x="6299150" y="2849835"/>
            <a:ext cx="5689625" cy="19050"/>
          </a:xfrm>
          <a:prstGeom prst="rect">
            <a:avLst/>
          </a:prstGeom>
          <a:solidFill>
            <a:srgbClr val="5E9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8"/>
          <p:cNvSpPr/>
          <p:nvPr/>
        </p:nvSpPr>
        <p:spPr>
          <a:xfrm>
            <a:off x="6680150" y="3154635"/>
            <a:ext cx="542038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TO COME · BOOKS 13 →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6680150" y="3511823"/>
            <a:ext cx="5420387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beggar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8"/>
          <p:cNvSpPr/>
          <p:nvPr/>
        </p:nvSpPr>
        <p:spPr>
          <a:xfrm>
            <a:off x="6680150" y="4069035"/>
            <a:ext cx="507545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disguise on Ithaca that unlocks the homecoming.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8"/>
          <p:cNvSpPr/>
          <p:nvPr/>
        </p:nvSpPr>
        <p:spPr>
          <a:xfrm>
            <a:off x="11988775" y="2849835"/>
            <a:ext cx="5308625" cy="19050"/>
          </a:xfrm>
          <a:prstGeom prst="rect">
            <a:avLst/>
          </a:prstGeom>
          <a:solidFill>
            <a:srgbClr val="5E9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8"/>
          <p:cNvSpPr/>
          <p:nvPr/>
        </p:nvSpPr>
        <p:spPr>
          <a:xfrm>
            <a:off x="12369775" y="3154635"/>
            <a:ext cx="542038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TO COME · BOOKS 21–22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8"/>
          <p:cNvSpPr/>
          <p:nvPr/>
        </p:nvSpPr>
        <p:spPr>
          <a:xfrm>
            <a:off x="12369775" y="3511823"/>
            <a:ext cx="5420387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bow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8"/>
          <p:cNvSpPr/>
          <p:nvPr/>
        </p:nvSpPr>
        <p:spPr>
          <a:xfrm>
            <a:off x="12369775" y="4069035"/>
            <a:ext cx="507545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contest, and the outwitting of the suitors.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8"/>
          <p:cNvSpPr/>
          <p:nvPr/>
        </p:nvSpPr>
        <p:spPr>
          <a:xfrm>
            <a:off x="990600" y="8648254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8"/>
          <p:cNvSpPr/>
          <p:nvPr/>
        </p:nvSpPr>
        <p:spPr>
          <a:xfrm>
            <a:off x="990600" y="8943529"/>
            <a:ext cx="16796004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6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Lora"/>
              <a:buNone/>
            </a:pPr>
            <a:r>
              <a:rPr b="0" i="1" lang="en-US" sz="21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For now: notice that his reputation for cunning is fully established before he even appears.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8"/>
          <p:cNvSpPr/>
          <p:nvPr/>
        </p:nvSpPr>
        <p:spPr>
          <a:xfrm>
            <a:off x="990600" y="9534525"/>
            <a:ext cx="193170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5 · Mētis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5" name="Google Shape;945;p3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9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9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9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9"/>
          <p:cNvSpPr/>
          <p:nvPr/>
        </p:nvSpPr>
        <p:spPr>
          <a:xfrm>
            <a:off x="990600" y="2100263"/>
            <a:ext cx="5232350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9"/>
          <p:cNvSpPr/>
          <p:nvPr/>
        </p:nvSpPr>
        <p:spPr>
          <a:xfrm>
            <a:off x="1343025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9"/>
          <p:cNvSpPr/>
          <p:nvPr/>
        </p:nvSpPr>
        <p:spPr>
          <a:xfrm>
            <a:off x="1476375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9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defining epithets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9"/>
          <p:cNvSpPr/>
          <p:nvPr/>
        </p:nvSpPr>
        <p:spPr>
          <a:xfrm>
            <a:off x="1343025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proem names him the man 'of many turns', 'of many wiles'. His character is announced as cunning before we meet him.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9"/>
          <p:cNvSpPr/>
          <p:nvPr/>
        </p:nvSpPr>
        <p:spPr>
          <a:xfrm>
            <a:off x="6527750" y="2100263"/>
            <a:ext cx="5232425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9"/>
          <p:cNvSpPr/>
          <p:nvPr/>
        </p:nvSpPr>
        <p:spPr>
          <a:xfrm>
            <a:off x="6880175" y="2414588"/>
            <a:ext cx="1157288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9"/>
          <p:cNvSpPr/>
          <p:nvPr/>
        </p:nvSpPr>
        <p:spPr>
          <a:xfrm>
            <a:off x="7013525" y="2471738"/>
            <a:ext cx="9667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9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Cunning as fame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9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Wooden Horse and the beggar-spy story: force could not take Troy; wit did. His glory is specifically a glory of the mind.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9"/>
          <p:cNvSpPr/>
          <p:nvPr/>
        </p:nvSpPr>
        <p:spPr>
          <a:xfrm>
            <a:off x="12064975" y="2100263"/>
            <a:ext cx="5232350" cy="3071292"/>
          </a:xfrm>
          <a:prstGeom prst="roundRect">
            <a:avLst>
              <a:gd fmla="val 496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9"/>
          <p:cNvSpPr/>
          <p:nvPr/>
        </p:nvSpPr>
        <p:spPr>
          <a:xfrm>
            <a:off x="12417400" y="2414588"/>
            <a:ext cx="1537618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9"/>
          <p:cNvSpPr/>
          <p:nvPr/>
        </p:nvSpPr>
        <p:spPr>
          <a:xfrm>
            <a:off x="12550750" y="2471738"/>
            <a:ext cx="134711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1–4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9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goddess of craft as ally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9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Athene's partnership with Odysseus is built on shared cunning. She begins schooling Telemachus in shrewdness too.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9"/>
          <p:cNvSpPr/>
          <p:nvPr/>
        </p:nvSpPr>
        <p:spPr>
          <a:xfrm>
            <a:off x="990600" y="9534525"/>
            <a:ext cx="193170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5 · Mētis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0" name="Google Shape;970;p3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0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0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0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0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0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0"/>
          <p:cNvSpPr/>
          <p:nvPr/>
        </p:nvSpPr>
        <p:spPr>
          <a:xfrm>
            <a:off x="1390650" y="3507135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0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0"/>
          <p:cNvSpPr/>
          <p:nvPr/>
        </p:nvSpPr>
        <p:spPr>
          <a:xfrm>
            <a:off x="1758628" y="3019946"/>
            <a:ext cx="2823604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mētis and biē.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0"/>
          <p:cNvSpPr/>
          <p:nvPr/>
        </p:nvSpPr>
        <p:spPr>
          <a:xfrm>
            <a:off x="1390650" y="3659535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0"/>
          <p:cNvSpPr/>
          <p:nvPr/>
        </p:nvSpPr>
        <p:spPr>
          <a:xfrm>
            <a:off x="1758628" y="3630960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 where cunning will matter in the poem.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0"/>
          <p:cNvSpPr/>
          <p:nvPr/>
        </p:nvSpPr>
        <p:spPr>
          <a:xfrm>
            <a:off x="7543800" y="2907060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0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DEFINE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0"/>
          <p:cNvSpPr/>
          <p:nvPr/>
        </p:nvSpPr>
        <p:spPr>
          <a:xfrm>
            <a:off x="9544050" y="2324621"/>
            <a:ext cx="4818177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Mētis and biē in one sentence each.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0"/>
          <p:cNvSpPr/>
          <p:nvPr/>
        </p:nvSpPr>
        <p:spPr>
          <a:xfrm>
            <a:off x="7543800" y="3708574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0"/>
          <p:cNvSpPr/>
          <p:nvPr/>
        </p:nvSpPr>
        <p:spPr>
          <a:xfrm>
            <a:off x="7543800" y="3197572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0"/>
          <p:cNvSpPr/>
          <p:nvPr/>
        </p:nvSpPr>
        <p:spPr>
          <a:xfrm>
            <a:off x="9544050" y="3126135"/>
            <a:ext cx="7401371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is Odysseus a different kind of hero from Achilles?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0"/>
          <p:cNvSpPr/>
          <p:nvPr/>
        </p:nvSpPr>
        <p:spPr>
          <a:xfrm>
            <a:off x="7543800" y="399908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0"/>
          <p:cNvSpPr/>
          <p:nvPr/>
        </p:nvSpPr>
        <p:spPr>
          <a:xfrm>
            <a:off x="9544050" y="3927649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'Odysseus's cunning is as troubling as it is admirable.'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far, using the Telemachy?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0"/>
          <p:cNvSpPr/>
          <p:nvPr/>
        </p:nvSpPr>
        <p:spPr>
          <a:xfrm>
            <a:off x="990600" y="9534525"/>
            <a:ext cx="193170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5 · Mētis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5" name="Google Shape;995;p4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2" name="Google Shape;10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41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1"/>
          <p:cNvSpPr/>
          <p:nvPr/>
        </p:nvSpPr>
        <p:spPr>
          <a:xfrm>
            <a:off x="16123890" y="609600"/>
            <a:ext cx="71631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1"/>
          <p:cNvSpPr/>
          <p:nvPr/>
        </p:nvSpPr>
        <p:spPr>
          <a:xfrm>
            <a:off x="1524000" y="3204344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6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1524000" y="3785369"/>
            <a:ext cx="16764000" cy="12427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7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0"/>
              <a:buFont typeface="Lora"/>
              <a:buNone/>
            </a:pPr>
            <a:r>
              <a:rPr b="1" i="1" lang="en-US" sz="93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Disguise</a:t>
            </a:r>
            <a:r>
              <a:rPr b="1" i="1" lang="en-US" sz="9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-US" sz="93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recognition</a:t>
            </a:r>
            <a:endParaRPr b="0" i="0" sz="9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1"/>
          <p:cNvSpPr/>
          <p:nvPr/>
        </p:nvSpPr>
        <p:spPr>
          <a:xfrm>
            <a:off x="1524000" y="5599658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1"/>
          <p:cNvSpPr/>
          <p:nvPr/>
        </p:nvSpPr>
        <p:spPr>
          <a:xfrm>
            <a:off x="1524000" y="5952083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1"/>
          <p:cNvSpPr/>
          <p:nvPr/>
        </p:nvSpPr>
        <p:spPr>
          <a:xfrm>
            <a:off x="1524000" y="630927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disguise and recognition as a driving mechanism of the poem.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1"/>
          <p:cNvSpPr/>
          <p:nvPr/>
        </p:nvSpPr>
        <p:spPr>
          <a:xfrm>
            <a:off x="9334500" y="5952083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9334500" y="630927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a recognition scene and its token; explain how disguise creates dramatic irony.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2" name="Google Shape;1012;p41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2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2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2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pattern to hold on to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2"/>
          <p:cNvSpPr/>
          <p:nvPr/>
        </p:nvSpPr>
        <p:spPr>
          <a:xfrm>
            <a:off x="990600" y="2215455"/>
            <a:ext cx="4781550" cy="4953000"/>
          </a:xfrm>
          <a:prstGeom prst="roundRect">
            <a:avLst>
              <a:gd fmla="val 358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2"/>
          <p:cNvSpPr/>
          <p:nvPr/>
        </p:nvSpPr>
        <p:spPr>
          <a:xfrm>
            <a:off x="1419225" y="2605980"/>
            <a:ext cx="4316730" cy="671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900"/>
              <a:buFont typeface="Lora"/>
              <a:buNone/>
            </a:pPr>
            <a:r>
              <a:rPr b="1" i="1" lang="en-US" sz="39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Disguise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2"/>
          <p:cNvSpPr/>
          <p:nvPr/>
        </p:nvSpPr>
        <p:spPr>
          <a:xfrm>
            <a:off x="1419225" y="3410843"/>
            <a:ext cx="4042029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character hides their true identity — a god as a traveller, a king as a beggar.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2"/>
          <p:cNvSpPr/>
          <p:nvPr/>
        </p:nvSpPr>
        <p:spPr>
          <a:xfrm>
            <a:off x="1419225" y="6115050"/>
            <a:ext cx="404202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An expression of mētis: controlling what others know about you.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2"/>
          <p:cNvSpPr/>
          <p:nvPr/>
        </p:nvSpPr>
        <p:spPr>
          <a:xfrm>
            <a:off x="6019800" y="4391918"/>
            <a:ext cx="59436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900"/>
              <a:buFont typeface="Inter"/>
              <a:buNone/>
            </a:pPr>
            <a:r>
              <a:rPr b="0" i="0" lang="en-US" sz="3900" u="none" cap="none" strike="noStrike">
                <a:solidFill>
                  <a:srgbClr val="C2C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2"/>
          <p:cNvSpPr/>
          <p:nvPr/>
        </p:nvSpPr>
        <p:spPr>
          <a:xfrm>
            <a:off x="6762750" y="2215455"/>
            <a:ext cx="4781550" cy="4953000"/>
          </a:xfrm>
          <a:prstGeom prst="roundRect">
            <a:avLst>
              <a:gd fmla="val 358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2"/>
          <p:cNvSpPr/>
          <p:nvPr/>
        </p:nvSpPr>
        <p:spPr>
          <a:xfrm>
            <a:off x="7191375" y="2605980"/>
            <a:ext cx="4316730" cy="671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900"/>
              <a:buFont typeface="Lora"/>
              <a:buNone/>
            </a:pPr>
            <a:r>
              <a:rPr b="1" i="1" lang="en-US" sz="39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Token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2"/>
          <p:cNvSpPr/>
          <p:nvPr/>
        </p:nvSpPr>
        <p:spPr>
          <a:xfrm>
            <a:off x="7191375" y="3410843"/>
            <a:ext cx="4042029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proof of identity: a family likeness, a scar, a special object, or a shared secret.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2"/>
          <p:cNvSpPr/>
          <p:nvPr/>
        </p:nvSpPr>
        <p:spPr>
          <a:xfrm>
            <a:off x="7191375" y="6446490"/>
            <a:ext cx="4042029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Recognition usually turns on 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2"/>
          <p:cNvSpPr/>
          <p:nvPr/>
        </p:nvSpPr>
        <p:spPr>
          <a:xfrm>
            <a:off x="11791950" y="4391918"/>
            <a:ext cx="59436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900"/>
              <a:buFont typeface="Inter"/>
              <a:buNone/>
            </a:pPr>
            <a:r>
              <a:rPr b="0" i="0" lang="en-US" sz="3900" u="none" cap="none" strike="noStrike">
                <a:solidFill>
                  <a:srgbClr val="C2C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2"/>
          <p:cNvSpPr/>
          <p:nvPr/>
        </p:nvSpPr>
        <p:spPr>
          <a:xfrm>
            <a:off x="12534900" y="2215455"/>
            <a:ext cx="4762500" cy="4953000"/>
          </a:xfrm>
          <a:prstGeom prst="roundRect">
            <a:avLst>
              <a:gd fmla="val 3600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2"/>
          <p:cNvSpPr/>
          <p:nvPr/>
        </p:nvSpPr>
        <p:spPr>
          <a:xfrm>
            <a:off x="12954000" y="2596455"/>
            <a:ext cx="4316730" cy="671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900"/>
              <a:buFont typeface="Lora"/>
              <a:buNone/>
            </a:pPr>
            <a:r>
              <a:rPr b="1" i="1" lang="en-US" sz="39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2"/>
          <p:cNvSpPr/>
          <p:nvPr/>
        </p:nvSpPr>
        <p:spPr>
          <a:xfrm>
            <a:off x="12954000" y="3401318"/>
            <a:ext cx="404202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identity is discovered or revealed — Greek </a:t>
            </a:r>
            <a:r>
              <a:rPr b="0" i="1" lang="en-US" sz="20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anagnorisis</a:t>
            </a: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2"/>
          <p:cNvSpPr/>
          <p:nvPr/>
        </p:nvSpPr>
        <p:spPr>
          <a:xfrm>
            <a:off x="12954000" y="6124575"/>
            <a:ext cx="404202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poem's emotional peaks: reunion, revelation, relief.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2"/>
          <p:cNvSpPr/>
          <p:nvPr/>
        </p:nvSpPr>
        <p:spPr>
          <a:xfrm>
            <a:off x="990600" y="7492305"/>
            <a:ext cx="1793748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Together they form one of the poem's engines: it drives the whole second half, but it is already at work in Book 1.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2"/>
          <p:cNvSpPr/>
          <p:nvPr/>
        </p:nvSpPr>
        <p:spPr>
          <a:xfrm>
            <a:off x="990600" y="9534525"/>
            <a:ext cx="40486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6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7" name="Google Shape;1037;p4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3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3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3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disguise does for the poem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3"/>
          <p:cNvSpPr/>
          <p:nvPr/>
        </p:nvSpPr>
        <p:spPr>
          <a:xfrm>
            <a:off x="990600" y="2140223"/>
            <a:ext cx="8010525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3"/>
          <p:cNvSpPr/>
          <p:nvPr/>
        </p:nvSpPr>
        <p:spPr>
          <a:xfrm>
            <a:off x="1381125" y="245454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creates dramatic irony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3"/>
          <p:cNvSpPr/>
          <p:nvPr/>
        </p:nvSpPr>
        <p:spPr>
          <a:xfrm>
            <a:off x="1381125" y="294984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 know what the characters do not — which charges every scene with tension.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3"/>
          <p:cNvSpPr/>
          <p:nvPr/>
        </p:nvSpPr>
        <p:spPr>
          <a:xfrm>
            <a:off x="9286875" y="2140223"/>
            <a:ext cx="8010525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3"/>
          <p:cNvSpPr/>
          <p:nvPr/>
        </p:nvSpPr>
        <p:spPr>
          <a:xfrm>
            <a:off x="9677400" y="245454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makes recognition a reward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3"/>
          <p:cNvSpPr/>
          <p:nvPr/>
        </p:nvSpPr>
        <p:spPr>
          <a:xfrm>
            <a:off x="9677400" y="294984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Identity becomes a puzzle; recognition scenes become the poem's emotional peaks — reunion, revelation, relief.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3"/>
          <p:cNvSpPr/>
          <p:nvPr/>
        </p:nvSpPr>
        <p:spPr>
          <a:xfrm>
            <a:off x="990600" y="4292873"/>
            <a:ext cx="8010525" cy="223837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3"/>
          <p:cNvSpPr/>
          <p:nvPr/>
        </p:nvSpPr>
        <p:spPr>
          <a:xfrm>
            <a:off x="1381125" y="460719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tests character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3"/>
          <p:cNvSpPr/>
          <p:nvPr/>
        </p:nvSpPr>
        <p:spPr>
          <a:xfrm>
            <a:off x="1381125" y="5102498"/>
            <a:ext cx="744635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people treat a disguised or unknown figure exposes who they really are — linking straight back to xenia and theoxeny.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3"/>
          <p:cNvSpPr/>
          <p:nvPr/>
        </p:nvSpPr>
        <p:spPr>
          <a:xfrm>
            <a:off x="9286875" y="4292873"/>
            <a:ext cx="8010525" cy="223837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3"/>
          <p:cNvSpPr/>
          <p:nvPr/>
        </p:nvSpPr>
        <p:spPr>
          <a:xfrm>
            <a:off x="9677400" y="460719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suits this hero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3"/>
          <p:cNvSpPr/>
          <p:nvPr/>
        </p:nvSpPr>
        <p:spPr>
          <a:xfrm>
            <a:off x="9677400" y="5102498"/>
            <a:ext cx="744635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Disguise is an expression of mētis — Odysseus survives by controlling what others know about him.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3"/>
          <p:cNvSpPr/>
          <p:nvPr/>
        </p:nvSpPr>
        <p:spPr>
          <a:xfrm>
            <a:off x="990600" y="9534525"/>
            <a:ext cx="40486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6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9" name="Google Shape;1059;p4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4"/>
          <p:cNvSpPr/>
          <p:nvPr/>
        </p:nvSpPr>
        <p:spPr>
          <a:xfrm>
            <a:off x="990600" y="666750"/>
            <a:ext cx="2919771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4"/>
          <p:cNvSpPr/>
          <p:nvPr/>
        </p:nvSpPr>
        <p:spPr>
          <a:xfrm>
            <a:off x="39967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4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Disguise and token in Books 1–4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4"/>
          <p:cNvSpPr/>
          <p:nvPr/>
        </p:nvSpPr>
        <p:spPr>
          <a:xfrm>
            <a:off x="990600" y="2121173"/>
            <a:ext cx="16306800" cy="1648718"/>
          </a:xfrm>
          <a:prstGeom prst="roundRect">
            <a:avLst>
              <a:gd fmla="val 924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4"/>
          <p:cNvSpPr/>
          <p:nvPr/>
        </p:nvSpPr>
        <p:spPr>
          <a:xfrm>
            <a:off x="1381125" y="2483123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 · DIVINE DISGUISE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4"/>
          <p:cNvSpPr/>
          <p:nvPr/>
        </p:nvSpPr>
        <p:spPr>
          <a:xfrm>
            <a:off x="1381125" y="2792685"/>
            <a:ext cx="4120515" cy="73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7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Athene as Mentes, then Mentor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4"/>
          <p:cNvSpPr/>
          <p:nvPr/>
        </p:nvSpPr>
        <p:spPr>
          <a:xfrm>
            <a:off x="5762625" y="2397398"/>
            <a:ext cx="118954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Guiding Telemachus while he never knows he speaks with a goddess — pure dramatic irony.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4"/>
          <p:cNvSpPr/>
          <p:nvPr/>
        </p:nvSpPr>
        <p:spPr>
          <a:xfrm>
            <a:off x="990600" y="4017541"/>
            <a:ext cx="16306800" cy="1882080"/>
          </a:xfrm>
          <a:prstGeom prst="roundRect">
            <a:avLst>
              <a:gd fmla="val 8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4"/>
          <p:cNvSpPr/>
          <p:nvPr/>
        </p:nvSpPr>
        <p:spPr>
          <a:xfrm>
            <a:off x="1381125" y="4379491"/>
            <a:ext cx="412051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 · RECOGNITION BY LIKENESS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4"/>
          <p:cNvSpPr/>
          <p:nvPr/>
        </p:nvSpPr>
        <p:spPr>
          <a:xfrm>
            <a:off x="1381125" y="4922416"/>
            <a:ext cx="4120515" cy="73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7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Telemachus known at Sparta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4"/>
          <p:cNvSpPr/>
          <p:nvPr/>
        </p:nvSpPr>
        <p:spPr>
          <a:xfrm>
            <a:off x="5762625" y="4293766"/>
            <a:ext cx="1185471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 and Menelaus know him at once — the token is his striking resemblance to Odysseus.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4"/>
          <p:cNvSpPr/>
          <p:nvPr/>
        </p:nvSpPr>
        <p:spPr>
          <a:xfrm>
            <a:off x="990600" y="6147271"/>
            <a:ext cx="16306800" cy="1298228"/>
          </a:xfrm>
          <a:prstGeom prst="roundRect">
            <a:avLst>
              <a:gd fmla="val 1173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4"/>
          <p:cNvSpPr/>
          <p:nvPr/>
        </p:nvSpPr>
        <p:spPr>
          <a:xfrm>
            <a:off x="1381125" y="6509221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 · THE MASTER HIMSELF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4"/>
          <p:cNvSpPr/>
          <p:nvPr/>
        </p:nvSpPr>
        <p:spPr>
          <a:xfrm>
            <a:off x="1381125" y="6818784"/>
            <a:ext cx="44005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7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beggar in Troy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4"/>
          <p:cNvSpPr/>
          <p:nvPr/>
        </p:nvSpPr>
        <p:spPr>
          <a:xfrm>
            <a:off x="5762625" y="6423496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Helen's story: Odysseus once disguised himself as a beggar to enter the city — the very disguise he will use again at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4"/>
          <p:cNvSpPr/>
          <p:nvPr/>
        </p:nvSpPr>
        <p:spPr>
          <a:xfrm>
            <a:off x="990600" y="7731249"/>
            <a:ext cx="179374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pattern to hold on to: disguise — token — recognition.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4"/>
          <p:cNvSpPr/>
          <p:nvPr/>
        </p:nvSpPr>
        <p:spPr>
          <a:xfrm>
            <a:off x="990600" y="9534525"/>
            <a:ext cx="40486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6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2" name="Google Shape;1082;p4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5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5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45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5"/>
          <p:cNvSpPr/>
          <p:nvPr/>
        </p:nvSpPr>
        <p:spPr>
          <a:xfrm>
            <a:off x="990600" y="2100263"/>
            <a:ext cx="5232350" cy="3428479"/>
          </a:xfrm>
          <a:prstGeom prst="roundRect">
            <a:avLst>
              <a:gd fmla="val 444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5"/>
          <p:cNvSpPr/>
          <p:nvPr/>
        </p:nvSpPr>
        <p:spPr>
          <a:xfrm>
            <a:off x="1343025" y="2414588"/>
            <a:ext cx="1110630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5"/>
          <p:cNvSpPr/>
          <p:nvPr/>
        </p:nvSpPr>
        <p:spPr>
          <a:xfrm>
            <a:off x="1476375" y="2471738"/>
            <a:ext cx="9201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45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Athene as Mentes / Mentor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5"/>
          <p:cNvSpPr/>
          <p:nvPr/>
        </p:nvSpPr>
        <p:spPr>
          <a:xfrm>
            <a:off x="1343025" y="3428479"/>
            <a:ext cx="4663325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Divine disguise: we know she is a goddess; Telemachus does not — dramatic irony in action. How the disguised figure is received tests the household.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5"/>
          <p:cNvSpPr/>
          <p:nvPr/>
        </p:nvSpPr>
        <p:spPr>
          <a:xfrm>
            <a:off x="6527750" y="2100263"/>
            <a:ext cx="5232425" cy="3428479"/>
          </a:xfrm>
          <a:prstGeom prst="roundRect">
            <a:avLst>
              <a:gd fmla="val 444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5"/>
          <p:cNvSpPr/>
          <p:nvPr/>
        </p:nvSpPr>
        <p:spPr>
          <a:xfrm>
            <a:off x="6880175" y="2414588"/>
            <a:ext cx="1157288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5"/>
          <p:cNvSpPr/>
          <p:nvPr/>
        </p:nvSpPr>
        <p:spPr>
          <a:xfrm>
            <a:off x="7013525" y="2471738"/>
            <a:ext cx="9667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5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Telemachus recognised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5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 and Menelaus know him by his likeness to Odysseus — the token is resemblance. A gentle first example of the recognition-by-token pattern.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5"/>
          <p:cNvSpPr/>
          <p:nvPr/>
        </p:nvSpPr>
        <p:spPr>
          <a:xfrm>
            <a:off x="12064975" y="2100263"/>
            <a:ext cx="5232350" cy="3428479"/>
          </a:xfrm>
          <a:prstGeom prst="roundRect">
            <a:avLst>
              <a:gd fmla="val 444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5"/>
          <p:cNvSpPr/>
          <p:nvPr/>
        </p:nvSpPr>
        <p:spPr>
          <a:xfrm>
            <a:off x="12417400" y="2414588"/>
            <a:ext cx="1157288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5"/>
          <p:cNvSpPr/>
          <p:nvPr/>
        </p:nvSpPr>
        <p:spPr>
          <a:xfrm>
            <a:off x="12550750" y="2471738"/>
            <a:ext cx="9667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5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Odysseus, master of disguise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5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Helen's beggar-spy story shows disguise is already his signature. It foreshadows the beggar-disguise that will drive the homecoming.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5"/>
          <p:cNvSpPr/>
          <p:nvPr/>
        </p:nvSpPr>
        <p:spPr>
          <a:xfrm>
            <a:off x="990600" y="9534525"/>
            <a:ext cx="40486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6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7" name="Google Shape;1107;p4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6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6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46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6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46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6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46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46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a recognition scene and its token.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6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6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how disguise creates dramatic irony.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6"/>
          <p:cNvSpPr/>
          <p:nvPr/>
        </p:nvSpPr>
        <p:spPr>
          <a:xfrm>
            <a:off x="7543800" y="2907060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6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IDENTIFY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6"/>
          <p:cNvSpPr/>
          <p:nvPr/>
        </p:nvSpPr>
        <p:spPr>
          <a:xfrm>
            <a:off x="9544050" y="2324621"/>
            <a:ext cx="6952067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recognition scene in the Telemachy, and its token.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6"/>
          <p:cNvSpPr/>
          <p:nvPr/>
        </p:nvSpPr>
        <p:spPr>
          <a:xfrm>
            <a:off x="7543800" y="3708574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46"/>
          <p:cNvSpPr/>
          <p:nvPr/>
        </p:nvSpPr>
        <p:spPr>
          <a:xfrm>
            <a:off x="7543800" y="3197572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6"/>
          <p:cNvSpPr/>
          <p:nvPr/>
        </p:nvSpPr>
        <p:spPr>
          <a:xfrm>
            <a:off x="9544050" y="3126135"/>
            <a:ext cx="6850893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Athene's disguise create dramatic irony?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6"/>
          <p:cNvSpPr/>
          <p:nvPr/>
        </p:nvSpPr>
        <p:spPr>
          <a:xfrm>
            <a:off x="7543800" y="399908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DISCUSS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6"/>
          <p:cNvSpPr/>
          <p:nvPr/>
        </p:nvSpPr>
        <p:spPr>
          <a:xfrm>
            <a:off x="9544050" y="3927649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'In the Odyssey, disguise is really about power — knowing more than others do.'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Discuss, using Books 1–4.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6"/>
          <p:cNvSpPr/>
          <p:nvPr/>
        </p:nvSpPr>
        <p:spPr>
          <a:xfrm>
            <a:off x="990600" y="9534525"/>
            <a:ext cx="40486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6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2" name="Google Shape;1132;p4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9" name="Google Shape;11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47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47"/>
          <p:cNvSpPr/>
          <p:nvPr/>
        </p:nvSpPr>
        <p:spPr>
          <a:xfrm>
            <a:off x="16238190" y="609600"/>
            <a:ext cx="60201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7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7"/>
          <p:cNvSpPr/>
          <p:nvPr/>
        </p:nvSpPr>
        <p:spPr>
          <a:xfrm>
            <a:off x="1524000" y="3251969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7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7"/>
          <p:cNvSpPr/>
          <p:nvPr/>
        </p:nvSpPr>
        <p:spPr>
          <a:xfrm>
            <a:off x="1524000" y="3832994"/>
            <a:ext cx="16764000" cy="11475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Lora"/>
              <a:buNone/>
            </a:pPr>
            <a:r>
              <a:rPr b="1" i="1" lang="en-US" sz="8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Storytelling, bards</a:t>
            </a:r>
            <a:r>
              <a:rPr b="1" i="1" lang="en-US" sz="8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-US" sz="8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oral style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7"/>
          <p:cNvSpPr/>
          <p:nvPr/>
        </p:nvSpPr>
        <p:spPr>
          <a:xfrm>
            <a:off x="1524000" y="5552033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47"/>
          <p:cNvSpPr/>
          <p:nvPr/>
        </p:nvSpPr>
        <p:spPr>
          <a:xfrm>
            <a:off x="1524000" y="5904458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7"/>
          <p:cNvSpPr/>
          <p:nvPr/>
        </p:nvSpPr>
        <p:spPr>
          <a:xfrm>
            <a:off x="1524000" y="6261646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how the poem shows its own telling, and how oral epic works.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7"/>
          <p:cNvSpPr/>
          <p:nvPr/>
        </p:nvSpPr>
        <p:spPr>
          <a:xfrm>
            <a:off x="9334500" y="5904458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7"/>
          <p:cNvSpPr/>
          <p:nvPr/>
        </p:nvSpPr>
        <p:spPr>
          <a:xfrm>
            <a:off x="9334500" y="6261646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Spot formulae and epithets; explain the internal bards (Phemius, Demodocus).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9" name="Google Shape;1149;p4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8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8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8"/>
          <p:cNvSpPr/>
          <p:nvPr/>
        </p:nvSpPr>
        <p:spPr>
          <a:xfrm>
            <a:off x="990600" y="1271588"/>
            <a:ext cx="7543800" cy="6640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An oral poem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8"/>
          <p:cNvSpPr/>
          <p:nvPr/>
        </p:nvSpPr>
        <p:spPr>
          <a:xfrm>
            <a:off x="990600" y="2183309"/>
            <a:ext cx="7063740" cy="13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Odyssey began as oral poetry: composed and performed aloud by professional singers ( </a:t>
            </a:r>
            <a:r>
              <a:rPr b="0" i="1" lang="en-US" sz="217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aoidoi </a:t>
            </a: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), and handed down, long before it was written.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8"/>
          <p:cNvSpPr/>
          <p:nvPr/>
        </p:nvSpPr>
        <p:spPr>
          <a:xfrm>
            <a:off x="990600" y="3677171"/>
            <a:ext cx="7063740" cy="13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Song has real power in this world: it preserves kleos, entertains kings, and can move its hearers to tears.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8"/>
          <p:cNvSpPr/>
          <p:nvPr/>
        </p:nvSpPr>
        <p:spPr>
          <a:xfrm>
            <a:off x="8705850" y="3274219"/>
            <a:ext cx="94507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STRIKINGLY, THE POEM SHOWS US BARDS AT WORK WITHIN IT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8"/>
          <p:cNvSpPr/>
          <p:nvPr/>
        </p:nvSpPr>
        <p:spPr>
          <a:xfrm>
            <a:off x="8705850" y="3807619"/>
            <a:ext cx="8591550" cy="1438275"/>
          </a:xfrm>
          <a:prstGeom prst="roundRect">
            <a:avLst>
              <a:gd fmla="val 1059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48"/>
          <p:cNvSpPr/>
          <p:nvPr/>
        </p:nvSpPr>
        <p:spPr>
          <a:xfrm>
            <a:off x="9077325" y="4083844"/>
            <a:ext cx="148690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Phemius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8"/>
          <p:cNvSpPr/>
          <p:nvPr/>
        </p:nvSpPr>
        <p:spPr>
          <a:xfrm>
            <a:off x="14952985" y="4241006"/>
            <a:ext cx="217023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ITHACA · 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8"/>
          <p:cNvSpPr/>
          <p:nvPr/>
        </p:nvSpPr>
        <p:spPr>
          <a:xfrm>
            <a:off x="9077325" y="4598194"/>
            <a:ext cx="863346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Sings to the suitors in Odysseus's own hall — under constraint.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8"/>
          <p:cNvSpPr/>
          <p:nvPr/>
        </p:nvSpPr>
        <p:spPr>
          <a:xfrm>
            <a:off x="8705850" y="5512594"/>
            <a:ext cx="8591550" cy="180975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8"/>
          <p:cNvSpPr/>
          <p:nvPr/>
        </p:nvSpPr>
        <p:spPr>
          <a:xfrm>
            <a:off x="9077325" y="5788819"/>
            <a:ext cx="196444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Demodocus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8"/>
          <p:cNvSpPr/>
          <p:nvPr/>
        </p:nvSpPr>
        <p:spPr>
          <a:xfrm>
            <a:off x="13711684" y="5945981"/>
            <a:ext cx="353566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PHAEACIA · BOOK 8, LATER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8"/>
          <p:cNvSpPr/>
          <p:nvPr/>
        </p:nvSpPr>
        <p:spPr>
          <a:xfrm>
            <a:off x="9077325" y="6303169"/>
            <a:ext cx="808405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honoured blind bard whose songs will move Odysseus to tears.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8"/>
          <p:cNvSpPr/>
          <p:nvPr/>
        </p:nvSpPr>
        <p:spPr>
          <a:xfrm>
            <a:off x="990600" y="9534525"/>
            <a:ext cx="26754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7 · Storytelling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0" name="Google Shape;1170;p4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9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9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49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marks of oral style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9"/>
          <p:cNvSpPr/>
          <p:nvPr/>
        </p:nvSpPr>
        <p:spPr>
          <a:xfrm>
            <a:off x="990600" y="2140223"/>
            <a:ext cx="5219700" cy="2419350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9"/>
          <p:cNvSpPr/>
          <p:nvPr/>
        </p:nvSpPr>
        <p:spPr>
          <a:xfrm>
            <a:off x="1362075" y="2473598"/>
            <a:ext cx="4924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Formulae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9"/>
          <p:cNvSpPr/>
          <p:nvPr/>
        </p:nvSpPr>
        <p:spPr>
          <a:xfrm>
            <a:off x="1362075" y="3111773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Repeated phrases and whole lines, shaped to fit the metre — they let a singer compose as he performs.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49"/>
          <p:cNvSpPr/>
          <p:nvPr/>
        </p:nvSpPr>
        <p:spPr>
          <a:xfrm>
            <a:off x="6534150" y="2140223"/>
            <a:ext cx="5219700" cy="2419350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9"/>
          <p:cNvSpPr/>
          <p:nvPr/>
        </p:nvSpPr>
        <p:spPr>
          <a:xfrm>
            <a:off x="6905625" y="2473598"/>
            <a:ext cx="4924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Stock epithets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9"/>
          <p:cNvSpPr/>
          <p:nvPr/>
        </p:nvSpPr>
        <p:spPr>
          <a:xfrm>
            <a:off x="6905625" y="3111773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Fixed descriptive tags: 'rosy-fingered Dawn', 'wise Telemachus', 'much-enduring Odysseus'.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49"/>
          <p:cNvSpPr/>
          <p:nvPr/>
        </p:nvSpPr>
        <p:spPr>
          <a:xfrm>
            <a:off x="12077700" y="2140223"/>
            <a:ext cx="5219700" cy="2419350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49"/>
          <p:cNvSpPr/>
          <p:nvPr/>
        </p:nvSpPr>
        <p:spPr>
          <a:xfrm>
            <a:off x="12449175" y="2473598"/>
            <a:ext cx="4924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Type-scenes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9"/>
          <p:cNvSpPr/>
          <p:nvPr/>
        </p:nvSpPr>
        <p:spPr>
          <a:xfrm>
            <a:off x="12449175" y="3111773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Repeated templates for recurring events — a hospitality scene, a feast, a sacrifice, a sea-voyage.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9"/>
          <p:cNvSpPr/>
          <p:nvPr/>
        </p:nvSpPr>
        <p:spPr>
          <a:xfrm>
            <a:off x="990600" y="4883423"/>
            <a:ext cx="16306800" cy="1295400"/>
          </a:xfrm>
          <a:prstGeom prst="roundRect">
            <a:avLst>
              <a:gd fmla="val 10294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9"/>
          <p:cNvSpPr/>
          <p:nvPr/>
        </p:nvSpPr>
        <p:spPr>
          <a:xfrm>
            <a:off x="1390650" y="5131073"/>
            <a:ext cx="1597190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10"/>
              </a:lnSpc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Milman Parry </a:t>
            </a: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showed these features prove deep oral roots: the poem is built from a traditional kit of parts. Repetition served two ends — it helped the singer remember, and helped the audience follow.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9"/>
          <p:cNvSpPr/>
          <p:nvPr/>
        </p:nvSpPr>
        <p:spPr>
          <a:xfrm>
            <a:off x="990600" y="9534525"/>
            <a:ext cx="26754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7 · Storytelling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1" name="Google Shape;1191;p4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0"/>
          <p:cNvSpPr/>
          <p:nvPr/>
        </p:nvSpPr>
        <p:spPr>
          <a:xfrm>
            <a:off x="990600" y="666750"/>
            <a:ext cx="42943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 · BOOK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0"/>
          <p:cNvSpPr/>
          <p:nvPr/>
        </p:nvSpPr>
        <p:spPr>
          <a:xfrm>
            <a:off x="5331321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0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Phemius, and song's double edge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0"/>
          <p:cNvSpPr/>
          <p:nvPr/>
        </p:nvSpPr>
        <p:spPr>
          <a:xfrm>
            <a:off x="990600" y="303460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0"/>
          <p:cNvSpPr/>
          <p:nvPr/>
        </p:nvSpPr>
        <p:spPr>
          <a:xfrm>
            <a:off x="990600" y="2310705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0"/>
          <p:cNvSpPr/>
          <p:nvPr/>
        </p:nvSpPr>
        <p:spPr>
          <a:xfrm>
            <a:off x="2190750" y="2429768"/>
            <a:ext cx="1636904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Phemius sings to the suitors of the Greeks' bitter homecomings from Troy — </a:t>
            </a: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the very subject of the poem we are reading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50"/>
          <p:cNvSpPr/>
          <p:nvPr/>
        </p:nvSpPr>
        <p:spPr>
          <a:xfrm>
            <a:off x="990600" y="397758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0"/>
          <p:cNvSpPr/>
          <p:nvPr/>
        </p:nvSpPr>
        <p:spPr>
          <a:xfrm>
            <a:off x="990600" y="325368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50"/>
          <p:cNvSpPr/>
          <p:nvPr/>
        </p:nvSpPr>
        <p:spPr>
          <a:xfrm>
            <a:off x="2190750" y="3372743"/>
            <a:ext cx="1438683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Penelope comes down and begs him to choose another song — his subject reopens her grief for Odysseus.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50"/>
          <p:cNvSpPr/>
          <p:nvPr/>
        </p:nvSpPr>
        <p:spPr>
          <a:xfrm>
            <a:off x="990600" y="529679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0"/>
          <p:cNvSpPr/>
          <p:nvPr/>
        </p:nvSpPr>
        <p:spPr>
          <a:xfrm>
            <a:off x="990600" y="4196655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0"/>
          <p:cNvSpPr/>
          <p:nvPr/>
        </p:nvSpPr>
        <p:spPr>
          <a:xfrm>
            <a:off x="2190750" y="4315718"/>
            <a:ext cx="155598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Telemachus overrules her: the bard must be free to sing what moves his audience — and it is the newest songs, he says, that people prize.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0"/>
          <p:cNvSpPr/>
          <p:nvPr/>
        </p:nvSpPr>
        <p:spPr>
          <a:xfrm>
            <a:off x="990600" y="5515868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0"/>
          <p:cNvSpPr/>
          <p:nvPr/>
        </p:nvSpPr>
        <p:spPr>
          <a:xfrm>
            <a:off x="2190750" y="5634930"/>
            <a:ext cx="1415150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Inter"/>
              <a:buNone/>
            </a:pP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Song's double power: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delights, yet it also wounds — and it is how the memory of the heroes stays alive.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0"/>
          <p:cNvSpPr/>
          <p:nvPr/>
        </p:nvSpPr>
        <p:spPr>
          <a:xfrm>
            <a:off x="990600" y="9534525"/>
            <a:ext cx="26754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7 · Storytelling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2" name="Google Shape;1212;p5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51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1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1"/>
          <p:cNvSpPr/>
          <p:nvPr/>
        </p:nvSpPr>
        <p:spPr>
          <a:xfrm>
            <a:off x="2956791" y="3415233"/>
            <a:ext cx="12374419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84469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5250"/>
              <a:buFont typeface="Lora"/>
              <a:buNone/>
            </a:pPr>
            <a:r>
              <a:rPr b="1" i="1" lang="en-US" sz="5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This is a poem aware that it is a poem.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1"/>
          <p:cNvSpPr/>
          <p:nvPr/>
        </p:nvSpPr>
        <p:spPr>
          <a:xfrm>
            <a:off x="3453765" y="4516264"/>
            <a:ext cx="11380470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32571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By putting a bard on stage, Homer reflects on his own art — and ties storytelling to the poem's great themes: memory, kleos, grief, and truth.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1"/>
          <p:cNvSpPr/>
          <p:nvPr/>
        </p:nvSpPr>
        <p:spPr>
          <a:xfrm>
            <a:off x="3748087" y="5685904"/>
            <a:ext cx="10791825" cy="1452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0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And it raises a question we will keep asking: can we trust a storyteller? — a question that matters most when Odysseus narrates his own adventures.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1"/>
          <p:cNvSpPr/>
          <p:nvPr/>
        </p:nvSpPr>
        <p:spPr>
          <a:xfrm>
            <a:off x="868989" y="9534525"/>
            <a:ext cx="26754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7 · Storytelling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4" name="Google Shape;1224;p5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2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52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2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52"/>
          <p:cNvSpPr/>
          <p:nvPr/>
        </p:nvSpPr>
        <p:spPr>
          <a:xfrm>
            <a:off x="990600" y="2081212"/>
            <a:ext cx="16306800" cy="1309167"/>
          </a:xfrm>
          <a:prstGeom prst="roundRect">
            <a:avLst>
              <a:gd fmla="val 1164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52"/>
          <p:cNvSpPr/>
          <p:nvPr/>
        </p:nvSpPr>
        <p:spPr>
          <a:xfrm>
            <a:off x="1381125" y="2443163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52"/>
          <p:cNvSpPr/>
          <p:nvPr/>
        </p:nvSpPr>
        <p:spPr>
          <a:xfrm>
            <a:off x="1381125" y="2752725"/>
            <a:ext cx="44005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Phemius sings the returns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2"/>
          <p:cNvSpPr/>
          <p:nvPr/>
        </p:nvSpPr>
        <p:spPr>
          <a:xfrm>
            <a:off x="5762625" y="2357438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Song as memory and kleos — and here, as grief. The bard is honoured, yet sings under the suitors' constraint.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2"/>
          <p:cNvSpPr/>
          <p:nvPr/>
        </p:nvSpPr>
        <p:spPr>
          <a:xfrm>
            <a:off x="990600" y="3638029"/>
            <a:ext cx="16306800" cy="1670596"/>
          </a:xfrm>
          <a:prstGeom prst="roundRect">
            <a:avLst>
              <a:gd fmla="val 912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2"/>
          <p:cNvSpPr/>
          <p:nvPr/>
        </p:nvSpPr>
        <p:spPr>
          <a:xfrm>
            <a:off x="1381125" y="3999979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1–4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2"/>
          <p:cNvSpPr/>
          <p:nvPr/>
        </p:nvSpPr>
        <p:spPr>
          <a:xfrm>
            <a:off x="1381125" y="4309542"/>
            <a:ext cx="4120515" cy="7609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fingerprints of oral style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2"/>
          <p:cNvSpPr/>
          <p:nvPr/>
        </p:nvSpPr>
        <p:spPr>
          <a:xfrm>
            <a:off x="5762625" y="3914254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Collect epithets and formulae as you read — the marks of composition-in-performance. Notice type-scenes, such as the hospitality pattern, repeating.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2"/>
          <p:cNvSpPr/>
          <p:nvPr/>
        </p:nvSpPr>
        <p:spPr>
          <a:xfrm>
            <a:off x="990600" y="5556275"/>
            <a:ext cx="16306800" cy="1309167"/>
          </a:xfrm>
          <a:prstGeom prst="roundRect">
            <a:avLst>
              <a:gd fmla="val 11641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2"/>
          <p:cNvSpPr/>
          <p:nvPr/>
        </p:nvSpPr>
        <p:spPr>
          <a:xfrm>
            <a:off x="1381125" y="5918225"/>
            <a:ext cx="440055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52"/>
          <p:cNvSpPr/>
          <p:nvPr/>
        </p:nvSpPr>
        <p:spPr>
          <a:xfrm>
            <a:off x="1381125" y="6227787"/>
            <a:ext cx="44005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poem aware of itself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2"/>
          <p:cNvSpPr/>
          <p:nvPr/>
        </p:nvSpPr>
        <p:spPr>
          <a:xfrm>
            <a:off x="5762625" y="5832500"/>
            <a:ext cx="1147857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Showing us a bard is Homer showing us epic's own roots. It sets up the theme of storytelling that runs through the poem.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2"/>
          <p:cNvSpPr/>
          <p:nvPr/>
        </p:nvSpPr>
        <p:spPr>
          <a:xfrm>
            <a:off x="990600" y="9534525"/>
            <a:ext cx="26754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7 · Storytelling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6" name="Google Shape;1246;p5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53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53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53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3"/>
          <p:cNvSpPr/>
          <p:nvPr/>
        </p:nvSpPr>
        <p:spPr>
          <a:xfrm>
            <a:off x="990600" y="2115071"/>
            <a:ext cx="6134100" cy="2345978"/>
          </a:xfrm>
          <a:prstGeom prst="roundRect">
            <a:avLst>
              <a:gd fmla="val 649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53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53"/>
          <p:cNvSpPr/>
          <p:nvPr/>
        </p:nvSpPr>
        <p:spPr>
          <a:xfrm>
            <a:off x="1390650" y="3507135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53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3"/>
          <p:cNvSpPr/>
          <p:nvPr/>
        </p:nvSpPr>
        <p:spPr>
          <a:xfrm>
            <a:off x="1758628" y="3019946"/>
            <a:ext cx="3691191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Spot formulae and epithets.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53"/>
          <p:cNvSpPr/>
          <p:nvPr/>
        </p:nvSpPr>
        <p:spPr>
          <a:xfrm>
            <a:off x="1390650" y="3659535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53"/>
          <p:cNvSpPr/>
          <p:nvPr/>
        </p:nvSpPr>
        <p:spPr>
          <a:xfrm>
            <a:off x="1758628" y="3630960"/>
            <a:ext cx="4753920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the role of the internal bard.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53"/>
          <p:cNvSpPr/>
          <p:nvPr/>
        </p:nvSpPr>
        <p:spPr>
          <a:xfrm>
            <a:off x="7543800" y="2907060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53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SPOT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3"/>
          <p:cNvSpPr/>
          <p:nvPr/>
        </p:nvSpPr>
        <p:spPr>
          <a:xfrm>
            <a:off x="9544050" y="2324621"/>
            <a:ext cx="5719651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Find three stock epithets in the Telemachy.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53"/>
          <p:cNvSpPr/>
          <p:nvPr/>
        </p:nvSpPr>
        <p:spPr>
          <a:xfrm>
            <a:off x="7543800" y="3708574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3"/>
          <p:cNvSpPr/>
          <p:nvPr/>
        </p:nvSpPr>
        <p:spPr>
          <a:xfrm>
            <a:off x="7543800" y="3197572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53"/>
          <p:cNvSpPr/>
          <p:nvPr/>
        </p:nvSpPr>
        <p:spPr>
          <a:xfrm>
            <a:off x="9544050" y="3126135"/>
            <a:ext cx="8416952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does the Phemius scene tell us about the power of song?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3"/>
          <p:cNvSpPr/>
          <p:nvPr/>
        </p:nvSpPr>
        <p:spPr>
          <a:xfrm>
            <a:off x="7543800" y="399908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3"/>
          <p:cNvSpPr/>
          <p:nvPr/>
        </p:nvSpPr>
        <p:spPr>
          <a:xfrm>
            <a:off x="9544050" y="3927649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Odyssey is a poem about storytelling as much as about a journey.'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far, from Books 1–4?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53"/>
          <p:cNvSpPr/>
          <p:nvPr/>
        </p:nvSpPr>
        <p:spPr>
          <a:xfrm>
            <a:off x="990600" y="9534525"/>
            <a:ext cx="26754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7 · Storytelling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1" name="Google Shape;1271;p5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8" name="Google Shape;127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54"/>
          <p:cNvSpPr/>
          <p:nvPr/>
        </p:nvSpPr>
        <p:spPr>
          <a:xfrm>
            <a:off x="1524000" y="666750"/>
            <a:ext cx="78829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1 ·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4"/>
          <p:cNvSpPr/>
          <p:nvPr/>
        </p:nvSpPr>
        <p:spPr>
          <a:xfrm>
            <a:off x="16121583" y="609600"/>
            <a:ext cx="718617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8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4"/>
          <p:cNvSpPr/>
          <p:nvPr/>
        </p:nvSpPr>
        <p:spPr>
          <a:xfrm>
            <a:off x="1524000" y="3233514"/>
            <a:ext cx="1676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8 </a:t>
            </a:r>
            <a:r>
              <a:rPr b="0" i="1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 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4"/>
          <p:cNvSpPr/>
          <p:nvPr/>
        </p:nvSpPr>
        <p:spPr>
          <a:xfrm>
            <a:off x="1524000" y="3814539"/>
            <a:ext cx="16764000" cy="118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7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Women in society</a:t>
            </a: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Helen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4"/>
          <p:cNvSpPr/>
          <p:nvPr/>
        </p:nvSpPr>
        <p:spPr>
          <a:xfrm>
            <a:off x="1524000" y="5570562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54"/>
          <p:cNvSpPr/>
          <p:nvPr/>
        </p:nvSpPr>
        <p:spPr>
          <a:xfrm>
            <a:off x="1524000" y="5922987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4"/>
          <p:cNvSpPr/>
          <p:nvPr/>
        </p:nvSpPr>
        <p:spPr>
          <a:xfrm>
            <a:off x="1524000" y="6280175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how the poem first represents women and their power.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4"/>
          <p:cNvSpPr/>
          <p:nvPr/>
        </p:nvSpPr>
        <p:spPr>
          <a:xfrm>
            <a:off x="9334500" y="5922987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4"/>
          <p:cNvSpPr/>
          <p:nvPr/>
        </p:nvSpPr>
        <p:spPr>
          <a:xfrm>
            <a:off x="9334500" y="6280175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Characterise Helen; set up the female thread to be developed later.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8" name="Google Shape;1288;p5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55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55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5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Women in the Odyssey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5"/>
          <p:cNvSpPr/>
          <p:nvPr/>
        </p:nvSpPr>
        <p:spPr>
          <a:xfrm>
            <a:off x="990600" y="1987823"/>
            <a:ext cx="15304770" cy="13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Odyssey is unusually rich in powerful, complex women — far more so than the Iliad. Their power takes many forms: a queen's authority, a goddess's or witch's magic, cunning, and control of the household and its hospitality.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55"/>
          <p:cNvSpPr/>
          <p:nvPr/>
        </p:nvSpPr>
        <p:spPr>
          <a:xfrm>
            <a:off x="990600" y="3691235"/>
            <a:ext cx="179374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IN THE TELEMACHY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5"/>
          <p:cNvSpPr/>
          <p:nvPr/>
        </p:nvSpPr>
        <p:spPr>
          <a:xfrm>
            <a:off x="990600" y="4129385"/>
            <a:ext cx="3666083" cy="652463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6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55"/>
          <p:cNvSpPr/>
          <p:nvPr/>
        </p:nvSpPr>
        <p:spPr>
          <a:xfrm>
            <a:off x="1323975" y="4291310"/>
            <a:ext cx="31093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Helen </a:t>
            </a:r>
            <a:r>
              <a:rPr b="0" i="0" lang="en-US" sz="2025" u="none" cap="none" strike="noStrike">
                <a:solidFill>
                  <a:srgbClr val="0D1433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· at Sparta, Book 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55"/>
          <p:cNvSpPr/>
          <p:nvPr/>
        </p:nvSpPr>
        <p:spPr>
          <a:xfrm>
            <a:off x="4885283" y="4129385"/>
            <a:ext cx="5169991" cy="652463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6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55"/>
          <p:cNvSpPr/>
          <p:nvPr/>
        </p:nvSpPr>
        <p:spPr>
          <a:xfrm>
            <a:off x="5218658" y="4291310"/>
            <a:ext cx="4658341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Penelope </a:t>
            </a:r>
            <a:r>
              <a:rPr b="0" i="0" lang="en-US" sz="2025" u="none" cap="none" strike="noStrike">
                <a:solidFill>
                  <a:srgbClr val="0D1433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· glimpsed on Ithaca, Book 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5"/>
          <p:cNvSpPr/>
          <p:nvPr/>
        </p:nvSpPr>
        <p:spPr>
          <a:xfrm>
            <a:off x="990600" y="5124748"/>
            <a:ext cx="179374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LATER IN THE POEM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55"/>
          <p:cNvSpPr/>
          <p:nvPr/>
        </p:nvSpPr>
        <p:spPr>
          <a:xfrm>
            <a:off x="990600" y="5562898"/>
            <a:ext cx="1596926" cy="652463"/>
          </a:xfrm>
          <a:prstGeom prst="roundRect">
            <a:avLst>
              <a:gd fmla="val 50000" name="adj"/>
            </a:avLst>
          </a:prstGeom>
          <a:solidFill>
            <a:srgbClr val="0D1433">
              <a:alpha val="3922"/>
            </a:srgbClr>
          </a:solidFill>
          <a:ln cap="flat" cmpd="sng" w="9525">
            <a:solidFill>
              <a:srgbClr val="0D1433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55"/>
          <p:cNvSpPr/>
          <p:nvPr/>
        </p:nvSpPr>
        <p:spPr>
          <a:xfrm>
            <a:off x="1323975" y="5724823"/>
            <a:ext cx="100637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4A5070"/>
                </a:solidFill>
                <a:latin typeface="Lora"/>
                <a:ea typeface="Lora"/>
                <a:cs typeface="Lora"/>
                <a:sym typeface="Lora"/>
              </a:rPr>
              <a:t>Calypso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55"/>
          <p:cNvSpPr/>
          <p:nvPr/>
        </p:nvSpPr>
        <p:spPr>
          <a:xfrm>
            <a:off x="2816126" y="5562898"/>
            <a:ext cx="1287661" cy="652463"/>
          </a:xfrm>
          <a:prstGeom prst="roundRect">
            <a:avLst>
              <a:gd fmla="val 50000" name="adj"/>
            </a:avLst>
          </a:prstGeom>
          <a:solidFill>
            <a:srgbClr val="0D1433">
              <a:alpha val="3922"/>
            </a:srgbClr>
          </a:solidFill>
          <a:ln cap="flat" cmpd="sng" w="9525">
            <a:solidFill>
              <a:srgbClr val="0D1433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5"/>
          <p:cNvSpPr/>
          <p:nvPr/>
        </p:nvSpPr>
        <p:spPr>
          <a:xfrm>
            <a:off x="3149501" y="5724823"/>
            <a:ext cx="697111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4A5070"/>
                </a:solidFill>
                <a:latin typeface="Lora"/>
                <a:ea typeface="Lora"/>
                <a:cs typeface="Lora"/>
                <a:sym typeface="Lora"/>
              </a:rPr>
              <a:t>Circe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5"/>
          <p:cNvSpPr/>
          <p:nvPr/>
        </p:nvSpPr>
        <p:spPr>
          <a:xfrm>
            <a:off x="4332387" y="5562898"/>
            <a:ext cx="1756544" cy="652463"/>
          </a:xfrm>
          <a:prstGeom prst="roundRect">
            <a:avLst>
              <a:gd fmla="val 50000" name="adj"/>
            </a:avLst>
          </a:prstGeom>
          <a:solidFill>
            <a:srgbClr val="0D1433">
              <a:alpha val="3922"/>
            </a:srgbClr>
          </a:solidFill>
          <a:ln cap="flat" cmpd="sng" w="9525">
            <a:solidFill>
              <a:srgbClr val="0D1433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5"/>
          <p:cNvSpPr/>
          <p:nvPr/>
        </p:nvSpPr>
        <p:spPr>
          <a:xfrm>
            <a:off x="4665762" y="5724823"/>
            <a:ext cx="1165994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4A5070"/>
                </a:solidFill>
                <a:latin typeface="Lora"/>
                <a:ea typeface="Lora"/>
                <a:cs typeface="Lora"/>
                <a:sym typeface="Lora"/>
              </a:rPr>
              <a:t>Nausicaa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5"/>
          <p:cNvSpPr/>
          <p:nvPr/>
        </p:nvSpPr>
        <p:spPr>
          <a:xfrm>
            <a:off x="6317531" y="5562898"/>
            <a:ext cx="1288777" cy="652463"/>
          </a:xfrm>
          <a:prstGeom prst="roundRect">
            <a:avLst>
              <a:gd fmla="val 50000" name="adj"/>
            </a:avLst>
          </a:prstGeom>
          <a:solidFill>
            <a:srgbClr val="0D1433">
              <a:alpha val="3922"/>
            </a:srgbClr>
          </a:solidFill>
          <a:ln cap="flat" cmpd="sng" w="9525">
            <a:solidFill>
              <a:srgbClr val="0D1433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5"/>
          <p:cNvSpPr/>
          <p:nvPr/>
        </p:nvSpPr>
        <p:spPr>
          <a:xfrm>
            <a:off x="6650906" y="5724823"/>
            <a:ext cx="69822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4A5070"/>
                </a:solidFill>
                <a:latin typeface="Lora"/>
                <a:ea typeface="Lora"/>
                <a:cs typeface="Lora"/>
                <a:sym typeface="Lora"/>
              </a:rPr>
              <a:t>Arete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5"/>
          <p:cNvSpPr/>
          <p:nvPr/>
        </p:nvSpPr>
        <p:spPr>
          <a:xfrm>
            <a:off x="990600" y="9534525"/>
            <a:ext cx="30442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8 · Women: Helen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3" name="Google Shape;1313;p5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56"/>
          <p:cNvSpPr/>
          <p:nvPr/>
        </p:nvSpPr>
        <p:spPr>
          <a:xfrm>
            <a:off x="990600" y="666750"/>
            <a:ext cx="4352064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THE TELEMACHY · BOOK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6"/>
          <p:cNvSpPr/>
          <p:nvPr/>
        </p:nvSpPr>
        <p:spPr>
          <a:xfrm>
            <a:off x="5387355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56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Helen at Sparta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6"/>
          <p:cNvSpPr/>
          <p:nvPr/>
        </p:nvSpPr>
        <p:spPr>
          <a:xfrm>
            <a:off x="990600" y="334037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56"/>
          <p:cNvSpPr/>
          <p:nvPr/>
        </p:nvSpPr>
        <p:spPr>
          <a:xfrm>
            <a:off x="990600" y="2340248"/>
            <a:ext cx="31432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queen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56"/>
          <p:cNvSpPr/>
          <p:nvPr/>
        </p:nvSpPr>
        <p:spPr>
          <a:xfrm>
            <a:off x="4191000" y="2349773"/>
            <a:ext cx="13499592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Restored to Menelaus, she appears poised, gracious and queenly — the woman who caused the war, now serene at the centre of a peaceful hall.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56"/>
          <p:cNvSpPr/>
          <p:nvPr/>
        </p:nvSpPr>
        <p:spPr>
          <a:xfrm>
            <a:off x="990600" y="418333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6"/>
          <p:cNvSpPr/>
          <p:nvPr/>
        </p:nvSpPr>
        <p:spPr>
          <a:xfrm>
            <a:off x="990600" y="3568973"/>
            <a:ext cx="31432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quick eye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56"/>
          <p:cNvSpPr/>
          <p:nvPr/>
        </p:nvSpPr>
        <p:spPr>
          <a:xfrm>
            <a:off x="4191000" y="3578498"/>
            <a:ext cx="1270421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recognises Telemachus at once by his likeness to Odysseus — quick-eyed and perceptive.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56"/>
          <p:cNvSpPr/>
          <p:nvPr/>
        </p:nvSpPr>
        <p:spPr>
          <a:xfrm>
            <a:off x="990600" y="541206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6"/>
          <p:cNvSpPr/>
          <p:nvPr/>
        </p:nvSpPr>
        <p:spPr>
          <a:xfrm>
            <a:off x="990600" y="4411935"/>
            <a:ext cx="31432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nepenthe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56"/>
          <p:cNvSpPr/>
          <p:nvPr/>
        </p:nvSpPr>
        <p:spPr>
          <a:xfrm>
            <a:off x="4191000" y="4421460"/>
            <a:ext cx="13499592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slips a grief-easing drug into the wine, so the company can remember Troy without weeping — a striking, almost unsettling power over emotion and memory.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6"/>
          <p:cNvSpPr/>
          <p:nvPr/>
        </p:nvSpPr>
        <p:spPr>
          <a:xfrm>
            <a:off x="990600" y="5640660"/>
            <a:ext cx="31432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The two stories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6"/>
          <p:cNvSpPr/>
          <p:nvPr/>
        </p:nvSpPr>
        <p:spPr>
          <a:xfrm>
            <a:off x="4191000" y="5650185"/>
            <a:ext cx="1232980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Then she and Menelaus tell two stories of Odysseus at Troy — </a:t>
            </a:r>
            <a:r>
              <a:rPr b="1" i="0" lang="en-US" sz="202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and the stories do not agree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56"/>
          <p:cNvSpPr/>
          <p:nvPr/>
        </p:nvSpPr>
        <p:spPr>
          <a:xfrm>
            <a:off x="990600" y="9534525"/>
            <a:ext cx="30442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8 · Women: Helen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4" name="Google Shape;1334;p5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57"/>
          <p:cNvSpPr/>
          <p:nvPr/>
        </p:nvSpPr>
        <p:spPr>
          <a:xfrm>
            <a:off x="990600" y="666750"/>
            <a:ext cx="362691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 · BOOK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7"/>
          <p:cNvSpPr/>
          <p:nvPr/>
        </p:nvSpPr>
        <p:spPr>
          <a:xfrm>
            <a:off x="4683323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7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stories, no verdict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7"/>
          <p:cNvSpPr/>
          <p:nvPr/>
        </p:nvSpPr>
        <p:spPr>
          <a:xfrm>
            <a:off x="990600" y="2096021"/>
            <a:ext cx="7962900" cy="2233910"/>
          </a:xfrm>
          <a:prstGeom prst="roundRect">
            <a:avLst>
              <a:gd fmla="val 682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57"/>
          <p:cNvSpPr/>
          <p:nvPr/>
        </p:nvSpPr>
        <p:spPr>
          <a:xfrm>
            <a:off x="1400175" y="2429396"/>
            <a:ext cx="78581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HELEN'S STORY — THE ALLY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7"/>
          <p:cNvSpPr/>
          <p:nvPr/>
        </p:nvSpPr>
        <p:spPr>
          <a:xfrm>
            <a:off x="1400175" y="2800871"/>
            <a:ext cx="7358063" cy="1233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6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flatters herself: she recognised the disguised Odysseus when he spied in Troy, kept his secret, and already longed to go home.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7"/>
          <p:cNvSpPr/>
          <p:nvPr/>
        </p:nvSpPr>
        <p:spPr>
          <a:xfrm>
            <a:off x="9334500" y="2096021"/>
            <a:ext cx="7962900" cy="2233910"/>
          </a:xfrm>
          <a:prstGeom prst="roundRect">
            <a:avLst>
              <a:gd fmla="val 6822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57"/>
          <p:cNvSpPr/>
          <p:nvPr/>
        </p:nvSpPr>
        <p:spPr>
          <a:xfrm>
            <a:off x="9744075" y="2429396"/>
            <a:ext cx="78581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MENELAUS'S STORY — THE TEMPTRESS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57"/>
          <p:cNvSpPr/>
          <p:nvPr/>
        </p:nvSpPr>
        <p:spPr>
          <a:xfrm>
            <a:off x="9744075" y="2800871"/>
            <a:ext cx="7358063" cy="1233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6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Darker: at the Wooden Horse, Helen circled it imitating the voices of the Greek wives, almost luring the hidden men to their deaths.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7"/>
          <p:cNvSpPr/>
          <p:nvPr/>
        </p:nvSpPr>
        <p:spPr>
          <a:xfrm>
            <a:off x="990600" y="4634731"/>
            <a:ext cx="16306800" cy="1362075"/>
          </a:xfrm>
          <a:prstGeom prst="roundRect">
            <a:avLst>
              <a:gd fmla="val 9790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57"/>
          <p:cNvSpPr/>
          <p:nvPr/>
        </p:nvSpPr>
        <p:spPr>
          <a:xfrm>
            <a:off x="1390650" y="4901431"/>
            <a:ext cx="15971901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5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Lora"/>
              <a:buNone/>
            </a:pPr>
            <a:r>
              <a:rPr b="0" i="1" lang="en-US" sz="21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Side by side, the tales keep Helen unresolved: perceptive ally, or dangerous temptress? The poem refuses to settle it — </a:t>
            </a:r>
            <a:r>
              <a:rPr b="0" i="1" lang="en-US" sz="217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and that ambiguity is the point </a:t>
            </a:r>
            <a:r>
              <a:rPr b="0" i="1" lang="en-US" sz="21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. Homer presents women as complex individuals, not simple types.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57"/>
          <p:cNvSpPr/>
          <p:nvPr/>
        </p:nvSpPr>
        <p:spPr>
          <a:xfrm>
            <a:off x="990600" y="9534525"/>
            <a:ext cx="30442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8 · Women: Helen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2" name="Google Shape;1352;p5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58"/>
          <p:cNvSpPr/>
          <p:nvPr/>
        </p:nvSpPr>
        <p:spPr>
          <a:xfrm>
            <a:off x="990600" y="666750"/>
            <a:ext cx="190648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THREAD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8"/>
          <p:cNvSpPr/>
          <p:nvPr/>
        </p:nvSpPr>
        <p:spPr>
          <a:xfrm>
            <a:off x="299233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58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Setting up the women to come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58"/>
          <p:cNvSpPr/>
          <p:nvPr/>
        </p:nvSpPr>
        <p:spPr>
          <a:xfrm>
            <a:off x="990600" y="1930673"/>
            <a:ext cx="16344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Helen is the first panel in the poem's study of women; the others will be measured against her and against each other.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58"/>
          <p:cNvSpPr/>
          <p:nvPr/>
        </p:nvSpPr>
        <p:spPr>
          <a:xfrm>
            <a:off x="990600" y="2659335"/>
            <a:ext cx="5219700" cy="3162300"/>
          </a:xfrm>
          <a:prstGeom prst="roundRect">
            <a:avLst>
              <a:gd fmla="val 481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58"/>
          <p:cNvSpPr/>
          <p:nvPr/>
        </p:nvSpPr>
        <p:spPr>
          <a:xfrm>
            <a:off x="1362075" y="2992710"/>
            <a:ext cx="49244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Helen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58"/>
          <p:cNvSpPr/>
          <p:nvPr/>
        </p:nvSpPr>
        <p:spPr>
          <a:xfrm>
            <a:off x="1362075" y="3607073"/>
            <a:ext cx="49244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AMBIGUOUS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8"/>
          <p:cNvSpPr/>
          <p:nvPr/>
        </p:nvSpPr>
        <p:spPr>
          <a:xfrm>
            <a:off x="1362075" y="4002360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Perceptive ally or dangerous temptress — the poem refuses to decide.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8"/>
          <p:cNvSpPr/>
          <p:nvPr/>
        </p:nvSpPr>
        <p:spPr>
          <a:xfrm>
            <a:off x="6534150" y="2659335"/>
            <a:ext cx="5219700" cy="3162300"/>
          </a:xfrm>
          <a:prstGeom prst="roundRect">
            <a:avLst>
              <a:gd fmla="val 481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58"/>
          <p:cNvSpPr/>
          <p:nvPr/>
        </p:nvSpPr>
        <p:spPr>
          <a:xfrm>
            <a:off x="6905625" y="2992710"/>
            <a:ext cx="49244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Clytemnestra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8"/>
          <p:cNvSpPr/>
          <p:nvPr/>
        </p:nvSpPr>
        <p:spPr>
          <a:xfrm>
            <a:off x="6905625" y="3607073"/>
            <a:ext cx="49244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TREACHEROUS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8"/>
          <p:cNvSpPr/>
          <p:nvPr/>
        </p:nvSpPr>
        <p:spPr>
          <a:xfrm>
            <a:off x="6905625" y="4002360"/>
            <a:ext cx="461105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warning already named in the Telemachy: she betrayed and murdered Agamemnon.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58"/>
          <p:cNvSpPr/>
          <p:nvPr/>
        </p:nvSpPr>
        <p:spPr>
          <a:xfrm>
            <a:off x="12077700" y="2659335"/>
            <a:ext cx="5219700" cy="3162300"/>
          </a:xfrm>
          <a:prstGeom prst="roundRect">
            <a:avLst>
              <a:gd fmla="val 4819" name="adj"/>
            </a:avLst>
          </a:prstGeom>
          <a:solidFill>
            <a:srgbClr val="FFFFFF"/>
          </a:solidFill>
          <a:ln cap="flat" cmpd="sng" w="9525">
            <a:solidFill>
              <a:srgbClr val="1A6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1A6FFF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8"/>
          <p:cNvSpPr/>
          <p:nvPr/>
        </p:nvSpPr>
        <p:spPr>
          <a:xfrm>
            <a:off x="12449175" y="2992710"/>
            <a:ext cx="49244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Penelope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58"/>
          <p:cNvSpPr/>
          <p:nvPr/>
        </p:nvSpPr>
        <p:spPr>
          <a:xfrm>
            <a:off x="12449175" y="3607073"/>
            <a:ext cx="49244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FAITHFUL · TO COME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58"/>
          <p:cNvSpPr/>
          <p:nvPr/>
        </p:nvSpPr>
        <p:spPr>
          <a:xfrm>
            <a:off x="12449175" y="4002360"/>
            <a:ext cx="461105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Barely glimpsed in Book 1, sent from the hall by her son — being set up as the counter-model: the faithful, cunning wife.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58"/>
          <p:cNvSpPr/>
          <p:nvPr/>
        </p:nvSpPr>
        <p:spPr>
          <a:xfrm>
            <a:off x="990600" y="6107385"/>
            <a:ext cx="1793748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Watch how each woman sharpens our view of the others.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58"/>
          <p:cNvSpPr/>
          <p:nvPr/>
        </p:nvSpPr>
        <p:spPr>
          <a:xfrm>
            <a:off x="990600" y="9534525"/>
            <a:ext cx="30442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8 · Women: Helen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6" name="Google Shape;1376;p5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59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9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59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59"/>
          <p:cNvSpPr/>
          <p:nvPr/>
        </p:nvSpPr>
        <p:spPr>
          <a:xfrm>
            <a:off x="990600" y="2081212"/>
            <a:ext cx="8020050" cy="20955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59"/>
          <p:cNvSpPr/>
          <p:nvPr/>
        </p:nvSpPr>
        <p:spPr>
          <a:xfrm>
            <a:off x="1343025" y="2357438"/>
            <a:ext cx="236038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Helen the queen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9"/>
          <p:cNvSpPr/>
          <p:nvPr/>
        </p:nvSpPr>
        <p:spPr>
          <a:xfrm>
            <a:off x="7812137" y="2476500"/>
            <a:ext cx="9222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59"/>
          <p:cNvSpPr/>
          <p:nvPr/>
        </p:nvSpPr>
        <p:spPr>
          <a:xfrm>
            <a:off x="1343025" y="2828925"/>
            <a:ext cx="7534656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Poise, perception and hospitality combined — authority in her own hall. The war's cause, now serene at its centre.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59"/>
          <p:cNvSpPr/>
          <p:nvPr/>
        </p:nvSpPr>
        <p:spPr>
          <a:xfrm>
            <a:off x="9277350" y="2081212"/>
            <a:ext cx="8020050" cy="20955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59"/>
          <p:cNvSpPr/>
          <p:nvPr/>
        </p:nvSpPr>
        <p:spPr>
          <a:xfrm>
            <a:off x="9629775" y="2357438"/>
            <a:ext cx="1996619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nepenthe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59"/>
          <p:cNvSpPr/>
          <p:nvPr/>
        </p:nvSpPr>
        <p:spPr>
          <a:xfrm>
            <a:off x="16098887" y="2476500"/>
            <a:ext cx="9222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9"/>
          <p:cNvSpPr/>
          <p:nvPr/>
        </p:nvSpPr>
        <p:spPr>
          <a:xfrm>
            <a:off x="9629775" y="2828925"/>
            <a:ext cx="753465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Her power over grief and memory — she controls how Troy is remembered in the room. A striking, faintly unsettling image of a woman's power.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9"/>
          <p:cNvSpPr/>
          <p:nvPr/>
        </p:nvSpPr>
        <p:spPr>
          <a:xfrm>
            <a:off x="990600" y="4443413"/>
            <a:ext cx="8020050" cy="1738313"/>
          </a:xfrm>
          <a:prstGeom prst="roundRect">
            <a:avLst>
              <a:gd fmla="val 876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59"/>
          <p:cNvSpPr/>
          <p:nvPr/>
        </p:nvSpPr>
        <p:spPr>
          <a:xfrm>
            <a:off x="1343025" y="4719638"/>
            <a:ext cx="3381859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stories, no verdict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9"/>
          <p:cNvSpPr/>
          <p:nvPr/>
        </p:nvSpPr>
        <p:spPr>
          <a:xfrm>
            <a:off x="7812137" y="4838700"/>
            <a:ext cx="9222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59"/>
          <p:cNvSpPr/>
          <p:nvPr/>
        </p:nvSpPr>
        <p:spPr>
          <a:xfrm>
            <a:off x="1343025" y="5191125"/>
            <a:ext cx="7534656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rival Troy tales keep her unresolved — ally or temptress? Homer refuses to reduce her to a single type.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9"/>
          <p:cNvSpPr/>
          <p:nvPr/>
        </p:nvSpPr>
        <p:spPr>
          <a:xfrm>
            <a:off x="9277350" y="4443413"/>
            <a:ext cx="8020050" cy="1738313"/>
          </a:xfrm>
          <a:prstGeom prst="roundRect">
            <a:avLst>
              <a:gd fmla="val 876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59"/>
          <p:cNvSpPr/>
          <p:nvPr/>
        </p:nvSpPr>
        <p:spPr>
          <a:xfrm>
            <a:off x="9629775" y="4719638"/>
            <a:ext cx="212816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thread set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9"/>
          <p:cNvSpPr/>
          <p:nvPr/>
        </p:nvSpPr>
        <p:spPr>
          <a:xfrm>
            <a:off x="15737607" y="4838700"/>
            <a:ext cx="132810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1–4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9"/>
          <p:cNvSpPr/>
          <p:nvPr/>
        </p:nvSpPr>
        <p:spPr>
          <a:xfrm>
            <a:off x="9629775" y="5191125"/>
            <a:ext cx="7534656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 ambiguous, Clytemnestra treacherous, Penelope (to come) faithful. Each woman will define the others by contrast.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9"/>
          <p:cNvSpPr/>
          <p:nvPr/>
        </p:nvSpPr>
        <p:spPr>
          <a:xfrm>
            <a:off x="990600" y="9534525"/>
            <a:ext cx="30442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8 · Women: Helen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2" name="Google Shape;1402;p5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60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60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60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60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0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60"/>
          <p:cNvSpPr/>
          <p:nvPr/>
        </p:nvSpPr>
        <p:spPr>
          <a:xfrm>
            <a:off x="1390650" y="3507135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60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60"/>
          <p:cNvSpPr/>
          <p:nvPr/>
        </p:nvSpPr>
        <p:spPr>
          <a:xfrm>
            <a:off x="1758628" y="3019946"/>
            <a:ext cx="4581041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Characterise Helen with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60"/>
          <p:cNvSpPr/>
          <p:nvPr/>
        </p:nvSpPr>
        <p:spPr>
          <a:xfrm>
            <a:off x="1390650" y="3659535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60"/>
          <p:cNvSpPr/>
          <p:nvPr/>
        </p:nvSpPr>
        <p:spPr>
          <a:xfrm>
            <a:off x="1758628" y="3630960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how the female thread is being set up.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60"/>
          <p:cNvSpPr/>
          <p:nvPr/>
        </p:nvSpPr>
        <p:spPr>
          <a:xfrm>
            <a:off x="7543800" y="327994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60"/>
          <p:cNvSpPr/>
          <p:nvPr/>
        </p:nvSpPr>
        <p:spPr>
          <a:xfrm>
            <a:off x="7543800" y="2396058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CHARACTERISE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60"/>
          <p:cNvSpPr/>
          <p:nvPr/>
        </p:nvSpPr>
        <p:spPr>
          <a:xfrm>
            <a:off x="9925050" y="2324621"/>
            <a:ext cx="7593521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Three words for Helen, each backed by a detail from Book 4.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0"/>
          <p:cNvSpPr/>
          <p:nvPr/>
        </p:nvSpPr>
        <p:spPr>
          <a:xfrm>
            <a:off x="7543800" y="4454351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60"/>
          <p:cNvSpPr/>
          <p:nvPr/>
        </p:nvSpPr>
        <p:spPr>
          <a:xfrm>
            <a:off x="7543800" y="3570461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60"/>
          <p:cNvSpPr/>
          <p:nvPr/>
        </p:nvSpPr>
        <p:spPr>
          <a:xfrm>
            <a:off x="9925050" y="3499024"/>
            <a:ext cx="7593521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does the poem give us two conflicting stories about her?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60"/>
          <p:cNvSpPr/>
          <p:nvPr/>
        </p:nvSpPr>
        <p:spPr>
          <a:xfrm>
            <a:off x="7543800" y="4744864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60"/>
          <p:cNvSpPr/>
          <p:nvPr/>
        </p:nvSpPr>
        <p:spPr>
          <a:xfrm>
            <a:off x="9925050" y="4673426"/>
            <a:ext cx="7593521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women of the Odyssey are more interesting than the men.'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Begin to build a case from Books 1–4.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60"/>
          <p:cNvSpPr/>
          <p:nvPr/>
        </p:nvSpPr>
        <p:spPr>
          <a:xfrm>
            <a:off x="990600" y="9534525"/>
            <a:ext cx="30442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8 · Women: Helen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7" name="Google Shape;1427;p6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2026-07-15T12:10:18Z</dcterms:created>
  <dc:creator>PptxGenJS</dc:creator>
</cp:coreProperties>
</file>